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3f2b36067e44705" /><Relationship Type="http://schemas.openxmlformats.org/officeDocument/2006/relationships/extended-properties" Target="/docProps/app.xml" Id="R6ad950532ca241bb" /><Relationship Type="http://schemas.openxmlformats.org/officeDocument/2006/relationships/officeDocument" Target="/ppt/presentation.xml" Id="Red7be8c963b24d31" /></Relationships>
</file>

<file path=ppt/presentation.xml><?xml version="1.0" encoding="utf-8"?>
<p:presentation xmlns:p="http://schemas.openxmlformats.org/presentationml/2006/main">
  <p:sldMasterIdLst>
    <p:sldMasterId xmlns:r="http://schemas.openxmlformats.org/officeDocument/2006/relationships" id="2147483648" r:id="Rd8da5a0e841d4ea9"/>
  </p:sldMasterIdLst>
  <p:notesMasterIdLst>
    <p:notesMasterId xmlns:r="http://schemas.openxmlformats.org/officeDocument/2006/relationships" r:id="R9a402e8bab8d4b19"/>
  </p:notesMasterIdLst>
  <p:sldIdLst>
    <p:sldId xmlns:r="http://schemas.openxmlformats.org/officeDocument/2006/relationships" id="256" r:id="R71e9c0c98b1c45a8"/>
    <p:sldId xmlns:r="http://schemas.openxmlformats.org/officeDocument/2006/relationships" id="257" r:id="R02adaa622b8a4b5c"/>
    <p:sldId xmlns:r="http://schemas.openxmlformats.org/officeDocument/2006/relationships" id="258" r:id="R657cdf84416c4589"/>
    <p:sldId xmlns:r="http://schemas.openxmlformats.org/officeDocument/2006/relationships" id="259" r:id="Rb7a9dd27327a4122"/>
    <p:sldId xmlns:r="http://schemas.openxmlformats.org/officeDocument/2006/relationships" id="260" r:id="R9382e8d0c21b44cd"/>
    <p:sldId xmlns:r="http://schemas.openxmlformats.org/officeDocument/2006/relationships" id="261" r:id="Rae170ae16d984fd1"/>
    <p:sldId xmlns:r="http://schemas.openxmlformats.org/officeDocument/2006/relationships" id="262" r:id="Rdd3b291fe875433b"/>
    <p:sldId xmlns:r="http://schemas.openxmlformats.org/officeDocument/2006/relationships" id="263" r:id="R766c5f579f28439f"/>
    <p:sldId xmlns:r="http://schemas.openxmlformats.org/officeDocument/2006/relationships" id="264" r:id="Ra2950bede3894c3d"/>
    <p:sldId xmlns:r="http://schemas.openxmlformats.org/officeDocument/2006/relationships" id="265" r:id="Rf4a62487f1f640e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fb8ebb30baf4d4a" /><Relationship Type="http://schemas.openxmlformats.org/officeDocument/2006/relationships/slideMaster" Target="/ppt/slideMasters/slideMaster1.xml" Id="Rd8da5a0e841d4ea9" /><Relationship Type="http://schemas.openxmlformats.org/officeDocument/2006/relationships/notesMaster" Target="/ppt/notesMasters/notesMaster1.xml" Id="R9a402e8bab8d4b19" /><Relationship Type="http://schemas.openxmlformats.org/officeDocument/2006/relationships/presProps" Target="/ppt/presProps.xml" Id="R49849b1f41614dfb" /><Relationship Type="http://schemas.openxmlformats.org/officeDocument/2006/relationships/tableStyles" Target="/ppt/tableStyles.xml" Id="R31946d4d586e4f6b" /><Relationship Type="http://schemas.openxmlformats.org/officeDocument/2006/relationships/slide" Target="/ppt/slides/slide1.xml" Id="R71e9c0c98b1c45a8" /><Relationship Type="http://schemas.openxmlformats.org/officeDocument/2006/relationships/slide" Target="/ppt/slides/slide2.xml" Id="R02adaa622b8a4b5c" /><Relationship Type="http://schemas.openxmlformats.org/officeDocument/2006/relationships/slide" Target="/ppt/slides/slide3.xml" Id="R657cdf84416c4589" /><Relationship Type="http://schemas.openxmlformats.org/officeDocument/2006/relationships/slide" Target="/ppt/slides/slide4.xml" Id="Rb7a9dd27327a4122" /><Relationship Type="http://schemas.openxmlformats.org/officeDocument/2006/relationships/slide" Target="/ppt/slides/slide5.xml" Id="R9382e8d0c21b44cd" /><Relationship Type="http://schemas.openxmlformats.org/officeDocument/2006/relationships/slide" Target="/ppt/slides/slide6.xml" Id="Rae170ae16d984fd1" /><Relationship Type="http://schemas.openxmlformats.org/officeDocument/2006/relationships/slide" Target="/ppt/slides/slide7.xml" Id="Rdd3b291fe875433b" /><Relationship Type="http://schemas.openxmlformats.org/officeDocument/2006/relationships/slide" Target="/ppt/slides/slide8.xml" Id="R766c5f579f28439f" /><Relationship Type="http://schemas.openxmlformats.org/officeDocument/2006/relationships/slide" Target="/ppt/slides/slide9.xml" Id="Ra2950bede3894c3d" /><Relationship Type="http://schemas.openxmlformats.org/officeDocument/2006/relationships/slide" Target="/ppt/slides/slide10.xml" Id="Rf4a62487f1f640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575edfa0a164f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d90b992bb3c4d1d" /><Relationship Type="http://schemas.openxmlformats.org/officeDocument/2006/relationships/notesMaster" Target="/ppt/notesMasters/notesMaster1.xml" Id="Rb1e03fcaca1741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abc24960a64007" /><Relationship Type="http://schemas.openxmlformats.org/officeDocument/2006/relationships/notesMaster" Target="/ppt/notesMasters/notesMaster1.xml" Id="R1b16d0e745db4fd3"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ca4274f9ee4f13" /><Relationship Type="http://schemas.openxmlformats.org/officeDocument/2006/relationships/notesMaster" Target="/ppt/notesMasters/notesMaster1.xml" Id="R1736fd723de94f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9fbf4218b684a55" /><Relationship Type="http://schemas.openxmlformats.org/officeDocument/2006/relationships/notesMaster" Target="/ppt/notesMasters/notesMaster1.xml" Id="R4a81f768f40a49d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9ffe28a55b843ea" /><Relationship Type="http://schemas.openxmlformats.org/officeDocument/2006/relationships/notesMaster" Target="/ppt/notesMasters/notesMaster1.xml" Id="R45ee3f2d1e564024" /></Relationships>
</file>

<file path=ppt/notesSlides/_rels/notesSlide6.xml.rels>&#65279;<?xml version="1.0" encoding="utf-8"?><Relationships xmlns="http://schemas.openxmlformats.org/package/2006/relationships"><Relationship Type="http://schemas.openxmlformats.org/officeDocument/2006/relationships/slide" Target="/ppt/slides/slide6.xml" Id="Rf8528f3e06e24fe6" /><Relationship Type="http://schemas.openxmlformats.org/officeDocument/2006/relationships/notesMaster" Target="/ppt/notesMasters/notesMaster1.xml" Id="Rc551bc2c1ff84edb" /></Relationships>
</file>

<file path=ppt/notesSlides/_rels/notesSlide7.xml.rels>&#65279;<?xml version="1.0" encoding="utf-8"?><Relationships xmlns="http://schemas.openxmlformats.org/package/2006/relationships"><Relationship Type="http://schemas.openxmlformats.org/officeDocument/2006/relationships/slide" Target="/ppt/slides/slide7.xml" Id="R37650d5b662a4622" /><Relationship Type="http://schemas.openxmlformats.org/officeDocument/2006/relationships/notesMaster" Target="/ppt/notesMasters/notesMaster1.xml" Id="R01e76db54b504f18" /></Relationships>
</file>

<file path=ppt/notesSlides/_rels/notesSlide8.xml.rels>&#65279;<?xml version="1.0" encoding="utf-8"?><Relationships xmlns="http://schemas.openxmlformats.org/package/2006/relationships"><Relationship Type="http://schemas.openxmlformats.org/officeDocument/2006/relationships/slide" Target="/ppt/slides/slide8.xml" Id="R24f5aa207ba14df2" /><Relationship Type="http://schemas.openxmlformats.org/officeDocument/2006/relationships/notesMaster" Target="/ppt/notesMasters/notesMaster1.xml" Id="Re3fab79776d64518" /></Relationships>
</file>

<file path=ppt/notesSlides/_rels/notesSlide9.xml.rels>&#65279;<?xml version="1.0" encoding="utf-8"?><Relationships xmlns="http://schemas.openxmlformats.org/package/2006/relationships"><Relationship Type="http://schemas.openxmlformats.org/officeDocument/2006/relationships/slide" Target="/ppt/slides/slide9.xml" Id="R50fe2367e73841a1" /><Relationship Type="http://schemas.openxmlformats.org/officeDocument/2006/relationships/notesMaster" Target="/ppt/notesMasters/notesMaster1.xml" Id="Rc78f0f4d403a47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7b3f2631f884ec8" /><Relationship Type="http://schemas.openxmlformats.org/officeDocument/2006/relationships/notesMaster" Target="/ppt/notesMasters/notesMaster1.xml" Id="Re4267fbeee4849c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as a study in preserving financial correctness when requests overlap, clients retry, and components fail. The listed stack is the project context. Replace [Your Name] before presenting.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a timeout is ambiguous: the request may have failed before processing, or the transfer may have committed and only the response was lost. This makes safe retries and durable financial invariants central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API authenticates the user, coordinates duplicate requests, and performs the financial write in PostgreSQL. The same database transaction records an outbox event. A separate publisher delivers that committed event to Kafka for downstream consumers.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classic deadlock: one transfer locks A then waits for B while another holds B and waits for A. Sorting account identifiers makes both acquire locks in the same order, removing that cycle for this access path. It does not eliminate every possible database deadlock, so production code should handle transient failures. Contrast pessimistic locking with optimistic version checks. Mention that Spring transaction advice is proxy based and self-invocation can bypass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concrete retry example: the client times out and repeats the request with the same key. Redis can quickly coordinate duplicate attempts with an expiring key, but the database should enforce a durable unique constraint as the final correctness guard. A request fingerprint prevents accidental reuse of one key for different transfer 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dual-write gap. The transfer, balance changes, and outbox row commit together in PostgreSQL. A publisher later sends the event. If it crashes after Kafka accepts the event but before marking the row delivered, it may publish again. That is at-least-once delivery, so consumers must be idempotent. Debezium CDC is a roadmap option, not a free reliability upgrade.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filter chain: validate token signature and claims, then authorize the caller against the source wallet. Rate limiting is a separate resilience control. A token bucket permits bursts while bounding the long-run rate. Distributed counters require atomic Redis operations and a deliberate fail-open or fail-closed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test pyramid and stress that unit tests alone cannot validate PostgreSQL row locking. Run concurrency scenarios against the database engine used by the service. Assert value conservation and balance bounds. No benchmark result is claimed in this deck; report throughput only after measuring a specified workload, hardware, pool size, and latency percentiles.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explicit that database row locking protects correctness but constrains writes to hot accounts. Horizontal API scaling helps stateless request handling, not conflicting updates to one row. CDC can lower polling overhead but adds operational dependencies. Sharding is a later option because cross-shard transfers become much harder to coordinate atomically.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summarizing the transfer lifecycle: authenticate and authorize, deduplicate retries, lock and update both accounts atomically, record event intent in the outbox, then publish with at-least-once semantics. Invite questions about lock contention, idempotency guarantees, and the outbox trade-off.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6cc5892196344d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217aabe1dbf4458" /><Relationship Type="http://schemas.openxmlformats.org/officeDocument/2006/relationships/slideLayout" Target="/ppt/slideLayouts/slideLayout1.xml" Id="R3248cf6fcfd845d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248cf6fcfd845d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5b969d34f484e97" /><Relationship Type="http://schemas.openxmlformats.org/officeDocument/2006/relationships/notesSlide" Target="/ppt/notesSlides/notesSlide1.xml" Id="R1d3ce15f12604a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6623d4a5522447a" /><Relationship Type="http://schemas.openxmlformats.org/officeDocument/2006/relationships/notesSlide" Target="/ppt/notesSlides/notesSlide2.xml" Id="R0a06b24bf61847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766796076ca4ed7" /><Relationship Type="http://schemas.openxmlformats.org/officeDocument/2006/relationships/notesSlide" Target="/ppt/notesSlides/notesSlide3.xml" Id="Rc181a605a41947e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98dc48627d448e4" /><Relationship Type="http://schemas.openxmlformats.org/officeDocument/2006/relationships/notesSlide" Target="/ppt/notesSlides/notesSlide4.xml" Id="Rca9058ab22094aa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5dda20db9904d9a" /><Relationship Type="http://schemas.openxmlformats.org/officeDocument/2006/relationships/notesSlide" Target="/ppt/notesSlides/notesSlide5.xml" Id="R17cd75de1ef44ba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97c37ac89944b11" /><Relationship Type="http://schemas.openxmlformats.org/officeDocument/2006/relationships/notesSlide" Target="/ppt/notesSlides/notesSlide6.xml" Id="R04ef574ce827476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12dcaaa652e4a8e" /><Relationship Type="http://schemas.openxmlformats.org/officeDocument/2006/relationships/notesSlide" Target="/ppt/notesSlides/notesSlide7.xml" Id="R83f65b2e6fd041d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d3d7383b35a4c56" /><Relationship Type="http://schemas.openxmlformats.org/officeDocument/2006/relationships/notesSlide" Target="/ppt/notesSlides/notesSlide8.xml" Id="R788f6e04fb42469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4563130001649cc" /><Relationship Type="http://schemas.openxmlformats.org/officeDocument/2006/relationships/notesSlide" Target="/ppt/notesSlides/notesSlide9.xml" Id="Rd9fe8d95ecf847b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fa03462fe88464a" /><Relationship Type="http://schemas.openxmlformats.org/officeDocument/2006/relationships/notesSlide" Target="/ppt/notesSlides/notesSlide10.xml" Id="R43fc57c2c45a4d37" /></Relationships>
</file>

<file path=ppt/slides/slide1.xml><?xml version="1.0" encoding="utf-8"?>
<p:sld xmlns:p="http://schemas.openxmlformats.org/presentationml/2006/main">
  <p:cSld>
    <p:bg>
      <p:bgPr>
        <a:solidFill xmlns:a="http://schemas.openxmlformats.org/drawingml/2006/main">
          <a:srgbClr val="101B3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62B7761-D8FC-401D-8977-967803FFA190}"/>
              </a:ext>
            </a:extLst>
          </p:cNvPr>
          <p:cNvSpPr>
            <a:spLocks xmlns:a="http://schemas.openxmlformats.org/drawingml/2006/main" noGrp="1"/>
          </p:cNvSpPr>
          <p:nvPr/>
        </p:nvSpPr>
        <p:spPr>
          <a:xfrm xmlns:a="http://schemas.openxmlformats.org/drawingml/2006/main">
            <a:off x="0" y="0"/>
            <a:ext cx="161925" cy="6858000"/>
          </a:xfrm>
          <a:prstGeom xmlns:a="http://schemas.openxmlformats.org/drawingml/2006/main" prst="rect">
            <a:avLst/>
          </a:prstGeom>
          <a:solidFill xmlns:a="http://schemas.openxmlformats.org/drawingml/2006/main">
            <a:srgbClr val="139E9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B5FA166-4308-46A9-863B-04E14EA4712F}"/>
              </a:ext>
            </a:extLst>
          </p:cNvPr>
          <p:cNvSpPr>
            <a:spLocks xmlns:a="http://schemas.openxmlformats.org/drawingml/2006/main" noGrp="1"/>
          </p:cNvSpPr>
          <p:nvPr/>
        </p:nvSpPr>
        <p:spPr>
          <a:xfrm xmlns:a="http://schemas.openxmlformats.org/drawingml/2006/main">
            <a:off x="685800" y="89535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defRPr sz="1350" b="1">
                <a:solidFill>
                  <a:srgbClr val="8FDCD3"/>
                </a:solidFill>
                <a:latin typeface="Helvetica Neue"/>
                <a:ea typeface="Helvetica Neue"/>
                <a:cs typeface="Helvetica Neue"/>
              </a:defRPr>
            </a:pPr>
            <a:r>
              <a:rPr sz="1350" b="1">
                <a:solidFill>
                  <a:srgbClr val="8FDCD3"/>
                </a:solidFill>
                <a:latin typeface="Helvetica Neue"/>
                <a:ea typeface="Helvetica Neue"/>
                <a:cs typeface="Helvetica Neue"/>
              </a:rPr>
              <a:t>DISTRIBUTED FINTECH</a:t>
            </a:r>
          </a:p>
        </p:txBody>
      </p:sp>
      <p:sp>
        <p:nvSpPr>
          <p:cNvPr id="3" name="">
            <a:extLst xmlns:a="http://schemas.openxmlformats.org/drawingml/2006/main">
              <a:ext uri="{FF2B5EF4-FFF2-40B4-BE49-F238E27FC236}">
                <a16:creationId xmlns:a16="http://schemas.microsoft.com/office/drawing/2014/main" id="{8DF31F23-4BEC-4502-AD2B-69948D894482}"/>
              </a:ext>
            </a:extLst>
          </p:cNvPr>
          <p:cNvSpPr>
            <a:spLocks xmlns:a="http://schemas.openxmlformats.org/drawingml/2006/main" noGrp="1"/>
          </p:cNvSpPr>
          <p:nvPr/>
        </p:nvSpPr>
        <p:spPr>
          <a:xfrm xmlns:a="http://schemas.openxmlformats.org/drawingml/2006/main">
            <a:off x="685800" y="1390650"/>
            <a:ext cx="7810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Wallet Service</a:t>
            </a:r>
          </a:p>
        </p:txBody>
      </p:sp>
      <p:sp>
        <p:nvSpPr>
          <p:cNvPr id="4" name="">
            <a:extLst xmlns:a="http://schemas.openxmlformats.org/drawingml/2006/main">
              <a:ext uri="{FF2B5EF4-FFF2-40B4-BE49-F238E27FC236}">
                <a16:creationId xmlns:a16="http://schemas.microsoft.com/office/drawing/2014/main" id="{5F1F10C8-3B17-462B-AEA5-D54F776066CC}"/>
              </a:ext>
            </a:extLst>
          </p:cNvPr>
          <p:cNvSpPr>
            <a:spLocks xmlns:a="http://schemas.openxmlformats.org/drawingml/2006/main" noGrp="1"/>
          </p:cNvSpPr>
          <p:nvPr/>
        </p:nvSpPr>
        <p:spPr>
          <a:xfrm xmlns:a="http://schemas.openxmlformats.org/drawingml/2006/main">
            <a:off x="723900" y="2409825"/>
            <a:ext cx="723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296"/>
          </a:bodyPr>
          <a:lstStyle xmlns:a="http://schemas.openxmlformats.org/drawingml/2006/main"/>
          <a:p xmlns:a="http://schemas.openxmlformats.org/drawingml/2006/main">
            <a:pPr algn="l">
              <a:defRPr sz="2025" b="0">
                <a:solidFill>
                  <a:srgbClr val="D4DDED"/>
                </a:solidFill>
                <a:latin typeface="Helvetica Neue"/>
                <a:ea typeface="Helvetica Neue"/>
                <a:cs typeface="Helvetica Neue"/>
              </a:defRPr>
            </a:pPr>
            <a:r>
              <a:rPr sz="2025" b="0">
                <a:solidFill>
                  <a:srgbClr val="D4DDED"/>
                </a:solidFill>
                <a:latin typeface="Helvetica Neue"/>
                <a:ea typeface="Helvetica Neue"/>
                <a:cs typeface="Helvetica Neue"/>
              </a:rPr>
              <a:t>Safe money movement across concurrent requests and service failures</a:t>
            </a:r>
          </a:p>
        </p:txBody>
      </p:sp>
      <p:sp>
        <p:nvSpPr>
          <p:cNvPr id="5" name="">
            <a:extLst xmlns:a="http://schemas.openxmlformats.org/drawingml/2006/main">
              <a:ext uri="{FF2B5EF4-FFF2-40B4-BE49-F238E27FC236}">
                <a16:creationId xmlns:a16="http://schemas.microsoft.com/office/drawing/2014/main" id="{D4BE762E-8DA3-49E8-B7DF-CA2CD4FF743D}"/>
              </a:ext>
            </a:extLst>
          </p:cNvPr>
          <p:cNvSpPr>
            <a:spLocks xmlns:a="http://schemas.openxmlformats.org/drawingml/2006/main" noGrp="1"/>
          </p:cNvSpPr>
          <p:nvPr/>
        </p:nvSpPr>
        <p:spPr>
          <a:xfrm xmlns:a="http://schemas.openxmlformats.org/drawingml/2006/main" flipH="0" flipV="0">
            <a:off x="723900" y="3438525"/>
            <a:ext cx="6753225" cy="9525"/>
          </a:xfrm>
          <a:prstGeom xmlns:a="http://schemas.openxmlformats.org/drawingml/2006/main" prst="line">
            <a:avLst/>
          </a:prstGeom>
          <a:noFill xmlns:a="http://schemas.openxmlformats.org/drawingml/2006/main"/>
          <a:ln xmlns:a="http://schemas.openxmlformats.org/drawingml/2006/main" w="19050">
            <a:solidFill>
              <a:srgbClr val="40516F"/>
            </a:solidFill>
            <a:prstDash val="solid"/>
          </a:ln>
        </p:spPr>
      </p:sp>
      <p:sp>
        <p:nvSpPr>
          <p:cNvPr id="6" name="">
            <a:extLst xmlns:a="http://schemas.openxmlformats.org/drawingml/2006/main">
              <a:ext uri="{FF2B5EF4-FFF2-40B4-BE49-F238E27FC236}">
                <a16:creationId xmlns:a16="http://schemas.microsoft.com/office/drawing/2014/main" id="{D7429CBA-B2A1-404E-89C4-4B359B10B9C0}"/>
              </a:ext>
            </a:extLst>
          </p:cNvPr>
          <p:cNvSpPr>
            <a:spLocks xmlns:a="http://schemas.openxmlformats.org/drawingml/2006/main" noGrp="1"/>
          </p:cNvSpPr>
          <p:nvPr/>
        </p:nvSpPr>
        <p:spPr>
          <a:xfrm xmlns:a="http://schemas.openxmlformats.org/drawingml/2006/main">
            <a:off x="723900" y="3743325"/>
            <a:ext cx="752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Java 17  ·  Spring Boot  ·  PostgreSQL  ·  Redis  ·  Kafka</a:t>
            </a:r>
          </a:p>
        </p:txBody>
      </p:sp>
      <p:sp>
        <p:nvSpPr>
          <p:cNvPr id="7" name="">
            <a:extLst xmlns:a="http://schemas.openxmlformats.org/drawingml/2006/main">
              <a:ext uri="{FF2B5EF4-FFF2-40B4-BE49-F238E27FC236}">
                <a16:creationId xmlns:a16="http://schemas.microsoft.com/office/drawing/2014/main" id="{A00B0232-652C-4A16-B955-5678D0258717}"/>
              </a:ext>
            </a:extLst>
          </p:cNvPr>
          <p:cNvSpPr>
            <a:spLocks xmlns:a="http://schemas.openxmlformats.org/drawingml/2006/main" noGrp="1"/>
          </p:cNvSpPr>
          <p:nvPr/>
        </p:nvSpPr>
        <p:spPr>
          <a:xfrm xmlns:a="http://schemas.openxmlformats.org/drawingml/2006/main">
            <a:off x="723900" y="4162425"/>
            <a:ext cx="628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246"/>
          </a:bodyPr>
          <a:lstStyle xmlns:a="http://schemas.openxmlformats.org/drawingml/2006/main"/>
          <a:p xmlns:a="http://schemas.openxmlformats.org/drawingml/2006/main">
            <a:pPr algn="l">
              <a:defRPr sz="1425" b="0">
                <a:solidFill>
                  <a:srgbClr val="B8C6DA"/>
                </a:solidFill>
                <a:latin typeface="Helvetica Neue"/>
                <a:ea typeface="Helvetica Neue"/>
                <a:cs typeface="Helvetica Neue"/>
              </a:defRPr>
            </a:pPr>
            <a:r>
              <a:rPr sz="1425" b="0">
                <a:solidFill>
                  <a:srgbClr val="B8C6DA"/>
                </a:solidFill>
                <a:latin typeface="Helvetica Neue"/>
                <a:ea typeface="Helvetica Neue"/>
                <a:cs typeface="Helvetica Neue"/>
              </a:rPr>
              <a:t>Docker  ·  Spring Security  ·  JWT</a:t>
            </a:r>
          </a:p>
        </p:txBody>
      </p:sp>
      <p:sp>
        <p:nvSpPr>
          <p:cNvPr id="8" name="">
            <a:extLst xmlns:a="http://schemas.openxmlformats.org/drawingml/2006/main">
              <a:ext uri="{FF2B5EF4-FFF2-40B4-BE49-F238E27FC236}">
                <a16:creationId xmlns:a16="http://schemas.microsoft.com/office/drawing/2014/main" id="{8844B1D9-B2DC-417F-9362-628E03F69F12}"/>
              </a:ext>
            </a:extLst>
          </p:cNvPr>
          <p:cNvSpPr>
            <a:spLocks xmlns:a="http://schemas.openxmlformats.org/drawingml/2006/main" noGrp="1"/>
          </p:cNvSpPr>
          <p:nvPr/>
        </p:nvSpPr>
        <p:spPr>
          <a:xfrm xmlns:a="http://schemas.openxmlformats.org/drawingml/2006/main">
            <a:off x="723900" y="546735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B8C6DA"/>
                </a:solidFill>
                <a:latin typeface="Helvetica Neue"/>
                <a:ea typeface="Helvetica Neue"/>
                <a:cs typeface="Helvetica Neue"/>
              </a:defRPr>
            </a:pPr>
            <a:r>
              <a:rPr sz="1425" b="0">
                <a:solidFill>
                  <a:srgbClr val="B8C6DA"/>
                </a:solidFill>
                <a:latin typeface="Helvetica Neue"/>
                <a:ea typeface="Helvetica Neue"/>
                <a:cs typeface="Helvetica Neue"/>
              </a:rPr>
              <a:t>Presenter: [Your Name]   |   Mini-Project Presentation</a:t>
            </a:r>
          </a:p>
        </p:txBody>
      </p:sp>
      <p:sp>
        <p:nvSpPr>
          <p:cNvPr id="9" name="">
            <a:extLst xmlns:a="http://schemas.openxmlformats.org/drawingml/2006/main">
              <a:ext uri="{FF2B5EF4-FFF2-40B4-BE49-F238E27FC236}">
                <a16:creationId xmlns:a16="http://schemas.microsoft.com/office/drawing/2014/main" id="{FBEB79EE-593C-4B38-8D80-A1936A32C9F5}"/>
              </a:ext>
            </a:extLst>
          </p:cNvPr>
          <p:cNvSpPr>
            <a:spLocks xmlns:a="http://schemas.openxmlformats.org/drawingml/2006/main" noGrp="1"/>
          </p:cNvSpPr>
          <p:nvPr/>
        </p:nvSpPr>
        <p:spPr>
          <a:xfrm xmlns:a="http://schemas.openxmlformats.org/drawingml/2006/main">
            <a:off x="11220450" y="64198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1905"/>
          </a:bodyPr>
          <a:lstStyle xmlns:a="http://schemas.openxmlformats.org/drawingml/2006/main"/>
          <a:p xmlns:a="http://schemas.openxmlformats.org/drawingml/2006/main">
            <a:pPr algn="r">
              <a:defRPr sz="1050" b="1">
                <a:solidFill>
                  <a:srgbClr val="B8C6DA"/>
                </a:solidFill>
                <a:latin typeface="Helvetica Neue"/>
                <a:ea typeface="Helvetica Neue"/>
                <a:cs typeface="Helvetica Neue"/>
              </a:defRPr>
            </a:pPr>
            <a:r>
              <a:rPr sz="1050" b="1">
                <a:solidFill>
                  <a:srgbClr val="B8C6DA"/>
                </a:solidFill>
                <a:latin typeface="Helvetica Neue"/>
                <a:ea typeface="Helvetica Neue"/>
                <a:cs typeface="Helvetica Neue"/>
              </a:rPr>
              <a:t>01</a:t>
            </a:r>
          </a:p>
        </p:txBody>
      </p:sp>
    </p:spTree>
    <p:extLst>
      <p:ext uri="{BB962C8B-B14F-4D97-AF65-F5344CB8AC3E}">
        <p14:creationId xmlns:p14="http://schemas.microsoft.com/office/powerpoint/2010/main" val="1292520298"/>
      </p:ext>
    </p:extLst>
  </p:cSld>
</p:sld>
</file>

<file path=ppt/slides/slide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D294ED5-3195-4228-85E0-5E7E11B4550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6FE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C8A2417-0CED-4CC8-87D5-FFEA1606CAF4}"/>
              </a:ext>
            </a:extLst>
          </p:cNvPr>
          <p:cNvSpPr>
            <a:spLocks xmlns:a="http://schemas.openxmlformats.org/drawingml/2006/main" noGrp="1"/>
          </p:cNvSpPr>
          <p:nvPr/>
        </p:nvSpPr>
        <p:spPr>
          <a:xfrm xmlns:a="http://schemas.openxmlformats.org/drawingml/2006/main">
            <a:off x="590550" y="323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139E91"/>
                </a:solidFill>
                <a:latin typeface="Helvetica Neue"/>
                <a:ea typeface="Helvetica Neue"/>
                <a:cs typeface="Helvetica Neue"/>
              </a:defRPr>
            </a:pPr>
            <a:r>
              <a:rPr sz="1125" b="1">
                <a:solidFill>
                  <a:srgbClr val="139E91"/>
                </a:solidFill>
                <a:latin typeface="Helvetica Neue"/>
                <a:ea typeface="Helvetica Neue"/>
                <a:cs typeface="Helvetica Neue"/>
              </a:rPr>
              <a:t>PROBLEM STATEMENT</a:t>
            </a:r>
          </a:p>
        </p:txBody>
      </p:sp>
      <p:sp>
        <p:nvSpPr>
          <p:cNvPr id="3" name="slide-title">
            <a:extLst xmlns:a="http://schemas.openxmlformats.org/drawingml/2006/main">
              <a:ext uri="{FF2B5EF4-FFF2-40B4-BE49-F238E27FC236}">
                <a16:creationId xmlns:a16="http://schemas.microsoft.com/office/drawing/2014/main" id="{CCFA3AD6-56F5-4507-92FA-27D415B55CD1}"/>
              </a:ext>
            </a:extLst>
          </p:cNvPr>
          <p:cNvSpPr>
            <a:spLocks xmlns:a="http://schemas.openxmlformats.org/drawingml/2006/main" noGrp="1"/>
          </p:cNvSpPr>
          <p:nvPr/>
        </p:nvSpPr>
        <p:spPr>
          <a:xfrm xmlns:a="http://schemas.openxmlformats.org/drawingml/2006/main">
            <a:off x="590550" y="628650"/>
            <a:ext cx="11010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3225" b="1">
                <a:solidFill>
                  <a:srgbClr val="101B35"/>
                </a:solidFill>
                <a:latin typeface="Helvetica Neue"/>
                <a:ea typeface="Helvetica Neue"/>
                <a:cs typeface="Helvetica Neue"/>
              </a:defRPr>
            </a:pPr>
            <a:r>
              <a:rPr sz="3225" b="1">
                <a:solidFill>
                  <a:srgbClr val="101B35"/>
                </a:solidFill>
                <a:latin typeface="Helvetica Neue"/>
                <a:ea typeface="Helvetica Neue"/>
                <a:cs typeface="Helvetica Neue"/>
              </a:rPr>
              <a:t>Financial transfers face competing failure modes</a:t>
            </a:r>
          </a:p>
        </p:txBody>
      </p:sp>
      <p:sp>
        <p:nvSpPr>
          <p:cNvPr id="4" name="">
            <a:extLst xmlns:a="http://schemas.openxmlformats.org/drawingml/2006/main">
              <a:ext uri="{FF2B5EF4-FFF2-40B4-BE49-F238E27FC236}">
                <a16:creationId xmlns:a16="http://schemas.microsoft.com/office/drawing/2014/main" id="{12B19F4E-EE76-4692-9E42-81042AF99F63}"/>
              </a:ext>
            </a:extLst>
          </p:cNvPr>
          <p:cNvSpPr>
            <a:spLocks xmlns:a="http://schemas.openxmlformats.org/drawingml/2006/main" noGrp="1"/>
          </p:cNvSpPr>
          <p:nvPr/>
        </p:nvSpPr>
        <p:spPr>
          <a:xfrm xmlns:a="http://schemas.openxmlformats.org/drawingml/2006/main" flipH="0" flipV="0">
            <a:off x="590550" y="1381125"/>
            <a:ext cx="11010900" cy="9525"/>
          </a:xfrm>
          <a:prstGeom xmlns:a="http://schemas.openxmlformats.org/drawingml/2006/main" prst="line">
            <a:avLst/>
          </a:prstGeom>
          <a:noFill xmlns:a="http://schemas.openxmlformats.org/drawingml/2006/main"/>
          <a:ln xmlns:a="http://schemas.openxmlformats.org/drawingml/2006/main" w="9525">
            <a:solidFill>
              <a:srgbClr val="CCD5E3"/>
            </a:solidFill>
            <a:prstDash val="solid"/>
          </a:ln>
        </p:spPr>
      </p:sp>
      <p:sp>
        <p:nvSpPr>
          <p:cNvPr id="5" name="">
            <a:extLst xmlns:a="http://schemas.openxmlformats.org/drawingml/2006/main">
              <a:ext uri="{FF2B5EF4-FFF2-40B4-BE49-F238E27FC236}">
                <a16:creationId xmlns:a16="http://schemas.microsoft.com/office/drawing/2014/main" id="{29DA510C-2095-487B-B32A-97BF8642DAFC}"/>
              </a:ext>
            </a:extLst>
          </p:cNvPr>
          <p:cNvSpPr>
            <a:spLocks xmlns:a="http://schemas.openxmlformats.org/drawingml/2006/main" noGrp="1"/>
          </p:cNvSpPr>
          <p:nvPr/>
        </p:nvSpPr>
        <p:spPr>
          <a:xfrm xmlns:a="http://schemas.openxmlformats.org/drawingml/2006/main">
            <a:off x="11220450" y="64198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1905"/>
          </a:bodyPr>
          <a:lstStyle xmlns:a="http://schemas.openxmlformats.org/drawingml/2006/main"/>
          <a:p xmlns:a="http://schemas.openxmlformats.org/drawingml/2006/main">
            <a:pPr algn="r">
              <a:defRPr sz="1050" b="1">
                <a:solidFill>
                  <a:srgbClr val="53627A"/>
                </a:solidFill>
                <a:latin typeface="Helvetica Neue"/>
                <a:ea typeface="Helvetica Neue"/>
                <a:cs typeface="Helvetica Neue"/>
              </a:defRPr>
            </a:pPr>
            <a:r>
              <a:rPr sz="1050" b="1">
                <a:solidFill>
                  <a:srgbClr val="53627A"/>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C3572984-3EDA-4E68-8BC3-41F30B247E53}"/>
              </a:ext>
            </a:extLst>
          </p:cNvPr>
          <p:cNvSpPr>
            <a:spLocks xmlns:a="http://schemas.openxmlformats.org/drawingml/2006/main" noGrp="1"/>
          </p:cNvSpPr>
          <p:nvPr/>
        </p:nvSpPr>
        <p:spPr>
          <a:xfrm xmlns:a="http://schemas.openxmlformats.org/drawingml/2006/main">
            <a:off x="723900" y="1771650"/>
            <a:ext cx="76200" cy="723900"/>
          </a:xfrm>
          <a:prstGeom xmlns:a="http://schemas.openxmlformats.org/drawingml/2006/main" prst="rect">
            <a:avLst/>
          </a:prstGeom>
          <a:solidFill xmlns:a="http://schemas.openxmlformats.org/drawingml/2006/main">
            <a:srgbClr val="D85B5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CFEC7FD-BDBE-4E70-B512-C77841992A62}"/>
              </a:ext>
            </a:extLst>
          </p:cNvPr>
          <p:cNvSpPr>
            <a:spLocks xmlns:a="http://schemas.openxmlformats.org/drawingml/2006/main" noGrp="1"/>
          </p:cNvSpPr>
          <p:nvPr/>
        </p:nvSpPr>
        <p:spPr>
          <a:xfrm xmlns:a="http://schemas.openxmlformats.org/drawingml/2006/main">
            <a:off x="971550" y="1790700"/>
            <a:ext cx="2476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7536"/>
          </a:bodyPr>
          <a:lstStyle xmlns:a="http://schemas.openxmlformats.org/drawingml/2006/main"/>
          <a:p xmlns:a="http://schemas.openxmlformats.org/drawingml/2006/main">
            <a:pPr algn="l">
              <a:defRPr sz="1725" b="1">
                <a:solidFill>
                  <a:srgbClr val="101B35"/>
                </a:solidFill>
                <a:latin typeface="Helvetica Neue"/>
                <a:ea typeface="Helvetica Neue"/>
                <a:cs typeface="Helvetica Neue"/>
              </a:defRPr>
            </a:pPr>
            <a:r>
              <a:rPr sz="1725" b="1">
                <a:solidFill>
                  <a:srgbClr val="101B35"/>
                </a:solidFill>
                <a:latin typeface="Helvetica Neue"/>
                <a:ea typeface="Helvetica Neue"/>
                <a:cs typeface="Helvetica Neue"/>
              </a:rPr>
              <a:t>Concurrent writes</a:t>
            </a:r>
          </a:p>
        </p:txBody>
      </p:sp>
      <p:sp>
        <p:nvSpPr>
          <p:cNvPr id="8" name="">
            <a:extLst xmlns:a="http://schemas.openxmlformats.org/drawingml/2006/main">
              <a:ext uri="{FF2B5EF4-FFF2-40B4-BE49-F238E27FC236}">
                <a16:creationId xmlns:a16="http://schemas.microsoft.com/office/drawing/2014/main" id="{2A480AF7-8D30-49D2-846E-3137DA44BBD6}"/>
              </a:ext>
            </a:extLst>
          </p:cNvPr>
          <p:cNvSpPr>
            <a:spLocks xmlns:a="http://schemas.openxmlformats.org/drawingml/2006/main" noGrp="1"/>
          </p:cNvSpPr>
          <p:nvPr/>
        </p:nvSpPr>
        <p:spPr>
          <a:xfrm xmlns:a="http://schemas.openxmlformats.org/drawingml/2006/main">
            <a:off x="3552825" y="1781175"/>
            <a:ext cx="7334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8243B"/>
                </a:solidFill>
                <a:latin typeface="Helvetica Neue"/>
                <a:ea typeface="Helvetica Neue"/>
                <a:cs typeface="Helvetica Neue"/>
              </a:defRPr>
            </a:pPr>
            <a:r>
              <a:rPr sz="1575" b="0">
                <a:solidFill>
                  <a:srgbClr val="18243B"/>
                </a:solidFill>
                <a:latin typeface="Helvetica Neue"/>
                <a:ea typeface="Helvetica Neue"/>
                <a:cs typeface="Helvetica Neue"/>
              </a:rPr>
              <a:t>Two requests read the same balance and both attempt a debit.</a:t>
            </a:r>
          </a:p>
        </p:txBody>
      </p:sp>
      <p:sp>
        <p:nvSpPr>
          <p:cNvPr id="9" name="">
            <a:extLst xmlns:a="http://schemas.openxmlformats.org/drawingml/2006/main">
              <a:ext uri="{FF2B5EF4-FFF2-40B4-BE49-F238E27FC236}">
                <a16:creationId xmlns:a16="http://schemas.microsoft.com/office/drawing/2014/main" id="{EB326A85-A8ED-4E0D-9306-4E556FA378DE}"/>
              </a:ext>
            </a:extLst>
          </p:cNvPr>
          <p:cNvSpPr>
            <a:spLocks xmlns:a="http://schemas.openxmlformats.org/drawingml/2006/main" noGrp="1"/>
          </p:cNvSpPr>
          <p:nvPr/>
        </p:nvSpPr>
        <p:spPr>
          <a:xfrm xmlns:a="http://schemas.openxmlformats.org/drawingml/2006/main">
            <a:off x="723900" y="2781300"/>
            <a:ext cx="76200" cy="723900"/>
          </a:xfrm>
          <a:prstGeom xmlns:a="http://schemas.openxmlformats.org/drawingml/2006/main" prst="rect">
            <a:avLst/>
          </a:prstGeom>
          <a:solidFill xmlns:a="http://schemas.openxmlformats.org/drawingml/2006/main">
            <a:srgbClr val="E9A52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86C6583-D5FD-4773-A149-E45E8AD1DFC7}"/>
              </a:ext>
            </a:extLst>
          </p:cNvPr>
          <p:cNvSpPr>
            <a:spLocks xmlns:a="http://schemas.openxmlformats.org/drawingml/2006/main" noGrp="1"/>
          </p:cNvSpPr>
          <p:nvPr/>
        </p:nvSpPr>
        <p:spPr>
          <a:xfrm xmlns:a="http://schemas.openxmlformats.org/drawingml/2006/main">
            <a:off x="971550" y="2800350"/>
            <a:ext cx="2476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7536"/>
          </a:bodyPr>
          <a:lstStyle xmlns:a="http://schemas.openxmlformats.org/drawingml/2006/main"/>
          <a:p xmlns:a="http://schemas.openxmlformats.org/drawingml/2006/main">
            <a:pPr algn="l">
              <a:defRPr sz="1725" b="1">
                <a:solidFill>
                  <a:srgbClr val="101B35"/>
                </a:solidFill>
                <a:latin typeface="Helvetica Neue"/>
                <a:ea typeface="Helvetica Neue"/>
                <a:cs typeface="Helvetica Neue"/>
              </a:defRPr>
            </a:pPr>
            <a:r>
              <a:rPr sz="1725" b="1">
                <a:solidFill>
                  <a:srgbClr val="101B35"/>
                </a:solidFill>
                <a:latin typeface="Helvetica Neue"/>
                <a:ea typeface="Helvetica Neue"/>
                <a:cs typeface="Helvetica Neue"/>
              </a:rPr>
              <a:t>Client retries</a:t>
            </a:r>
          </a:p>
        </p:txBody>
      </p:sp>
      <p:sp>
        <p:nvSpPr>
          <p:cNvPr id="11" name="">
            <a:extLst xmlns:a="http://schemas.openxmlformats.org/drawingml/2006/main">
              <a:ext uri="{FF2B5EF4-FFF2-40B4-BE49-F238E27FC236}">
                <a16:creationId xmlns:a16="http://schemas.microsoft.com/office/drawing/2014/main" id="{95381B6D-854E-47B1-B730-515FD1AFE3A5}"/>
              </a:ext>
            </a:extLst>
          </p:cNvPr>
          <p:cNvSpPr>
            <a:spLocks xmlns:a="http://schemas.openxmlformats.org/drawingml/2006/main" noGrp="1"/>
          </p:cNvSpPr>
          <p:nvPr/>
        </p:nvSpPr>
        <p:spPr>
          <a:xfrm xmlns:a="http://schemas.openxmlformats.org/drawingml/2006/main">
            <a:off x="3552825" y="2790825"/>
            <a:ext cx="7334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8243B"/>
                </a:solidFill>
                <a:latin typeface="Helvetica Neue"/>
                <a:ea typeface="Helvetica Neue"/>
                <a:cs typeface="Helvetica Neue"/>
              </a:defRPr>
            </a:pPr>
            <a:r>
              <a:rPr sz="1575" b="0">
                <a:solidFill>
                  <a:srgbClr val="18243B"/>
                </a:solidFill>
                <a:latin typeface="Helvetica Neue"/>
                <a:ea typeface="Helvetica Neue"/>
                <a:cs typeface="Helvetica Neue"/>
              </a:rPr>
              <a:t>A timeout hides the outcome, so the client may submit the same intent again.</a:t>
            </a:r>
          </a:p>
        </p:txBody>
      </p:sp>
      <p:sp>
        <p:nvSpPr>
          <p:cNvPr id="12" name="">
            <a:extLst xmlns:a="http://schemas.openxmlformats.org/drawingml/2006/main">
              <a:ext uri="{FF2B5EF4-FFF2-40B4-BE49-F238E27FC236}">
                <a16:creationId xmlns:a16="http://schemas.microsoft.com/office/drawing/2014/main" id="{1AFA7CA9-D6DE-4CCE-9F4B-37E6ACA620CD}"/>
              </a:ext>
            </a:extLst>
          </p:cNvPr>
          <p:cNvSpPr>
            <a:spLocks xmlns:a="http://schemas.openxmlformats.org/drawingml/2006/main" noGrp="1"/>
          </p:cNvSpPr>
          <p:nvPr/>
        </p:nvSpPr>
        <p:spPr>
          <a:xfrm xmlns:a="http://schemas.openxmlformats.org/drawingml/2006/main">
            <a:off x="723900" y="3790950"/>
            <a:ext cx="76200" cy="723900"/>
          </a:xfrm>
          <a:prstGeom xmlns:a="http://schemas.openxmlformats.org/drawingml/2006/main" prst="rect">
            <a:avLst/>
          </a:prstGeom>
          <a:solidFill xmlns:a="http://schemas.openxmlformats.org/drawingml/2006/main">
            <a:srgbClr val="2F6FE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5E88B17-D951-4040-877E-9E7A3190A471}"/>
              </a:ext>
            </a:extLst>
          </p:cNvPr>
          <p:cNvSpPr>
            <a:spLocks xmlns:a="http://schemas.openxmlformats.org/drawingml/2006/main" noGrp="1"/>
          </p:cNvSpPr>
          <p:nvPr/>
        </p:nvSpPr>
        <p:spPr>
          <a:xfrm xmlns:a="http://schemas.openxmlformats.org/drawingml/2006/main">
            <a:off x="971550" y="3810000"/>
            <a:ext cx="2476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7536"/>
          </a:bodyPr>
          <a:lstStyle xmlns:a="http://schemas.openxmlformats.org/drawingml/2006/main"/>
          <a:p xmlns:a="http://schemas.openxmlformats.org/drawingml/2006/main">
            <a:pPr algn="l">
              <a:defRPr sz="1725" b="1">
                <a:solidFill>
                  <a:srgbClr val="101B35"/>
                </a:solidFill>
                <a:latin typeface="Helvetica Neue"/>
                <a:ea typeface="Helvetica Neue"/>
                <a:cs typeface="Helvetica Neue"/>
              </a:defRPr>
            </a:pPr>
            <a:r>
              <a:rPr sz="1725" b="1">
                <a:solidFill>
                  <a:srgbClr val="101B35"/>
                </a:solidFill>
                <a:latin typeface="Helvetica Neue"/>
                <a:ea typeface="Helvetica Neue"/>
                <a:cs typeface="Helvetica Neue"/>
              </a:rPr>
              <a:t>Split commits</a:t>
            </a:r>
          </a:p>
        </p:txBody>
      </p:sp>
      <p:sp>
        <p:nvSpPr>
          <p:cNvPr id="14" name="">
            <a:extLst xmlns:a="http://schemas.openxmlformats.org/drawingml/2006/main">
              <a:ext uri="{FF2B5EF4-FFF2-40B4-BE49-F238E27FC236}">
                <a16:creationId xmlns:a16="http://schemas.microsoft.com/office/drawing/2014/main" id="{8380FCE2-EDFF-4895-87E6-F83B4245D211}"/>
              </a:ext>
            </a:extLst>
          </p:cNvPr>
          <p:cNvSpPr>
            <a:spLocks xmlns:a="http://schemas.openxmlformats.org/drawingml/2006/main" noGrp="1"/>
          </p:cNvSpPr>
          <p:nvPr/>
        </p:nvSpPr>
        <p:spPr>
          <a:xfrm xmlns:a="http://schemas.openxmlformats.org/drawingml/2006/main">
            <a:off x="3552825" y="3800475"/>
            <a:ext cx="7334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8243B"/>
                </a:solidFill>
                <a:latin typeface="Helvetica Neue"/>
                <a:ea typeface="Helvetica Neue"/>
                <a:cs typeface="Helvetica Neue"/>
              </a:defRPr>
            </a:pPr>
            <a:r>
              <a:rPr sz="1575" b="0">
                <a:solidFill>
                  <a:srgbClr val="18243B"/>
                </a:solidFill>
                <a:latin typeface="Helvetica Neue"/>
                <a:ea typeface="Helvetica Neue"/>
                <a:cs typeface="Helvetica Neue"/>
              </a:rPr>
              <a:t>The database and Kafka cannot commit together in a simple local transaction.</a:t>
            </a:r>
          </a:p>
        </p:txBody>
      </p:sp>
      <p:sp>
        <p:nvSpPr>
          <p:cNvPr id="15" name="">
            <a:extLst xmlns:a="http://schemas.openxmlformats.org/drawingml/2006/main">
              <a:ext uri="{FF2B5EF4-FFF2-40B4-BE49-F238E27FC236}">
                <a16:creationId xmlns:a16="http://schemas.microsoft.com/office/drawing/2014/main" id="{45099C5B-1432-4C8E-B25E-4A031555D291}"/>
              </a:ext>
            </a:extLst>
          </p:cNvPr>
          <p:cNvSpPr>
            <a:spLocks xmlns:a="http://schemas.openxmlformats.org/drawingml/2006/main" noGrp="1"/>
          </p:cNvSpPr>
          <p:nvPr/>
        </p:nvSpPr>
        <p:spPr>
          <a:xfrm xmlns:a="http://schemas.openxmlformats.org/drawingml/2006/main">
            <a:off x="723900" y="4800600"/>
            <a:ext cx="76200" cy="723900"/>
          </a:xfrm>
          <a:prstGeom xmlns:a="http://schemas.openxmlformats.org/drawingml/2006/main" prst="rect">
            <a:avLst/>
          </a:prstGeom>
          <a:solidFill xmlns:a="http://schemas.openxmlformats.org/drawingml/2006/main">
            <a:srgbClr val="139E9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D8B9EF9-04ED-4CCE-BAA1-32130C87D0DD}"/>
              </a:ext>
            </a:extLst>
          </p:cNvPr>
          <p:cNvSpPr>
            <a:spLocks xmlns:a="http://schemas.openxmlformats.org/drawingml/2006/main" noGrp="1"/>
          </p:cNvSpPr>
          <p:nvPr/>
        </p:nvSpPr>
        <p:spPr>
          <a:xfrm xmlns:a="http://schemas.openxmlformats.org/drawingml/2006/main">
            <a:off x="971550" y="4819650"/>
            <a:ext cx="2476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7536"/>
          </a:bodyPr>
          <a:lstStyle xmlns:a="http://schemas.openxmlformats.org/drawingml/2006/main"/>
          <a:p xmlns:a="http://schemas.openxmlformats.org/drawingml/2006/main">
            <a:pPr algn="l">
              <a:defRPr sz="1725" b="1">
                <a:solidFill>
                  <a:srgbClr val="101B35"/>
                </a:solidFill>
                <a:latin typeface="Helvetica Neue"/>
                <a:ea typeface="Helvetica Neue"/>
                <a:cs typeface="Helvetica Neue"/>
              </a:defRPr>
            </a:pPr>
            <a:r>
              <a:rPr sz="1725" b="1">
                <a:solidFill>
                  <a:srgbClr val="101B35"/>
                </a:solidFill>
                <a:latin typeface="Helvetica Neue"/>
                <a:ea typeface="Helvetica Neue"/>
                <a:cs typeface="Helvetica Neue"/>
              </a:rPr>
              <a:t>Partial failure</a:t>
            </a:r>
          </a:p>
        </p:txBody>
      </p:sp>
      <p:sp>
        <p:nvSpPr>
          <p:cNvPr id="17" name="">
            <a:extLst xmlns:a="http://schemas.openxmlformats.org/drawingml/2006/main">
              <a:ext uri="{FF2B5EF4-FFF2-40B4-BE49-F238E27FC236}">
                <a16:creationId xmlns:a16="http://schemas.microsoft.com/office/drawing/2014/main" id="{A7212016-BBD8-4943-8BD0-57090405C2CF}"/>
              </a:ext>
            </a:extLst>
          </p:cNvPr>
          <p:cNvSpPr>
            <a:spLocks xmlns:a="http://schemas.openxmlformats.org/drawingml/2006/main" noGrp="1"/>
          </p:cNvSpPr>
          <p:nvPr/>
        </p:nvSpPr>
        <p:spPr>
          <a:xfrm xmlns:a="http://schemas.openxmlformats.org/drawingml/2006/main">
            <a:off x="3552825" y="4810125"/>
            <a:ext cx="7334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8243B"/>
                </a:solidFill>
                <a:latin typeface="Helvetica Neue"/>
                <a:ea typeface="Helvetica Neue"/>
                <a:cs typeface="Helvetica Neue"/>
              </a:defRPr>
            </a:pPr>
            <a:r>
              <a:rPr sz="1575" b="0">
                <a:solidFill>
                  <a:srgbClr val="18243B"/>
                </a:solidFill>
                <a:latin typeface="Helvetica Neue"/>
                <a:ea typeface="Helvetica Neue"/>
                <a:cs typeface="Helvetica Neue"/>
              </a:rPr>
              <a:t>A service may stop after a database commit but before replying or publishing.</a:t>
            </a:r>
          </a:p>
        </p:txBody>
      </p:sp>
      <p:sp>
        <p:nvSpPr>
          <p:cNvPr id="18" name="">
            <a:extLst xmlns:a="http://schemas.openxmlformats.org/drawingml/2006/main">
              <a:ext uri="{FF2B5EF4-FFF2-40B4-BE49-F238E27FC236}">
                <a16:creationId xmlns:a16="http://schemas.microsoft.com/office/drawing/2014/main" id="{E8DB0492-9A9C-4522-B29C-82297440C937}"/>
              </a:ext>
            </a:extLst>
          </p:cNvPr>
          <p:cNvSpPr>
            <a:spLocks xmlns:a="http://schemas.openxmlformats.org/drawingml/2006/main" noGrp="1"/>
          </p:cNvSpPr>
          <p:nvPr/>
        </p:nvSpPr>
        <p:spPr>
          <a:xfrm xmlns:a="http://schemas.openxmlformats.org/drawingml/2006/main">
            <a:off x="723900" y="5867400"/>
            <a:ext cx="2143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139E91"/>
                </a:solidFill>
                <a:latin typeface="Helvetica Neue"/>
                <a:ea typeface="Helvetica Neue"/>
                <a:cs typeface="Helvetica Neue"/>
              </a:defRPr>
            </a:pPr>
            <a:r>
              <a:rPr sz="1350" b="1">
                <a:solidFill>
                  <a:srgbClr val="139E91"/>
                </a:solidFill>
                <a:latin typeface="Helvetica Neue"/>
                <a:ea typeface="Helvetica Neue"/>
                <a:cs typeface="Helvetica Neue"/>
              </a:rPr>
              <a:t>Invariant to protect</a:t>
            </a:r>
          </a:p>
        </p:txBody>
      </p:sp>
      <p:sp>
        <p:nvSpPr>
          <p:cNvPr id="19" name="">
            <a:extLst xmlns:a="http://schemas.openxmlformats.org/drawingml/2006/main">
              <a:ext uri="{FF2B5EF4-FFF2-40B4-BE49-F238E27FC236}">
                <a16:creationId xmlns:a16="http://schemas.microsoft.com/office/drawing/2014/main" id="{3E702E3B-FF4C-4199-A0D1-9FC677C40AAB}"/>
              </a:ext>
            </a:extLst>
          </p:cNvPr>
          <p:cNvSpPr>
            <a:spLocks xmlns:a="http://schemas.openxmlformats.org/drawingml/2006/main" noGrp="1"/>
          </p:cNvSpPr>
          <p:nvPr/>
        </p:nvSpPr>
        <p:spPr>
          <a:xfrm xmlns:a="http://schemas.openxmlformats.org/drawingml/2006/main">
            <a:off x="2876550" y="5829300"/>
            <a:ext cx="800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101B35"/>
                </a:solidFill>
                <a:latin typeface="Helvetica Neue"/>
                <a:ea typeface="Helvetica Neue"/>
                <a:cs typeface="Helvetica Neue"/>
              </a:defRPr>
            </a:pPr>
            <a:r>
              <a:rPr sz="1650" b="1">
                <a:solidFill>
                  <a:srgbClr val="101B35"/>
                </a:solidFill>
                <a:latin typeface="Helvetica Neue"/>
                <a:ea typeface="Helvetica Neue"/>
                <a:cs typeface="Helvetica Neue"/>
              </a:rPr>
              <a:t>A transfer changes both account balances as one durable operation.</a:t>
            </a:r>
          </a:p>
        </p:txBody>
      </p:sp>
    </p:spTree>
    <p:extLst>
      <p:ext uri="{BB962C8B-B14F-4D97-AF65-F5344CB8AC3E}">
        <p14:creationId xmlns:p14="http://schemas.microsoft.com/office/powerpoint/2010/main" val="1513418917"/>
      </p:ext>
    </p:extLst>
  </p:cSld>
</p:sld>
</file>

<file path=ppt/slides/slide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4D93B1A-687E-405E-BAFA-E91334F3F71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6FE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092DE8C-5C79-475D-A6DB-26D001EBD499}"/>
              </a:ext>
            </a:extLst>
          </p:cNvPr>
          <p:cNvSpPr>
            <a:spLocks xmlns:a="http://schemas.openxmlformats.org/drawingml/2006/main" noGrp="1"/>
          </p:cNvSpPr>
          <p:nvPr/>
        </p:nvSpPr>
        <p:spPr>
          <a:xfrm xmlns:a="http://schemas.openxmlformats.org/drawingml/2006/main">
            <a:off x="590550" y="323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139E91"/>
                </a:solidFill>
                <a:latin typeface="Helvetica Neue"/>
                <a:ea typeface="Helvetica Neue"/>
                <a:cs typeface="Helvetica Neue"/>
              </a:defRPr>
            </a:pPr>
            <a:r>
              <a:rPr sz="1125" b="1">
                <a:solidFill>
                  <a:srgbClr val="139E91"/>
                </a:solidFill>
                <a:latin typeface="Helvetica Neue"/>
                <a:ea typeface="Helvetica Neue"/>
                <a:cs typeface="Helvetica Neue"/>
              </a:rPr>
              <a:t>ARCHITECTURE</a:t>
            </a:r>
          </a:p>
        </p:txBody>
      </p:sp>
      <p:sp>
        <p:nvSpPr>
          <p:cNvPr id="3" name="slide-title">
            <a:extLst xmlns:a="http://schemas.openxmlformats.org/drawingml/2006/main">
              <a:ext uri="{FF2B5EF4-FFF2-40B4-BE49-F238E27FC236}">
                <a16:creationId xmlns:a16="http://schemas.microsoft.com/office/drawing/2014/main" id="{22DF0988-0165-48B8-BA85-D1100A550895}"/>
              </a:ext>
            </a:extLst>
          </p:cNvPr>
          <p:cNvSpPr>
            <a:spLocks xmlns:a="http://schemas.openxmlformats.org/drawingml/2006/main" noGrp="1"/>
          </p:cNvSpPr>
          <p:nvPr/>
        </p:nvSpPr>
        <p:spPr>
          <a:xfrm xmlns:a="http://schemas.openxmlformats.org/drawingml/2006/main">
            <a:off x="590550" y="628650"/>
            <a:ext cx="11010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3225" b="1">
                <a:solidFill>
                  <a:srgbClr val="101B35"/>
                </a:solidFill>
                <a:latin typeface="Helvetica Neue"/>
                <a:ea typeface="Helvetica Neue"/>
                <a:cs typeface="Helvetica Neue"/>
              </a:defRPr>
            </a:pPr>
            <a:r>
              <a:rPr sz="3225" b="1">
                <a:solidFill>
                  <a:srgbClr val="101B35"/>
                </a:solidFill>
                <a:latin typeface="Helvetica Neue"/>
                <a:ea typeface="Helvetica Neue"/>
                <a:cs typeface="Helvetica Neue"/>
              </a:rPr>
              <a:t>Service architecture and transfer data flow</a:t>
            </a:r>
          </a:p>
        </p:txBody>
      </p:sp>
      <p:sp>
        <p:nvSpPr>
          <p:cNvPr id="4" name="">
            <a:extLst xmlns:a="http://schemas.openxmlformats.org/drawingml/2006/main">
              <a:ext uri="{FF2B5EF4-FFF2-40B4-BE49-F238E27FC236}">
                <a16:creationId xmlns:a16="http://schemas.microsoft.com/office/drawing/2014/main" id="{30A74589-F167-48F2-B8B8-9A6D0EEA16BD}"/>
              </a:ext>
            </a:extLst>
          </p:cNvPr>
          <p:cNvSpPr>
            <a:spLocks xmlns:a="http://schemas.openxmlformats.org/drawingml/2006/main" noGrp="1"/>
          </p:cNvSpPr>
          <p:nvPr/>
        </p:nvSpPr>
        <p:spPr>
          <a:xfrm xmlns:a="http://schemas.openxmlformats.org/drawingml/2006/main" flipH="0" flipV="0">
            <a:off x="590550" y="1381125"/>
            <a:ext cx="11010900" cy="9525"/>
          </a:xfrm>
          <a:prstGeom xmlns:a="http://schemas.openxmlformats.org/drawingml/2006/main" prst="line">
            <a:avLst/>
          </a:prstGeom>
          <a:noFill xmlns:a="http://schemas.openxmlformats.org/drawingml/2006/main"/>
          <a:ln xmlns:a="http://schemas.openxmlformats.org/drawingml/2006/main" w="9525">
            <a:solidFill>
              <a:srgbClr val="CCD5E3"/>
            </a:solidFill>
            <a:prstDash val="solid"/>
          </a:ln>
        </p:spPr>
      </p:sp>
      <p:sp>
        <p:nvSpPr>
          <p:cNvPr id="5" name="">
            <a:extLst xmlns:a="http://schemas.openxmlformats.org/drawingml/2006/main">
              <a:ext uri="{FF2B5EF4-FFF2-40B4-BE49-F238E27FC236}">
                <a16:creationId xmlns:a16="http://schemas.microsoft.com/office/drawing/2014/main" id="{8508AB54-D88A-425C-9910-CFA3115B4243}"/>
              </a:ext>
            </a:extLst>
          </p:cNvPr>
          <p:cNvSpPr>
            <a:spLocks xmlns:a="http://schemas.openxmlformats.org/drawingml/2006/main" noGrp="1"/>
          </p:cNvSpPr>
          <p:nvPr/>
        </p:nvSpPr>
        <p:spPr>
          <a:xfrm xmlns:a="http://schemas.openxmlformats.org/drawingml/2006/main">
            <a:off x="11220450" y="64198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1905"/>
          </a:bodyPr>
          <a:lstStyle xmlns:a="http://schemas.openxmlformats.org/drawingml/2006/main"/>
          <a:p xmlns:a="http://schemas.openxmlformats.org/drawingml/2006/main">
            <a:pPr algn="r">
              <a:defRPr sz="1050" b="1">
                <a:solidFill>
                  <a:srgbClr val="53627A"/>
                </a:solidFill>
                <a:latin typeface="Helvetica Neue"/>
                <a:ea typeface="Helvetica Neue"/>
                <a:cs typeface="Helvetica Neue"/>
              </a:defRPr>
            </a:pPr>
            <a:r>
              <a:rPr sz="1050" b="1">
                <a:solidFill>
                  <a:srgbClr val="53627A"/>
                </a:solidFill>
                <a:latin typeface="Helvetica Neue"/>
                <a:ea typeface="Helvetica Neue"/>
                <a:cs typeface="Helvetica Neue"/>
              </a:rPr>
              <a:t>03</a:t>
            </a:r>
          </a:p>
        </p:txBody>
      </p:sp>
      <p:sp>
        <p:nvSpPr>
          <p:cNvPr id="6" name="">
            <a:extLst xmlns:a="http://schemas.openxmlformats.org/drawingml/2006/main">
              <a:ext uri="{FF2B5EF4-FFF2-40B4-BE49-F238E27FC236}">
                <a16:creationId xmlns:a16="http://schemas.microsoft.com/office/drawing/2014/main" id="{E781D175-6646-4152-8950-FDF2FECB5BD1}"/>
              </a:ext>
            </a:extLst>
          </p:cNvPr>
          <p:cNvSpPr>
            <a:spLocks xmlns:a="http://schemas.openxmlformats.org/drawingml/2006/main" noGrp="1"/>
          </p:cNvSpPr>
          <p:nvPr/>
        </p:nvSpPr>
        <p:spPr>
          <a:xfrm xmlns:a="http://schemas.openxmlformats.org/drawingml/2006/main">
            <a:off x="647700" y="2476500"/>
            <a:ext cx="179070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19050">
            <a:solidFill>
              <a:srgbClr val="2F6FE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Client</a:t>
            </a:r>
          </a:p>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JWT + idempotency key</a:t>
            </a:r>
          </a:p>
        </p:txBody>
      </p:sp>
      <p:sp>
        <p:nvSpPr>
          <p:cNvPr id="7" name="">
            <a:extLst xmlns:a="http://schemas.openxmlformats.org/drawingml/2006/main">
              <a:ext uri="{FF2B5EF4-FFF2-40B4-BE49-F238E27FC236}">
                <a16:creationId xmlns:a16="http://schemas.microsoft.com/office/drawing/2014/main" id="{F5154097-FF77-40CE-9BAC-04B75CA7ECEC}"/>
              </a:ext>
            </a:extLst>
          </p:cNvPr>
          <p:cNvSpPr>
            <a:spLocks xmlns:a="http://schemas.openxmlformats.org/drawingml/2006/main" noGrp="1"/>
          </p:cNvSpPr>
          <p:nvPr/>
        </p:nvSpPr>
        <p:spPr>
          <a:xfrm xmlns:a="http://schemas.openxmlformats.org/drawingml/2006/main">
            <a:off x="2914650" y="2476500"/>
            <a:ext cx="1381125"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19050">
            <a:solidFill>
              <a:srgbClr val="2F6FE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8243B"/>
                </a:solidFill>
                <a:latin typeface="Helvetica Neue"/>
                <a:ea typeface="Helvetica Neue"/>
                <a:cs typeface="Helvetica Neue"/>
              </a:defRPr>
            </a:pPr>
            <a:r>
              <a:rPr sz="1575" b="1">
                <a:solidFill>
                  <a:srgbClr val="18243B"/>
                </a:solidFill>
                <a:latin typeface="Helvetica Neue"/>
                <a:ea typeface="Helvetica Neue"/>
                <a:cs typeface="Helvetica Neue"/>
              </a:rPr>
              <a:t>Gateway</a:t>
            </a:r>
          </a:p>
        </p:txBody>
      </p:sp>
      <p:sp>
        <p:nvSpPr>
          <p:cNvPr id="8" name="">
            <a:extLst xmlns:a="http://schemas.openxmlformats.org/drawingml/2006/main">
              <a:ext uri="{FF2B5EF4-FFF2-40B4-BE49-F238E27FC236}">
                <a16:creationId xmlns:a16="http://schemas.microsoft.com/office/drawing/2014/main" id="{C6FB3207-5BB4-47AB-B68E-16765EF2ED51}"/>
              </a:ext>
            </a:extLst>
          </p:cNvPr>
          <p:cNvSpPr>
            <a:spLocks xmlns:a="http://schemas.openxmlformats.org/drawingml/2006/main" noGrp="1"/>
          </p:cNvSpPr>
          <p:nvPr/>
        </p:nvSpPr>
        <p:spPr>
          <a:xfrm xmlns:a="http://schemas.openxmlformats.org/drawingml/2006/main">
            <a:off x="4791075" y="2333625"/>
            <a:ext cx="1981200" cy="1257300"/>
          </a:xfrm>
          <a:prstGeom xmlns:a="http://schemas.openxmlformats.org/drawingml/2006/main" prst="roundRect">
            <a:avLst>
              <a:gd name="adj" fmla="val 6061"/>
            </a:avLst>
          </a:prstGeom>
          <a:solidFill xmlns:a="http://schemas.openxmlformats.org/drawingml/2006/main">
            <a:srgbClr val="E8EFFD"/>
          </a:solidFill>
          <a:ln xmlns:a="http://schemas.openxmlformats.org/drawingml/2006/main" w="19050">
            <a:solidFill>
              <a:srgbClr val="2F6FE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18243B"/>
                </a:solidFill>
                <a:latin typeface="Helvetica Neue"/>
                <a:ea typeface="Helvetica Neue"/>
                <a:cs typeface="Helvetica Neue"/>
              </a:defRPr>
            </a:pPr>
            <a:r>
              <a:rPr sz="1725" b="1">
                <a:solidFill>
                  <a:srgbClr val="18243B"/>
                </a:solidFill>
                <a:latin typeface="Helvetica Neue"/>
                <a:ea typeface="Helvetica Neue"/>
                <a:cs typeface="Helvetica Neue"/>
              </a:rPr>
              <a:t>Spring Boot</a:t>
            </a:r>
          </a:p>
          <a:p xmlns:a="http://schemas.openxmlformats.org/drawingml/2006/main">
            <a:pPr algn="ctr">
              <a:defRPr sz="1725" b="1">
                <a:solidFill>
                  <a:srgbClr val="18243B"/>
                </a:solidFill>
                <a:latin typeface="Helvetica Neue"/>
                <a:ea typeface="Helvetica Neue"/>
                <a:cs typeface="Helvetica Neue"/>
              </a:defRPr>
            </a:pPr>
            <a:r>
              <a:rPr sz="1725" b="1">
                <a:solidFill>
                  <a:srgbClr val="18243B"/>
                </a:solidFill>
                <a:latin typeface="Helvetica Neue"/>
                <a:ea typeface="Helvetica Neue"/>
                <a:cs typeface="Helvetica Neue"/>
              </a:rPr>
              <a:t>Wallet API</a:t>
            </a:r>
          </a:p>
        </p:txBody>
      </p:sp>
      <p:sp>
        <p:nvSpPr>
          <p:cNvPr id="9" name="">
            <a:extLst xmlns:a="http://schemas.openxmlformats.org/drawingml/2006/main">
              <a:ext uri="{FF2B5EF4-FFF2-40B4-BE49-F238E27FC236}">
                <a16:creationId xmlns:a16="http://schemas.microsoft.com/office/drawing/2014/main" id="{1FA03A96-7281-4EDE-B5C5-520288E66538}"/>
              </a:ext>
            </a:extLst>
          </p:cNvPr>
          <p:cNvSpPr>
            <a:spLocks xmlns:a="http://schemas.openxmlformats.org/drawingml/2006/main" noGrp="1"/>
          </p:cNvSpPr>
          <p:nvPr/>
        </p:nvSpPr>
        <p:spPr>
          <a:xfrm xmlns:a="http://schemas.openxmlformats.org/drawingml/2006/main">
            <a:off x="7572375" y="1809750"/>
            <a:ext cx="2143125"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19050">
            <a:solidFill>
              <a:srgbClr val="139E91"/>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PostgreSQL</a:t>
            </a:r>
          </a:p>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accounts · transfers</a:t>
            </a:r>
          </a:p>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outbox</a:t>
            </a:r>
          </a:p>
        </p:txBody>
      </p:sp>
      <p:sp>
        <p:nvSpPr>
          <p:cNvPr id="10" name="">
            <a:extLst xmlns:a="http://schemas.openxmlformats.org/drawingml/2006/main">
              <a:ext uri="{FF2B5EF4-FFF2-40B4-BE49-F238E27FC236}">
                <a16:creationId xmlns:a16="http://schemas.microsoft.com/office/drawing/2014/main" id="{B22FAA75-629D-40D1-9A40-535910F3D485}"/>
              </a:ext>
            </a:extLst>
          </p:cNvPr>
          <p:cNvSpPr>
            <a:spLocks xmlns:a="http://schemas.openxmlformats.org/drawingml/2006/main" noGrp="1"/>
          </p:cNvSpPr>
          <p:nvPr/>
        </p:nvSpPr>
        <p:spPr>
          <a:xfrm xmlns:a="http://schemas.openxmlformats.org/drawingml/2006/main">
            <a:off x="7572375" y="3362325"/>
            <a:ext cx="2143125" cy="1057275"/>
          </a:xfrm>
          <a:prstGeom xmlns:a="http://schemas.openxmlformats.org/drawingml/2006/main" prst="roundRect">
            <a:avLst>
              <a:gd name="adj" fmla="val 7207"/>
            </a:avLst>
          </a:prstGeom>
          <a:solidFill xmlns:a="http://schemas.openxmlformats.org/drawingml/2006/main">
            <a:srgbClr val="FFFFFF"/>
          </a:solidFill>
          <a:ln xmlns:a="http://schemas.openxmlformats.org/drawingml/2006/main" w="19050">
            <a:solidFill>
              <a:srgbClr val="E9A52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Redis</a:t>
            </a:r>
          </a:p>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retry coordination</a:t>
            </a:r>
          </a:p>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TTL keys</a:t>
            </a:r>
          </a:p>
        </p:txBody>
      </p:sp>
      <p:sp>
        <p:nvSpPr>
          <p:cNvPr id="11" name="">
            <a:extLst xmlns:a="http://schemas.openxmlformats.org/drawingml/2006/main">
              <a:ext uri="{FF2B5EF4-FFF2-40B4-BE49-F238E27FC236}">
                <a16:creationId xmlns:a16="http://schemas.microsoft.com/office/drawing/2014/main" id="{A61AA2DA-70C1-4B40-AED0-B2E6AC078484}"/>
              </a:ext>
            </a:extLst>
          </p:cNvPr>
          <p:cNvSpPr>
            <a:spLocks xmlns:a="http://schemas.openxmlformats.org/drawingml/2006/main" noGrp="1"/>
          </p:cNvSpPr>
          <p:nvPr/>
        </p:nvSpPr>
        <p:spPr>
          <a:xfrm xmlns:a="http://schemas.openxmlformats.org/drawingml/2006/main">
            <a:off x="10306050" y="2143125"/>
            <a:ext cx="123825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19050">
            <a:solidFill>
              <a:srgbClr val="2F6FE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8243B"/>
                </a:solidFill>
                <a:latin typeface="Helvetica Neue"/>
                <a:ea typeface="Helvetica Neue"/>
                <a:cs typeface="Helvetica Neue"/>
              </a:defRPr>
            </a:pPr>
            <a:r>
              <a:rPr sz="1650" b="1">
                <a:solidFill>
                  <a:srgbClr val="18243B"/>
                </a:solidFill>
                <a:latin typeface="Helvetica Neue"/>
                <a:ea typeface="Helvetica Neue"/>
                <a:cs typeface="Helvetica Neue"/>
              </a:rPr>
              <a:t>Kafka</a:t>
            </a:r>
          </a:p>
        </p:txBody>
      </p:sp>
      <p:sp>
        <p:nvSpPr>
          <p:cNvPr id="12" name="">
            <a:extLst xmlns:a="http://schemas.openxmlformats.org/drawingml/2006/main">
              <a:ext uri="{FF2B5EF4-FFF2-40B4-BE49-F238E27FC236}">
                <a16:creationId xmlns:a16="http://schemas.microsoft.com/office/drawing/2014/main" id="{3F3A1AB7-CDB7-49B0-B932-8B6745CDBB21}"/>
              </a:ext>
            </a:extLst>
          </p:cNvPr>
          <p:cNvSpPr>
            <a:spLocks xmlns:a="http://schemas.openxmlformats.org/drawingml/2006/main" noGrp="1"/>
          </p:cNvSpPr>
          <p:nvPr/>
        </p:nvSpPr>
        <p:spPr>
          <a:xfrm xmlns:a="http://schemas.openxmlformats.org/drawingml/2006/main">
            <a:off x="10048875" y="3724275"/>
            <a:ext cx="1752600" cy="838200"/>
          </a:xfrm>
          <a:prstGeom xmlns:a="http://schemas.openxmlformats.org/drawingml/2006/main" prst="roundRect">
            <a:avLst>
              <a:gd name="adj" fmla="val 9091"/>
            </a:avLst>
          </a:prstGeom>
          <a:solidFill xmlns:a="http://schemas.openxmlformats.org/drawingml/2006/main">
            <a:srgbClr val="E4F5F2"/>
          </a:solidFill>
          <a:ln xmlns:a="http://schemas.openxmlformats.org/drawingml/2006/main" w="19050">
            <a:solidFill>
              <a:srgbClr val="139E91"/>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8243B"/>
                </a:solidFill>
                <a:latin typeface="Helvetica Neue"/>
                <a:ea typeface="Helvetica Neue"/>
                <a:cs typeface="Helvetica Neue"/>
              </a:defRPr>
            </a:pPr>
            <a:r>
              <a:rPr sz="1350" b="1">
                <a:solidFill>
                  <a:srgbClr val="18243B"/>
                </a:solidFill>
                <a:latin typeface="Helvetica Neue"/>
                <a:ea typeface="Helvetica Neue"/>
                <a:cs typeface="Helvetica Neue"/>
              </a:rPr>
              <a:t>Consumers</a:t>
            </a:r>
          </a:p>
          <a:p xmlns:a="http://schemas.openxmlformats.org/drawingml/2006/main">
            <a:pPr algn="ctr">
              <a:defRPr sz="1350" b="1">
                <a:solidFill>
                  <a:srgbClr val="18243B"/>
                </a:solidFill>
                <a:latin typeface="Helvetica Neue"/>
                <a:ea typeface="Helvetica Neue"/>
                <a:cs typeface="Helvetica Neue"/>
              </a:defRPr>
            </a:pPr>
            <a:r>
              <a:rPr sz="1350" b="1">
                <a:solidFill>
                  <a:srgbClr val="18243B"/>
                </a:solidFill>
                <a:latin typeface="Helvetica Neue"/>
                <a:ea typeface="Helvetica Neue"/>
                <a:cs typeface="Helvetica Neue"/>
              </a:rPr>
              <a:t>audit · notification</a:t>
            </a:r>
          </a:p>
        </p:txBody>
      </p:sp>
      <p:sp>
        <p:nvSpPr>
          <p:cNvPr id="13" name="">
            <a:extLst xmlns:a="http://schemas.openxmlformats.org/drawingml/2006/main">
              <a:ext uri="{FF2B5EF4-FFF2-40B4-BE49-F238E27FC236}">
                <a16:creationId xmlns:a16="http://schemas.microsoft.com/office/drawing/2014/main" id="{E42A22BF-0364-4C19-A028-BB0E35B44212}"/>
              </a:ext>
            </a:extLst>
          </p:cNvPr>
          <p:cNvSpPr>
            <a:spLocks xmlns:a="http://schemas.openxmlformats.org/drawingml/2006/main" noGrp="1"/>
          </p:cNvSpPr>
          <p:nvPr/>
        </p:nvSpPr>
        <p:spPr>
          <a:xfrm xmlns:a="http://schemas.openxmlformats.org/drawingml/2006/main">
            <a:off x="2457450" y="2857500"/>
            <a:ext cx="381000" cy="209550"/>
          </a:xfrm>
          <a:prstGeom xmlns:a="http://schemas.openxmlformats.org/drawingml/2006/main" prst="rightArrow">
            <a:avLst/>
          </a:prstGeom>
          <a:solidFill xmlns:a="http://schemas.openxmlformats.org/drawingml/2006/main">
            <a:srgbClr val="2F6FE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A418152-2152-4974-94D8-A0939DE078E7}"/>
              </a:ext>
            </a:extLst>
          </p:cNvPr>
          <p:cNvSpPr>
            <a:spLocks xmlns:a="http://schemas.openxmlformats.org/drawingml/2006/main" noGrp="1"/>
          </p:cNvSpPr>
          <p:nvPr/>
        </p:nvSpPr>
        <p:spPr>
          <a:xfrm xmlns:a="http://schemas.openxmlformats.org/drawingml/2006/main">
            <a:off x="4295775" y="2857500"/>
            <a:ext cx="400050" cy="209550"/>
          </a:xfrm>
          <a:prstGeom xmlns:a="http://schemas.openxmlformats.org/drawingml/2006/main" prst="rightArrow">
            <a:avLst/>
          </a:prstGeom>
          <a:solidFill xmlns:a="http://schemas.openxmlformats.org/drawingml/2006/main">
            <a:srgbClr val="2F6FE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994EC6C-8F22-4436-937D-1E420DF087CE}"/>
              </a:ext>
            </a:extLst>
          </p:cNvPr>
          <p:cNvSpPr>
            <a:spLocks xmlns:a="http://schemas.openxmlformats.org/drawingml/2006/main" noGrp="1"/>
          </p:cNvSpPr>
          <p:nvPr/>
        </p:nvSpPr>
        <p:spPr>
          <a:xfrm xmlns:a="http://schemas.openxmlformats.org/drawingml/2006/main">
            <a:off x="6772275" y="2466975"/>
            <a:ext cx="619125" cy="209550"/>
          </a:xfrm>
          <a:prstGeom xmlns:a="http://schemas.openxmlformats.org/drawingml/2006/main" prst="rightArrow">
            <a:avLst/>
          </a:prstGeom>
          <a:solidFill xmlns:a="http://schemas.openxmlformats.org/drawingml/2006/main">
            <a:srgbClr val="139E9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F605B96-2434-4656-85C8-8F9F08E04D87}"/>
              </a:ext>
            </a:extLst>
          </p:cNvPr>
          <p:cNvSpPr>
            <a:spLocks xmlns:a="http://schemas.openxmlformats.org/drawingml/2006/main" noGrp="1"/>
          </p:cNvSpPr>
          <p:nvPr/>
        </p:nvSpPr>
        <p:spPr>
          <a:xfrm xmlns:a="http://schemas.openxmlformats.org/drawingml/2006/main">
            <a:off x="6772275" y="3238500"/>
            <a:ext cx="619125" cy="209550"/>
          </a:xfrm>
          <a:prstGeom xmlns:a="http://schemas.openxmlformats.org/drawingml/2006/main" prst="rightArrow">
            <a:avLst/>
          </a:prstGeom>
          <a:solidFill xmlns:a="http://schemas.openxmlformats.org/drawingml/2006/main">
            <a:srgbClr val="E9A52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592D6B5-B3D0-4D20-A4FF-90CD18061169}"/>
              </a:ext>
            </a:extLst>
          </p:cNvPr>
          <p:cNvSpPr>
            <a:spLocks xmlns:a="http://schemas.openxmlformats.org/drawingml/2006/main" noGrp="1"/>
          </p:cNvSpPr>
          <p:nvPr/>
        </p:nvSpPr>
        <p:spPr>
          <a:xfrm xmlns:a="http://schemas.openxmlformats.org/drawingml/2006/main">
            <a:off x="9715500" y="2286000"/>
            <a:ext cx="504825" cy="209550"/>
          </a:xfrm>
          <a:prstGeom xmlns:a="http://schemas.openxmlformats.org/drawingml/2006/main" prst="rightArrow">
            <a:avLst/>
          </a:prstGeom>
          <a:solidFill xmlns:a="http://schemas.openxmlformats.org/drawingml/2006/main">
            <a:srgbClr val="2F6FE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C640EA6-EA6B-478F-97F6-4C746020B902}"/>
              </a:ext>
            </a:extLst>
          </p:cNvPr>
          <p:cNvSpPr>
            <a:spLocks xmlns:a="http://schemas.openxmlformats.org/drawingml/2006/main" noGrp="1"/>
          </p:cNvSpPr>
          <p:nvPr/>
        </p:nvSpPr>
        <p:spPr>
          <a:xfrm xmlns:a="http://schemas.openxmlformats.org/drawingml/2006/main">
            <a:off x="10858500" y="2952750"/>
            <a:ext cx="209550" cy="638175"/>
          </a:xfrm>
          <a:prstGeom xmlns:a="http://schemas.openxmlformats.org/drawingml/2006/main" prst="rightArrow">
            <a:avLst/>
          </a:prstGeom>
          <a:solidFill xmlns:a="http://schemas.openxmlformats.org/drawingml/2006/main">
            <a:srgbClr val="139E9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6046EAB-B81A-4B98-90C6-76F690320669}"/>
              </a:ext>
            </a:extLst>
          </p:cNvPr>
          <p:cNvSpPr>
            <a:spLocks xmlns:a="http://schemas.openxmlformats.org/drawingml/2006/main" noGrp="1"/>
          </p:cNvSpPr>
          <p:nvPr/>
        </p:nvSpPr>
        <p:spPr>
          <a:xfrm xmlns:a="http://schemas.openxmlformats.org/drawingml/2006/main">
            <a:off x="7105650" y="1524000"/>
            <a:ext cx="3000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208"/>
          </a:bodyPr>
          <a:lstStyle xmlns:a="http://schemas.openxmlformats.org/drawingml/2006/main"/>
          <a:p xmlns:a="http://schemas.openxmlformats.org/drawingml/2006/main">
            <a:pPr algn="ctr">
              <a:defRPr sz="1200" b="1">
                <a:solidFill>
                  <a:srgbClr val="53627A"/>
                </a:solidFill>
                <a:latin typeface="Helvetica Neue"/>
                <a:ea typeface="Helvetica Neue"/>
                <a:cs typeface="Helvetica Neue"/>
              </a:defRPr>
            </a:pPr>
            <a:r>
              <a:rPr sz="1200" b="1">
                <a:solidFill>
                  <a:srgbClr val="53627A"/>
                </a:solidFill>
                <a:latin typeface="Helvetica Neue"/>
                <a:ea typeface="Helvetica Neue"/>
                <a:cs typeface="Helvetica Neue"/>
              </a:rPr>
              <a:t>Commit transfer + outbox atomically</a:t>
            </a:r>
          </a:p>
        </p:txBody>
      </p:sp>
      <p:sp>
        <p:nvSpPr>
          <p:cNvPr id="20" name="">
            <a:extLst xmlns:a="http://schemas.openxmlformats.org/drawingml/2006/main">
              <a:ext uri="{FF2B5EF4-FFF2-40B4-BE49-F238E27FC236}">
                <a16:creationId xmlns:a16="http://schemas.microsoft.com/office/drawing/2014/main" id="{96267916-B078-43EC-9420-68785CCA2FAE}"/>
              </a:ext>
            </a:extLst>
          </p:cNvPr>
          <p:cNvSpPr>
            <a:spLocks xmlns:a="http://schemas.openxmlformats.org/drawingml/2006/main" noGrp="1"/>
          </p:cNvSpPr>
          <p:nvPr/>
        </p:nvSpPr>
        <p:spPr>
          <a:xfrm xmlns:a="http://schemas.openxmlformats.org/drawingml/2006/main">
            <a:off x="6781800" y="4619625"/>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609"/>
          </a:bodyPr>
          <a:lstStyle xmlns:a="http://schemas.openxmlformats.org/drawingml/2006/main"/>
          <a:p xmlns:a="http://schemas.openxmlformats.org/drawingml/2006/main">
            <a:pPr algn="ctr">
              <a:defRPr sz="1200" b="0">
                <a:solidFill>
                  <a:srgbClr val="53627A"/>
                </a:solidFill>
                <a:latin typeface="Helvetica Neue"/>
                <a:ea typeface="Helvetica Neue"/>
                <a:cs typeface="Helvetica Neue"/>
              </a:defRPr>
            </a:pPr>
            <a:r>
              <a:rPr sz="1200" b="0">
                <a:solidFill>
                  <a:srgbClr val="53627A"/>
                </a:solidFill>
                <a:latin typeface="Helvetica Neue"/>
                <a:ea typeface="Helvetica Neue"/>
                <a:cs typeface="Helvetica Neue"/>
              </a:rPr>
              <a:t>Redis supports request coordination; PostgreSQL owns balances</a:t>
            </a:r>
          </a:p>
        </p:txBody>
      </p:sp>
      <p:sp>
        <p:nvSpPr>
          <p:cNvPr id="21" name="">
            <a:extLst xmlns:a="http://schemas.openxmlformats.org/drawingml/2006/main">
              <a:ext uri="{FF2B5EF4-FFF2-40B4-BE49-F238E27FC236}">
                <a16:creationId xmlns:a16="http://schemas.microsoft.com/office/drawing/2014/main" id="{C67AB726-30B4-4EDA-AEE8-C41822C0BB10}"/>
              </a:ext>
            </a:extLst>
          </p:cNvPr>
          <p:cNvSpPr>
            <a:spLocks xmlns:a="http://schemas.openxmlformats.org/drawingml/2006/main" noGrp="1"/>
          </p:cNvSpPr>
          <p:nvPr/>
        </p:nvSpPr>
        <p:spPr>
          <a:xfrm xmlns:a="http://schemas.openxmlformats.org/drawingml/2006/main">
            <a:off x="647700" y="5295900"/>
            <a:ext cx="3429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555"/>
          </a:bodyPr>
          <a:lstStyle xmlns:a="http://schemas.openxmlformats.org/drawingml/2006/main"/>
          <a:p xmlns:a="http://schemas.openxmlformats.org/drawingml/2006/main">
            <a:pPr algn="l">
              <a:defRPr sz="1350" b="1">
                <a:solidFill>
                  <a:srgbClr val="2F6FED"/>
                </a:solidFill>
                <a:latin typeface="Helvetica Neue"/>
                <a:ea typeface="Helvetica Neue"/>
                <a:cs typeface="Helvetica Neue"/>
              </a:defRPr>
            </a:pPr>
            <a:r>
              <a:rPr sz="1350" b="1">
                <a:solidFill>
                  <a:srgbClr val="2F6FED"/>
                </a:solidFill>
                <a:latin typeface="Helvetica Neue"/>
                <a:ea typeface="Helvetica Neue"/>
                <a:cs typeface="Helvetica Neue"/>
              </a:rPr>
              <a:t>Synchronous financial write</a:t>
            </a:r>
          </a:p>
        </p:txBody>
      </p:sp>
      <p:sp>
        <p:nvSpPr>
          <p:cNvPr id="22" name="">
            <a:extLst xmlns:a="http://schemas.openxmlformats.org/drawingml/2006/main">
              <a:ext uri="{FF2B5EF4-FFF2-40B4-BE49-F238E27FC236}">
                <a16:creationId xmlns:a16="http://schemas.microsoft.com/office/drawing/2014/main" id="{F6985A6A-8DE7-4A5D-B7FA-172E4AED22DA}"/>
              </a:ext>
            </a:extLst>
          </p:cNvPr>
          <p:cNvSpPr>
            <a:spLocks xmlns:a="http://schemas.openxmlformats.org/drawingml/2006/main" noGrp="1"/>
          </p:cNvSpPr>
          <p:nvPr/>
        </p:nvSpPr>
        <p:spPr>
          <a:xfrm xmlns:a="http://schemas.openxmlformats.org/drawingml/2006/main">
            <a:off x="7581900" y="5295900"/>
            <a:ext cx="3429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555"/>
          </a:bodyPr>
          <a:lstStyle xmlns:a="http://schemas.openxmlformats.org/drawingml/2006/main"/>
          <a:p xmlns:a="http://schemas.openxmlformats.org/drawingml/2006/main">
            <a:pPr algn="l">
              <a:defRPr sz="1350" b="1">
                <a:solidFill>
                  <a:srgbClr val="139E91"/>
                </a:solidFill>
                <a:latin typeface="Helvetica Neue"/>
                <a:ea typeface="Helvetica Neue"/>
                <a:cs typeface="Helvetica Neue"/>
              </a:defRPr>
            </a:pPr>
            <a:r>
              <a:rPr sz="1350" b="1">
                <a:solidFill>
                  <a:srgbClr val="139E91"/>
                </a:solidFill>
                <a:latin typeface="Helvetica Neue"/>
                <a:ea typeface="Helvetica Neue"/>
                <a:cs typeface="Helvetica Neue"/>
              </a:rPr>
              <a:t>Asynchronous event delivery</a:t>
            </a:r>
          </a:p>
        </p:txBody>
      </p:sp>
    </p:spTree>
    <p:extLst>
      <p:ext uri="{BB962C8B-B14F-4D97-AF65-F5344CB8AC3E}">
        <p14:creationId xmlns:p14="http://schemas.microsoft.com/office/powerpoint/2010/main" val="437049114"/>
      </p:ext>
    </p:extLst>
  </p:cSld>
</p:sld>
</file>

<file path=ppt/slides/slide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FAFEA776-A446-442D-844A-3B6BD5CAD67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6FE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5F762CF-2549-4C62-9553-C4A2BF2E9AA6}"/>
              </a:ext>
            </a:extLst>
          </p:cNvPr>
          <p:cNvSpPr>
            <a:spLocks xmlns:a="http://schemas.openxmlformats.org/drawingml/2006/main" noGrp="1"/>
          </p:cNvSpPr>
          <p:nvPr/>
        </p:nvSpPr>
        <p:spPr>
          <a:xfrm xmlns:a="http://schemas.openxmlformats.org/drawingml/2006/main">
            <a:off x="590550" y="323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139E91"/>
                </a:solidFill>
                <a:latin typeface="Helvetica Neue"/>
                <a:ea typeface="Helvetica Neue"/>
                <a:cs typeface="Helvetica Neue"/>
              </a:defRPr>
            </a:pPr>
            <a:r>
              <a:rPr sz="1125" b="1">
                <a:solidFill>
                  <a:srgbClr val="139E91"/>
                </a:solidFill>
                <a:latin typeface="Helvetica Neue"/>
                <a:ea typeface="Helvetica Neue"/>
                <a:cs typeface="Helvetica Neue"/>
              </a:rPr>
              <a:t>FINANCIAL CORRECTNESS</a:t>
            </a:r>
          </a:p>
        </p:txBody>
      </p:sp>
      <p:sp>
        <p:nvSpPr>
          <p:cNvPr id="3" name="slide-title">
            <a:extLst xmlns:a="http://schemas.openxmlformats.org/drawingml/2006/main">
              <a:ext uri="{FF2B5EF4-FFF2-40B4-BE49-F238E27FC236}">
                <a16:creationId xmlns:a16="http://schemas.microsoft.com/office/drawing/2014/main" id="{AEC06B00-9EE0-4BCC-BFED-0C72A55AD99F}"/>
              </a:ext>
            </a:extLst>
          </p:cNvPr>
          <p:cNvSpPr>
            <a:spLocks xmlns:a="http://schemas.openxmlformats.org/drawingml/2006/main" noGrp="1"/>
          </p:cNvSpPr>
          <p:nvPr/>
        </p:nvSpPr>
        <p:spPr>
          <a:xfrm xmlns:a="http://schemas.openxmlformats.org/drawingml/2006/main">
            <a:off x="590550" y="628650"/>
            <a:ext cx="11010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3225" b="1">
                <a:solidFill>
                  <a:srgbClr val="101B35"/>
                </a:solidFill>
                <a:latin typeface="Helvetica Neue"/>
                <a:ea typeface="Helvetica Neue"/>
                <a:cs typeface="Helvetica Neue"/>
              </a:defRPr>
            </a:pPr>
            <a:r>
              <a:rPr sz="3225" b="1">
                <a:solidFill>
                  <a:srgbClr val="101B35"/>
                </a:solidFill>
                <a:latin typeface="Helvetica Neue"/>
                <a:ea typeface="Helvetica Neue"/>
                <a:cs typeface="Helvetica Neue"/>
              </a:rPr>
              <a:t>Concurrency control: lock accounts in a stable order</a:t>
            </a:r>
          </a:p>
        </p:txBody>
      </p:sp>
      <p:sp>
        <p:nvSpPr>
          <p:cNvPr id="4" name="">
            <a:extLst xmlns:a="http://schemas.openxmlformats.org/drawingml/2006/main">
              <a:ext uri="{FF2B5EF4-FFF2-40B4-BE49-F238E27FC236}">
                <a16:creationId xmlns:a16="http://schemas.microsoft.com/office/drawing/2014/main" id="{C2F2F2EB-B1E2-4C6F-968A-70AB407A33A4}"/>
              </a:ext>
            </a:extLst>
          </p:cNvPr>
          <p:cNvSpPr>
            <a:spLocks xmlns:a="http://schemas.openxmlformats.org/drawingml/2006/main" noGrp="1"/>
          </p:cNvSpPr>
          <p:nvPr/>
        </p:nvSpPr>
        <p:spPr>
          <a:xfrm xmlns:a="http://schemas.openxmlformats.org/drawingml/2006/main" flipH="0" flipV="0">
            <a:off x="590550" y="1381125"/>
            <a:ext cx="11010900" cy="9525"/>
          </a:xfrm>
          <a:prstGeom xmlns:a="http://schemas.openxmlformats.org/drawingml/2006/main" prst="line">
            <a:avLst/>
          </a:prstGeom>
          <a:noFill xmlns:a="http://schemas.openxmlformats.org/drawingml/2006/main"/>
          <a:ln xmlns:a="http://schemas.openxmlformats.org/drawingml/2006/main" w="9525">
            <a:solidFill>
              <a:srgbClr val="CCD5E3"/>
            </a:solidFill>
            <a:prstDash val="solid"/>
          </a:ln>
        </p:spPr>
      </p:sp>
      <p:sp>
        <p:nvSpPr>
          <p:cNvPr id="5" name="">
            <a:extLst xmlns:a="http://schemas.openxmlformats.org/drawingml/2006/main">
              <a:ext uri="{FF2B5EF4-FFF2-40B4-BE49-F238E27FC236}">
                <a16:creationId xmlns:a16="http://schemas.microsoft.com/office/drawing/2014/main" id="{05C701DC-BB37-4C7C-A450-613B22AE56A4}"/>
              </a:ext>
            </a:extLst>
          </p:cNvPr>
          <p:cNvSpPr>
            <a:spLocks xmlns:a="http://schemas.openxmlformats.org/drawingml/2006/main" noGrp="1"/>
          </p:cNvSpPr>
          <p:nvPr/>
        </p:nvSpPr>
        <p:spPr>
          <a:xfrm xmlns:a="http://schemas.openxmlformats.org/drawingml/2006/main">
            <a:off x="11220450" y="64198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1905"/>
          </a:bodyPr>
          <a:lstStyle xmlns:a="http://schemas.openxmlformats.org/drawingml/2006/main"/>
          <a:p xmlns:a="http://schemas.openxmlformats.org/drawingml/2006/main">
            <a:pPr algn="r">
              <a:defRPr sz="1050" b="1">
                <a:solidFill>
                  <a:srgbClr val="53627A"/>
                </a:solidFill>
                <a:latin typeface="Helvetica Neue"/>
                <a:ea typeface="Helvetica Neue"/>
                <a:cs typeface="Helvetica Neue"/>
              </a:defRPr>
            </a:pPr>
            <a:r>
              <a:rPr sz="1050" b="1">
                <a:solidFill>
                  <a:srgbClr val="53627A"/>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15E67B7B-8429-4D67-89F0-649AD790522C}"/>
              </a:ext>
            </a:extLst>
          </p:cNvPr>
          <p:cNvSpPr>
            <a:spLocks xmlns:a="http://schemas.openxmlformats.org/drawingml/2006/main" noGrp="1"/>
          </p:cNvSpPr>
          <p:nvPr/>
        </p:nvSpPr>
        <p:spPr>
          <a:xfrm xmlns:a="http://schemas.openxmlformats.org/drawingml/2006/main">
            <a:off x="723900" y="168592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7273"/>
          </a:bodyPr>
          <a:lstStyle xmlns:a="http://schemas.openxmlformats.org/drawingml/2006/main"/>
          <a:p xmlns:a="http://schemas.openxmlformats.org/drawingml/2006/main">
            <a:pPr algn="l">
              <a:defRPr sz="1650" b="1">
                <a:solidFill>
                  <a:srgbClr val="101B35"/>
                </a:solidFill>
                <a:latin typeface="Helvetica Neue"/>
                <a:ea typeface="Helvetica Neue"/>
                <a:cs typeface="Helvetica Neue"/>
              </a:defRPr>
            </a:pPr>
            <a:r>
              <a:rPr sz="1650" b="1">
                <a:solidFill>
                  <a:srgbClr val="101B35"/>
                </a:solidFill>
                <a:latin typeface="Helvetica Neue"/>
                <a:ea typeface="Helvetica Neue"/>
                <a:cs typeface="Helvetica Neue"/>
              </a:rPr>
              <a:t>Opposing transfers</a:t>
            </a:r>
          </a:p>
        </p:txBody>
      </p:sp>
      <p:sp>
        <p:nvSpPr>
          <p:cNvPr id="7" name="">
            <a:extLst xmlns:a="http://schemas.openxmlformats.org/drawingml/2006/main">
              <a:ext uri="{FF2B5EF4-FFF2-40B4-BE49-F238E27FC236}">
                <a16:creationId xmlns:a16="http://schemas.microsoft.com/office/drawing/2014/main" id="{B15539D9-0C31-421C-B35F-D0A2E25103D9}"/>
              </a:ext>
            </a:extLst>
          </p:cNvPr>
          <p:cNvSpPr>
            <a:spLocks xmlns:a="http://schemas.openxmlformats.org/drawingml/2006/main" noGrp="1"/>
          </p:cNvSpPr>
          <p:nvPr/>
        </p:nvSpPr>
        <p:spPr>
          <a:xfrm xmlns:a="http://schemas.openxmlformats.org/drawingml/2006/main">
            <a:off x="790575" y="2114550"/>
            <a:ext cx="1524000" cy="590550"/>
          </a:xfrm>
          <a:prstGeom xmlns:a="http://schemas.openxmlformats.org/drawingml/2006/main" prst="roundRect">
            <a:avLst>
              <a:gd name="adj" fmla="val 12903"/>
            </a:avLst>
          </a:prstGeom>
          <a:solidFill xmlns:a="http://schemas.openxmlformats.org/drawingml/2006/main">
            <a:srgbClr val="E8EFFD"/>
          </a:solidFill>
          <a:ln xmlns:a="http://schemas.openxmlformats.org/drawingml/2006/main" w="19050">
            <a:solidFill>
              <a:srgbClr val="2F6FE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18243B"/>
                </a:solidFill>
                <a:latin typeface="Helvetica Neue"/>
                <a:ea typeface="Helvetica Neue"/>
                <a:cs typeface="Helvetica Neue"/>
              </a:defRPr>
            </a:pPr>
            <a:r>
              <a:rPr sz="1725" b="1">
                <a:solidFill>
                  <a:srgbClr val="18243B"/>
                </a:solidFill>
                <a:latin typeface="Helvetica Neue"/>
                <a:ea typeface="Helvetica Neue"/>
                <a:cs typeface="Helvetica Neue"/>
              </a:rPr>
              <a:t>A → B</a:t>
            </a:r>
          </a:p>
        </p:txBody>
      </p:sp>
      <p:sp>
        <p:nvSpPr>
          <p:cNvPr id="8" name="">
            <a:extLst xmlns:a="http://schemas.openxmlformats.org/drawingml/2006/main">
              <a:ext uri="{FF2B5EF4-FFF2-40B4-BE49-F238E27FC236}">
                <a16:creationId xmlns:a16="http://schemas.microsoft.com/office/drawing/2014/main" id="{599E4DFA-03D7-45A3-B2EF-749682A0A985}"/>
              </a:ext>
            </a:extLst>
          </p:cNvPr>
          <p:cNvSpPr>
            <a:spLocks xmlns:a="http://schemas.openxmlformats.org/drawingml/2006/main" noGrp="1"/>
          </p:cNvSpPr>
          <p:nvPr/>
        </p:nvSpPr>
        <p:spPr>
          <a:xfrm xmlns:a="http://schemas.openxmlformats.org/drawingml/2006/main">
            <a:off x="790575" y="3038475"/>
            <a:ext cx="1524000" cy="590550"/>
          </a:xfrm>
          <a:prstGeom xmlns:a="http://schemas.openxmlformats.org/drawingml/2006/main" prst="roundRect">
            <a:avLst>
              <a:gd name="adj" fmla="val 12903"/>
            </a:avLst>
          </a:prstGeom>
          <a:solidFill xmlns:a="http://schemas.openxmlformats.org/drawingml/2006/main">
            <a:srgbClr val="FFF4DD"/>
          </a:solidFill>
          <a:ln xmlns:a="http://schemas.openxmlformats.org/drawingml/2006/main" w="19050">
            <a:solidFill>
              <a:srgbClr val="E9A52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18243B"/>
                </a:solidFill>
                <a:latin typeface="Helvetica Neue"/>
                <a:ea typeface="Helvetica Neue"/>
                <a:cs typeface="Helvetica Neue"/>
              </a:defRPr>
            </a:pPr>
            <a:r>
              <a:rPr sz="1725" b="1">
                <a:solidFill>
                  <a:srgbClr val="18243B"/>
                </a:solidFill>
                <a:latin typeface="Helvetica Neue"/>
                <a:ea typeface="Helvetica Neue"/>
                <a:cs typeface="Helvetica Neue"/>
              </a:rPr>
              <a:t>B → A</a:t>
            </a:r>
          </a:p>
        </p:txBody>
      </p:sp>
      <p:sp>
        <p:nvSpPr>
          <p:cNvPr id="9" name="">
            <a:extLst xmlns:a="http://schemas.openxmlformats.org/drawingml/2006/main">
              <a:ext uri="{FF2B5EF4-FFF2-40B4-BE49-F238E27FC236}">
                <a16:creationId xmlns:a16="http://schemas.microsoft.com/office/drawing/2014/main" id="{8F9C2226-7D98-4F4F-873E-60FE4D0B72F8}"/>
              </a:ext>
            </a:extLst>
          </p:cNvPr>
          <p:cNvSpPr>
            <a:spLocks xmlns:a="http://schemas.openxmlformats.org/drawingml/2006/main" noGrp="1"/>
          </p:cNvSpPr>
          <p:nvPr/>
        </p:nvSpPr>
        <p:spPr>
          <a:xfrm xmlns:a="http://schemas.openxmlformats.org/drawingml/2006/main">
            <a:off x="3086100" y="171450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p xmlns:a="http://schemas.openxmlformats.org/drawingml/2006/main">
            <a:pPr algn="l">
              <a:defRPr sz="1500" b="1">
                <a:solidFill>
                  <a:srgbClr val="53627A"/>
                </a:solidFill>
                <a:latin typeface="Helvetica Neue"/>
                <a:ea typeface="Helvetica Neue"/>
                <a:cs typeface="Helvetica Neue"/>
              </a:defRPr>
            </a:pPr>
            <a:r>
              <a:rPr sz="1500" b="1">
                <a:solidFill>
                  <a:srgbClr val="53627A"/>
                </a:solidFill>
                <a:latin typeface="Helvetica Neue"/>
                <a:ea typeface="Helvetica Neue"/>
                <a:cs typeface="Helvetica Neue"/>
              </a:rPr>
              <a:t>Both acquire locks by sorted account ID</a:t>
            </a:r>
          </a:p>
        </p:txBody>
      </p:sp>
      <p:sp>
        <p:nvSpPr>
          <p:cNvPr id="10" name="">
            <a:extLst xmlns:a="http://schemas.openxmlformats.org/drawingml/2006/main">
              <a:ext uri="{FF2B5EF4-FFF2-40B4-BE49-F238E27FC236}">
                <a16:creationId xmlns:a16="http://schemas.microsoft.com/office/drawing/2014/main" id="{CFD03ED9-DDB8-4DA3-BDD5-65C6A1A96EA7}"/>
              </a:ext>
            </a:extLst>
          </p:cNvPr>
          <p:cNvSpPr>
            <a:spLocks xmlns:a="http://schemas.openxmlformats.org/drawingml/2006/main" noGrp="1"/>
          </p:cNvSpPr>
          <p:nvPr/>
        </p:nvSpPr>
        <p:spPr>
          <a:xfrm xmlns:a="http://schemas.openxmlformats.org/drawingml/2006/main">
            <a:off x="3333750" y="2276475"/>
            <a:ext cx="180975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19050">
            <a:solidFill>
              <a:srgbClr val="139E91"/>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8243B"/>
                </a:solidFill>
                <a:latin typeface="Helvetica Neue"/>
                <a:ea typeface="Helvetica Neue"/>
                <a:cs typeface="Helvetica Neue"/>
              </a:defRPr>
            </a:pPr>
            <a:r>
              <a:rPr sz="1650" b="1">
                <a:solidFill>
                  <a:srgbClr val="18243B"/>
                </a:solidFill>
                <a:latin typeface="Helvetica Neue"/>
                <a:ea typeface="Helvetica Neue"/>
                <a:cs typeface="Helvetica Neue"/>
              </a:rPr>
              <a:t>min(A, B)</a:t>
            </a:r>
          </a:p>
        </p:txBody>
      </p:sp>
      <p:sp>
        <p:nvSpPr>
          <p:cNvPr id="11" name="">
            <a:extLst xmlns:a="http://schemas.openxmlformats.org/drawingml/2006/main">
              <a:ext uri="{FF2B5EF4-FFF2-40B4-BE49-F238E27FC236}">
                <a16:creationId xmlns:a16="http://schemas.microsoft.com/office/drawing/2014/main" id="{674B6FA3-EF59-473E-A7EC-519E61993BDC}"/>
              </a:ext>
            </a:extLst>
          </p:cNvPr>
          <p:cNvSpPr>
            <a:spLocks xmlns:a="http://schemas.openxmlformats.org/drawingml/2006/main" noGrp="1"/>
          </p:cNvSpPr>
          <p:nvPr/>
        </p:nvSpPr>
        <p:spPr>
          <a:xfrm xmlns:a="http://schemas.openxmlformats.org/drawingml/2006/main">
            <a:off x="5219700" y="2505075"/>
            <a:ext cx="457200" cy="209550"/>
          </a:xfrm>
          <a:prstGeom xmlns:a="http://schemas.openxmlformats.org/drawingml/2006/main" prst="rightArrow">
            <a:avLst/>
          </a:prstGeom>
          <a:solidFill xmlns:a="http://schemas.openxmlformats.org/drawingml/2006/main">
            <a:srgbClr val="139E9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2765602-DACE-4CBA-A0BE-07CED62DACA2}"/>
              </a:ext>
            </a:extLst>
          </p:cNvPr>
          <p:cNvSpPr>
            <a:spLocks xmlns:a="http://schemas.openxmlformats.org/drawingml/2006/main" noGrp="1"/>
          </p:cNvSpPr>
          <p:nvPr/>
        </p:nvSpPr>
        <p:spPr>
          <a:xfrm xmlns:a="http://schemas.openxmlformats.org/drawingml/2006/main">
            <a:off x="5715000" y="2276475"/>
            <a:ext cx="180975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19050">
            <a:solidFill>
              <a:srgbClr val="139E91"/>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8243B"/>
                </a:solidFill>
                <a:latin typeface="Helvetica Neue"/>
                <a:ea typeface="Helvetica Neue"/>
                <a:cs typeface="Helvetica Neue"/>
              </a:defRPr>
            </a:pPr>
            <a:r>
              <a:rPr sz="1650" b="1">
                <a:solidFill>
                  <a:srgbClr val="18243B"/>
                </a:solidFill>
                <a:latin typeface="Helvetica Neue"/>
                <a:ea typeface="Helvetica Neue"/>
                <a:cs typeface="Helvetica Neue"/>
              </a:rPr>
              <a:t>max(A, B)</a:t>
            </a:r>
          </a:p>
        </p:txBody>
      </p:sp>
      <p:sp>
        <p:nvSpPr>
          <p:cNvPr id="13" name="">
            <a:extLst xmlns:a="http://schemas.openxmlformats.org/drawingml/2006/main">
              <a:ext uri="{FF2B5EF4-FFF2-40B4-BE49-F238E27FC236}">
                <a16:creationId xmlns:a16="http://schemas.microsoft.com/office/drawing/2014/main" id="{F21965EE-D350-40F5-AE32-819B944105A3}"/>
              </a:ext>
            </a:extLst>
          </p:cNvPr>
          <p:cNvSpPr>
            <a:spLocks xmlns:a="http://schemas.openxmlformats.org/drawingml/2006/main" noGrp="1"/>
          </p:cNvSpPr>
          <p:nvPr/>
        </p:nvSpPr>
        <p:spPr>
          <a:xfrm xmlns:a="http://schemas.openxmlformats.org/drawingml/2006/main" flipH="0" flipV="0">
            <a:off x="2314575" y="2409825"/>
            <a:ext cx="742950" cy="9525"/>
          </a:xfrm>
          <a:prstGeom xmlns:a="http://schemas.openxmlformats.org/drawingml/2006/main" prst="line">
            <a:avLst/>
          </a:prstGeom>
          <a:noFill xmlns:a="http://schemas.openxmlformats.org/drawingml/2006/main"/>
          <a:ln xmlns:a="http://schemas.openxmlformats.org/drawingml/2006/main" w="19050">
            <a:solidFill>
              <a:srgbClr val="2F6FED"/>
            </a:solidFill>
            <a:prstDash val="solid"/>
          </a:ln>
        </p:spPr>
      </p:sp>
      <p:sp>
        <p:nvSpPr>
          <p:cNvPr id="14" name="">
            <a:extLst xmlns:a="http://schemas.openxmlformats.org/drawingml/2006/main">
              <a:ext uri="{FF2B5EF4-FFF2-40B4-BE49-F238E27FC236}">
                <a16:creationId xmlns:a16="http://schemas.microsoft.com/office/drawing/2014/main" id="{59A3626A-8DC7-4E7F-A7A1-38ACFCF591C4}"/>
              </a:ext>
            </a:extLst>
          </p:cNvPr>
          <p:cNvSpPr>
            <a:spLocks xmlns:a="http://schemas.openxmlformats.org/drawingml/2006/main" noGrp="1"/>
          </p:cNvSpPr>
          <p:nvPr/>
        </p:nvSpPr>
        <p:spPr>
          <a:xfrm xmlns:a="http://schemas.openxmlformats.org/drawingml/2006/main" flipH="0" flipV="0">
            <a:off x="2314575" y="3324225"/>
            <a:ext cx="419100" cy="9525"/>
          </a:xfrm>
          <a:prstGeom xmlns:a="http://schemas.openxmlformats.org/drawingml/2006/main" prst="line">
            <a:avLst/>
          </a:prstGeom>
          <a:noFill xmlns:a="http://schemas.openxmlformats.org/drawingml/2006/main"/>
          <a:ln xmlns:a="http://schemas.openxmlformats.org/drawingml/2006/main" w="19050">
            <a:solidFill>
              <a:srgbClr val="E9A52B"/>
            </a:solidFill>
            <a:prstDash val="solid"/>
          </a:ln>
        </p:spPr>
      </p:sp>
      <p:sp>
        <p:nvSpPr>
          <p:cNvPr id="15" name="">
            <a:extLst xmlns:a="http://schemas.openxmlformats.org/drawingml/2006/main">
              <a:ext uri="{FF2B5EF4-FFF2-40B4-BE49-F238E27FC236}">
                <a16:creationId xmlns:a16="http://schemas.microsoft.com/office/drawing/2014/main" id="{08C67083-E1B6-4779-87E2-4C1F954D5884}"/>
              </a:ext>
            </a:extLst>
          </p:cNvPr>
          <p:cNvSpPr>
            <a:spLocks xmlns:a="http://schemas.openxmlformats.org/drawingml/2006/main" noGrp="1"/>
          </p:cNvSpPr>
          <p:nvPr/>
        </p:nvSpPr>
        <p:spPr>
          <a:xfrm xmlns:a="http://schemas.openxmlformats.org/drawingml/2006/main" flipH="0" flipV="1">
            <a:off x="2733675" y="2609850"/>
            <a:ext cx="9525" cy="714375"/>
          </a:xfrm>
          <a:prstGeom xmlns:a="http://schemas.openxmlformats.org/drawingml/2006/main" prst="line">
            <a:avLst/>
          </a:prstGeom>
          <a:noFill xmlns:a="http://schemas.openxmlformats.org/drawingml/2006/main"/>
          <a:ln xmlns:a="http://schemas.openxmlformats.org/drawingml/2006/main" w="19050">
            <a:solidFill>
              <a:srgbClr val="E9A52B"/>
            </a:solidFill>
            <a:prstDash val="solid"/>
          </a:ln>
        </p:spPr>
      </p:sp>
      <p:sp>
        <p:nvSpPr>
          <p:cNvPr id="16" name="">
            <a:extLst xmlns:a="http://schemas.openxmlformats.org/drawingml/2006/main">
              <a:ext uri="{FF2B5EF4-FFF2-40B4-BE49-F238E27FC236}">
                <a16:creationId xmlns:a16="http://schemas.microsoft.com/office/drawing/2014/main" id="{93959C7E-573A-4350-8B6C-4D47D7E6B236}"/>
              </a:ext>
            </a:extLst>
          </p:cNvPr>
          <p:cNvSpPr>
            <a:spLocks xmlns:a="http://schemas.openxmlformats.org/drawingml/2006/main" noGrp="1"/>
          </p:cNvSpPr>
          <p:nvPr/>
        </p:nvSpPr>
        <p:spPr>
          <a:xfrm xmlns:a="http://schemas.openxmlformats.org/drawingml/2006/main" flipH="0" flipV="0">
            <a:off x="2733675" y="2609850"/>
            <a:ext cx="323850" cy="9525"/>
          </a:xfrm>
          <a:prstGeom xmlns:a="http://schemas.openxmlformats.org/drawingml/2006/main" prst="line">
            <a:avLst/>
          </a:prstGeom>
          <a:noFill xmlns:a="http://schemas.openxmlformats.org/drawingml/2006/main"/>
          <a:ln xmlns:a="http://schemas.openxmlformats.org/drawingml/2006/main" w="19050">
            <a:solidFill>
              <a:srgbClr val="E9A52B"/>
            </a:solidFill>
            <a:prstDash val="solid"/>
          </a:ln>
        </p:spPr>
      </p:sp>
      <p:sp>
        <p:nvSpPr>
          <p:cNvPr id="17" name="">
            <a:extLst xmlns:a="http://schemas.openxmlformats.org/drawingml/2006/main">
              <a:ext uri="{FF2B5EF4-FFF2-40B4-BE49-F238E27FC236}">
                <a16:creationId xmlns:a16="http://schemas.microsoft.com/office/drawing/2014/main" id="{111E60B7-8F64-4A9A-9050-E1A4D8B83091}"/>
              </a:ext>
            </a:extLst>
          </p:cNvPr>
          <p:cNvSpPr>
            <a:spLocks xmlns:a="http://schemas.openxmlformats.org/drawingml/2006/main" noGrp="1"/>
          </p:cNvSpPr>
          <p:nvPr/>
        </p:nvSpPr>
        <p:spPr>
          <a:xfrm xmlns:a="http://schemas.openxmlformats.org/drawingml/2006/main">
            <a:off x="8096250" y="1838325"/>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1930"/>
          </a:bodyPr>
          <a:lstStyle xmlns:a="http://schemas.openxmlformats.org/drawingml/2006/main"/>
          <a:p xmlns:a="http://schemas.openxmlformats.org/drawingml/2006/main">
            <a:pPr algn="l">
              <a:defRPr sz="1425" b="1">
                <a:solidFill>
                  <a:srgbClr val="2F6FED"/>
                </a:solidFill>
                <a:latin typeface="Helvetica Neue"/>
                <a:ea typeface="Helvetica Neue"/>
                <a:cs typeface="Helvetica Neue"/>
              </a:defRPr>
            </a:pPr>
            <a:r>
              <a:rPr sz="1425" b="1">
                <a:solidFill>
                  <a:srgbClr val="2F6FED"/>
                </a:solidFill>
                <a:latin typeface="Helvetica Neue"/>
                <a:ea typeface="Helvetica Neue"/>
                <a:cs typeface="Helvetica Neue"/>
              </a:rPr>
              <a:t>One transaction</a:t>
            </a:r>
          </a:p>
        </p:txBody>
      </p:sp>
      <p:sp>
        <p:nvSpPr>
          <p:cNvPr id="18" name="">
            <a:extLst xmlns:a="http://schemas.openxmlformats.org/drawingml/2006/main">
              <a:ext uri="{FF2B5EF4-FFF2-40B4-BE49-F238E27FC236}">
                <a16:creationId xmlns:a16="http://schemas.microsoft.com/office/drawing/2014/main" id="{A51E81EC-260D-42CE-8A76-A23DE98C0651}"/>
              </a:ext>
            </a:extLst>
          </p:cNvPr>
          <p:cNvSpPr>
            <a:spLocks xmlns:a="http://schemas.openxmlformats.org/drawingml/2006/main" noGrp="1"/>
          </p:cNvSpPr>
          <p:nvPr/>
        </p:nvSpPr>
        <p:spPr>
          <a:xfrm xmlns:a="http://schemas.openxmlformats.org/drawingml/2006/main">
            <a:off x="8096250" y="2257425"/>
            <a:ext cx="85725" cy="85725"/>
          </a:xfrm>
          <a:prstGeom xmlns:a="http://schemas.openxmlformats.org/drawingml/2006/main" prst="ellipse">
            <a:avLst/>
          </a:prstGeom>
          <a:solidFill xmlns:a="http://schemas.openxmlformats.org/drawingml/2006/main">
            <a:srgbClr val="2F6FE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5D30347-87EF-49A1-97DA-659843144BE2}"/>
              </a:ext>
            </a:extLst>
          </p:cNvPr>
          <p:cNvSpPr>
            <a:spLocks xmlns:a="http://schemas.openxmlformats.org/drawingml/2006/main" noGrp="1"/>
          </p:cNvSpPr>
          <p:nvPr/>
        </p:nvSpPr>
        <p:spPr>
          <a:xfrm xmlns:a="http://schemas.openxmlformats.org/drawingml/2006/main">
            <a:off x="8305800" y="2152650"/>
            <a:ext cx="3219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368"/>
          </a:bodyPr>
          <a:lstStyle xmlns:a="http://schemas.openxmlformats.org/drawingml/2006/main"/>
          <a:p xmlns:a="http://schemas.openxmlformats.org/drawingml/2006/main">
            <a:pPr algn="l">
              <a:defRPr sz="1425" b="0">
                <a:solidFill>
                  <a:srgbClr val="18243B"/>
                </a:solidFill>
                <a:latin typeface="Helvetica Neue"/>
                <a:ea typeface="Helvetica Neue"/>
                <a:cs typeface="Helvetica Neue"/>
              </a:defRPr>
            </a:pPr>
            <a:r>
              <a:rPr sz="1425" b="0">
                <a:solidFill>
                  <a:srgbClr val="18243B"/>
                </a:solidFill>
                <a:latin typeface="Helvetica Neue"/>
                <a:ea typeface="Helvetica Neue"/>
                <a:cs typeface="Helvetica Neue"/>
              </a:rPr>
              <a:t>Lock rows with SELECT … FOR UPDATE</a:t>
            </a:r>
          </a:p>
        </p:txBody>
      </p:sp>
      <p:sp>
        <p:nvSpPr>
          <p:cNvPr id="20" name="">
            <a:extLst xmlns:a="http://schemas.openxmlformats.org/drawingml/2006/main">
              <a:ext uri="{FF2B5EF4-FFF2-40B4-BE49-F238E27FC236}">
                <a16:creationId xmlns:a16="http://schemas.microsoft.com/office/drawing/2014/main" id="{87C92C80-2F31-457E-AA71-E025BE0E27BF}"/>
              </a:ext>
            </a:extLst>
          </p:cNvPr>
          <p:cNvSpPr>
            <a:spLocks xmlns:a="http://schemas.openxmlformats.org/drawingml/2006/main" noGrp="1"/>
          </p:cNvSpPr>
          <p:nvPr/>
        </p:nvSpPr>
        <p:spPr>
          <a:xfrm xmlns:a="http://schemas.openxmlformats.org/drawingml/2006/main">
            <a:off x="8096250" y="2828925"/>
            <a:ext cx="85725" cy="85725"/>
          </a:xfrm>
          <a:prstGeom xmlns:a="http://schemas.openxmlformats.org/drawingml/2006/main" prst="ellipse">
            <a:avLst/>
          </a:prstGeom>
          <a:solidFill xmlns:a="http://schemas.openxmlformats.org/drawingml/2006/main">
            <a:srgbClr val="2F6FE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09D4882-4ADD-476B-8D0B-117CFE02E509}"/>
              </a:ext>
            </a:extLst>
          </p:cNvPr>
          <p:cNvSpPr>
            <a:spLocks xmlns:a="http://schemas.openxmlformats.org/drawingml/2006/main" noGrp="1"/>
          </p:cNvSpPr>
          <p:nvPr/>
        </p:nvSpPr>
        <p:spPr>
          <a:xfrm xmlns:a="http://schemas.openxmlformats.org/drawingml/2006/main">
            <a:off x="8305800" y="2724150"/>
            <a:ext cx="3219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8243B"/>
                </a:solidFill>
                <a:latin typeface="Helvetica Neue"/>
                <a:ea typeface="Helvetica Neue"/>
                <a:cs typeface="Helvetica Neue"/>
              </a:defRPr>
            </a:pPr>
            <a:r>
              <a:rPr sz="1425" b="0">
                <a:solidFill>
                  <a:srgbClr val="18243B"/>
                </a:solidFill>
                <a:latin typeface="Helvetica Neue"/>
                <a:ea typeface="Helvetica Neue"/>
                <a:cs typeface="Helvetica Neue"/>
              </a:rPr>
              <a:t>Check funds after acquiring locks</a:t>
            </a:r>
          </a:p>
        </p:txBody>
      </p:sp>
      <p:sp>
        <p:nvSpPr>
          <p:cNvPr id="22" name="">
            <a:extLst xmlns:a="http://schemas.openxmlformats.org/drawingml/2006/main">
              <a:ext uri="{FF2B5EF4-FFF2-40B4-BE49-F238E27FC236}">
                <a16:creationId xmlns:a16="http://schemas.microsoft.com/office/drawing/2014/main" id="{57D36C0E-0DD6-4541-ADCD-16098D3C6F33}"/>
              </a:ext>
            </a:extLst>
          </p:cNvPr>
          <p:cNvSpPr>
            <a:spLocks xmlns:a="http://schemas.openxmlformats.org/drawingml/2006/main" noGrp="1"/>
          </p:cNvSpPr>
          <p:nvPr/>
        </p:nvSpPr>
        <p:spPr>
          <a:xfrm xmlns:a="http://schemas.openxmlformats.org/drawingml/2006/main">
            <a:off x="8096250" y="3400425"/>
            <a:ext cx="85725" cy="85725"/>
          </a:xfrm>
          <a:prstGeom xmlns:a="http://schemas.openxmlformats.org/drawingml/2006/main" prst="ellipse">
            <a:avLst/>
          </a:prstGeom>
          <a:solidFill xmlns:a="http://schemas.openxmlformats.org/drawingml/2006/main">
            <a:srgbClr val="2F6FE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7901140-C320-44BC-B210-1FB675953AAF}"/>
              </a:ext>
            </a:extLst>
          </p:cNvPr>
          <p:cNvSpPr>
            <a:spLocks xmlns:a="http://schemas.openxmlformats.org/drawingml/2006/main" noGrp="1"/>
          </p:cNvSpPr>
          <p:nvPr/>
        </p:nvSpPr>
        <p:spPr>
          <a:xfrm xmlns:a="http://schemas.openxmlformats.org/drawingml/2006/main">
            <a:off x="8305800" y="3295650"/>
            <a:ext cx="3219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368"/>
          </a:bodyPr>
          <a:lstStyle xmlns:a="http://schemas.openxmlformats.org/drawingml/2006/main"/>
          <a:p xmlns:a="http://schemas.openxmlformats.org/drawingml/2006/main">
            <a:pPr algn="l">
              <a:defRPr sz="1425" b="0">
                <a:solidFill>
                  <a:srgbClr val="18243B"/>
                </a:solidFill>
                <a:latin typeface="Helvetica Neue"/>
                <a:ea typeface="Helvetica Neue"/>
                <a:cs typeface="Helvetica Neue"/>
              </a:defRPr>
            </a:pPr>
            <a:r>
              <a:rPr sz="1425" b="0">
                <a:solidFill>
                  <a:srgbClr val="18243B"/>
                </a:solidFill>
                <a:latin typeface="Helvetica Neue"/>
                <a:ea typeface="Helvetica Neue"/>
                <a:cs typeface="Helvetica Neue"/>
              </a:rPr>
              <a:t>Debit and credit, then commit atomically</a:t>
            </a:r>
          </a:p>
        </p:txBody>
      </p:sp>
      <p:sp>
        <p:nvSpPr>
          <p:cNvPr id="24" name="">
            <a:extLst xmlns:a="http://schemas.openxmlformats.org/drawingml/2006/main">
              <a:ext uri="{FF2B5EF4-FFF2-40B4-BE49-F238E27FC236}">
                <a16:creationId xmlns:a16="http://schemas.microsoft.com/office/drawing/2014/main" id="{E7F42F83-7CD3-454D-82FD-54CEA3DDEAA8}"/>
              </a:ext>
            </a:extLst>
          </p:cNvPr>
          <p:cNvSpPr>
            <a:spLocks xmlns:a="http://schemas.openxmlformats.org/drawingml/2006/main" noGrp="1"/>
          </p:cNvSpPr>
          <p:nvPr/>
        </p:nvSpPr>
        <p:spPr>
          <a:xfrm xmlns:a="http://schemas.openxmlformats.org/drawingml/2006/main" flipH="0" flipV="0">
            <a:off x="723900" y="4162425"/>
            <a:ext cx="10744200" cy="9525"/>
          </a:xfrm>
          <a:prstGeom xmlns:a="http://schemas.openxmlformats.org/drawingml/2006/main" prst="line">
            <a:avLst/>
          </a:prstGeom>
          <a:noFill xmlns:a="http://schemas.openxmlformats.org/drawingml/2006/main"/>
          <a:ln xmlns:a="http://schemas.openxmlformats.org/drawingml/2006/main" w="9525">
            <a:solidFill>
              <a:srgbClr val="CCD5E3"/>
            </a:solidFill>
            <a:prstDash val="solid"/>
          </a:ln>
        </p:spPr>
      </p:sp>
      <p:sp>
        <p:nvSpPr>
          <p:cNvPr id="25" name="">
            <a:extLst xmlns:a="http://schemas.openxmlformats.org/drawingml/2006/main">
              <a:ext uri="{FF2B5EF4-FFF2-40B4-BE49-F238E27FC236}">
                <a16:creationId xmlns:a16="http://schemas.microsoft.com/office/drawing/2014/main" id="{9D39C34E-38BA-4991-997A-8A9B603A621A}"/>
              </a:ext>
            </a:extLst>
          </p:cNvPr>
          <p:cNvSpPr>
            <a:spLocks xmlns:a="http://schemas.openxmlformats.org/drawingml/2006/main" noGrp="1"/>
          </p:cNvSpPr>
          <p:nvPr/>
        </p:nvSpPr>
        <p:spPr>
          <a:xfrm xmlns:a="http://schemas.openxmlformats.org/drawingml/2006/main">
            <a:off x="762000" y="4429125"/>
            <a:ext cx="2952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485"/>
          </a:bodyPr>
          <a:lstStyle xmlns:a="http://schemas.openxmlformats.org/drawingml/2006/main"/>
          <a:p xmlns:a="http://schemas.openxmlformats.org/drawingml/2006/main">
            <a:pPr algn="l">
              <a:defRPr sz="1650" b="1">
                <a:solidFill>
                  <a:srgbClr val="101B35"/>
                </a:solidFill>
                <a:latin typeface="Helvetica Neue"/>
                <a:ea typeface="Helvetica Neue"/>
                <a:cs typeface="Helvetica Neue"/>
              </a:defRPr>
            </a:pPr>
            <a:r>
              <a:rPr sz="1650" b="1">
                <a:solidFill>
                  <a:srgbClr val="101B35"/>
                </a:solidFill>
                <a:latin typeface="Helvetica Neue"/>
                <a:ea typeface="Helvetica Neue"/>
                <a:cs typeface="Helvetica Neue"/>
              </a:rPr>
              <a:t>Pessimistic locking</a:t>
            </a:r>
          </a:p>
        </p:txBody>
      </p:sp>
      <p:sp>
        <p:nvSpPr>
          <p:cNvPr id="26" name="">
            <a:extLst xmlns:a="http://schemas.openxmlformats.org/drawingml/2006/main">
              <a:ext uri="{FF2B5EF4-FFF2-40B4-BE49-F238E27FC236}">
                <a16:creationId xmlns:a16="http://schemas.microsoft.com/office/drawing/2014/main" id="{86027E1E-80F3-48D7-B0DD-D7C82BAA3BA8}"/>
              </a:ext>
            </a:extLst>
          </p:cNvPr>
          <p:cNvSpPr>
            <a:spLocks xmlns:a="http://schemas.openxmlformats.org/drawingml/2006/main" noGrp="1"/>
          </p:cNvSpPr>
          <p:nvPr/>
        </p:nvSpPr>
        <p:spPr>
          <a:xfrm xmlns:a="http://schemas.openxmlformats.org/drawingml/2006/main">
            <a:off x="762000" y="4772025"/>
            <a:ext cx="4667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8243B"/>
                </a:solidFill>
                <a:latin typeface="Helvetica Neue"/>
                <a:ea typeface="Helvetica Neue"/>
                <a:cs typeface="Helvetica Neue"/>
              </a:defRPr>
            </a:pPr>
            <a:r>
              <a:rPr sz="1425" b="0">
                <a:solidFill>
                  <a:srgbClr val="18243B"/>
                </a:solidFill>
                <a:latin typeface="Helvetica Neue"/>
                <a:ea typeface="Helvetica Neue"/>
                <a:cs typeface="Helvetica Neue"/>
              </a:rPr>
              <a:t>Strong fit for conflicting financial writes. Waits can throttle hot accounts.</a:t>
            </a:r>
          </a:p>
        </p:txBody>
      </p:sp>
      <p:sp>
        <p:nvSpPr>
          <p:cNvPr id="27" name="">
            <a:extLst xmlns:a="http://schemas.openxmlformats.org/drawingml/2006/main">
              <a:ext uri="{FF2B5EF4-FFF2-40B4-BE49-F238E27FC236}">
                <a16:creationId xmlns:a16="http://schemas.microsoft.com/office/drawing/2014/main" id="{EDB56AD2-CFEB-4EA3-A960-0989FD0405AB}"/>
              </a:ext>
            </a:extLst>
          </p:cNvPr>
          <p:cNvSpPr>
            <a:spLocks xmlns:a="http://schemas.openxmlformats.org/drawingml/2006/main" noGrp="1"/>
          </p:cNvSpPr>
          <p:nvPr/>
        </p:nvSpPr>
        <p:spPr>
          <a:xfrm xmlns:a="http://schemas.openxmlformats.org/drawingml/2006/main">
            <a:off x="6229350" y="4429125"/>
            <a:ext cx="2952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485"/>
          </a:bodyPr>
          <a:lstStyle xmlns:a="http://schemas.openxmlformats.org/drawingml/2006/main"/>
          <a:p xmlns:a="http://schemas.openxmlformats.org/drawingml/2006/main">
            <a:pPr algn="l">
              <a:defRPr sz="1650" b="1">
                <a:solidFill>
                  <a:srgbClr val="101B35"/>
                </a:solidFill>
                <a:latin typeface="Helvetica Neue"/>
                <a:ea typeface="Helvetica Neue"/>
                <a:cs typeface="Helvetica Neue"/>
              </a:defRPr>
            </a:pPr>
            <a:r>
              <a:rPr sz="1650" b="1">
                <a:solidFill>
                  <a:srgbClr val="101B35"/>
                </a:solidFill>
                <a:latin typeface="Helvetica Neue"/>
                <a:ea typeface="Helvetica Neue"/>
                <a:cs typeface="Helvetica Neue"/>
              </a:rPr>
              <a:t>Optimistic locking</a:t>
            </a:r>
          </a:p>
        </p:txBody>
      </p:sp>
      <p:sp>
        <p:nvSpPr>
          <p:cNvPr id="28" name="">
            <a:extLst xmlns:a="http://schemas.openxmlformats.org/drawingml/2006/main">
              <a:ext uri="{FF2B5EF4-FFF2-40B4-BE49-F238E27FC236}">
                <a16:creationId xmlns:a16="http://schemas.microsoft.com/office/drawing/2014/main" id="{5F179B86-CD13-4BDA-9833-934F3B6FCDDE}"/>
              </a:ext>
            </a:extLst>
          </p:cNvPr>
          <p:cNvSpPr>
            <a:spLocks xmlns:a="http://schemas.openxmlformats.org/drawingml/2006/main" noGrp="1"/>
          </p:cNvSpPr>
          <p:nvPr/>
        </p:nvSpPr>
        <p:spPr>
          <a:xfrm xmlns:a="http://schemas.openxmlformats.org/drawingml/2006/main">
            <a:off x="6229350" y="4772025"/>
            <a:ext cx="4667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8243B"/>
                </a:solidFill>
                <a:latin typeface="Helvetica Neue"/>
                <a:ea typeface="Helvetica Neue"/>
                <a:cs typeface="Helvetica Neue"/>
              </a:defRPr>
            </a:pPr>
            <a:r>
              <a:rPr sz="1425" b="0">
                <a:solidFill>
                  <a:srgbClr val="18243B"/>
                </a:solidFill>
                <a:latin typeface="Helvetica Neue"/>
                <a:ea typeface="Helvetica Neue"/>
                <a:cs typeface="Helvetica Neue"/>
              </a:rPr>
              <a:t>Version checks avoid long locks, but conflicts need retries under contention.</a:t>
            </a:r>
          </a:p>
        </p:txBody>
      </p:sp>
      <p:sp>
        <p:nvSpPr>
          <p:cNvPr id="29" name="">
            <a:extLst xmlns:a="http://schemas.openxmlformats.org/drawingml/2006/main">
              <a:ext uri="{FF2B5EF4-FFF2-40B4-BE49-F238E27FC236}">
                <a16:creationId xmlns:a16="http://schemas.microsoft.com/office/drawing/2014/main" id="{63A2BD96-84AA-4DD5-A89F-374C3A22745B}"/>
              </a:ext>
            </a:extLst>
          </p:cNvPr>
          <p:cNvSpPr>
            <a:spLocks xmlns:a="http://schemas.openxmlformats.org/drawingml/2006/main" noGrp="1"/>
          </p:cNvSpPr>
          <p:nvPr/>
        </p:nvSpPr>
        <p:spPr>
          <a:xfrm xmlns:a="http://schemas.openxmlformats.org/drawingml/2006/main">
            <a:off x="762000" y="581025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39E91"/>
                </a:solidFill>
                <a:latin typeface="Helvetica Neue"/>
                <a:ea typeface="Helvetica Neue"/>
                <a:cs typeface="Helvetica Neue"/>
              </a:defRPr>
            </a:pPr>
            <a:r>
              <a:rPr sz="1350" b="1">
                <a:solidFill>
                  <a:srgbClr val="139E91"/>
                </a:solidFill>
                <a:latin typeface="Helvetica Neue"/>
                <a:ea typeface="Helvetica Neue"/>
                <a:cs typeface="Helvetica Neue"/>
              </a:rPr>
              <a:t>AOP note: @Transactional advice applies through the Spring proxy; self-invocation can bypass it.</a:t>
            </a:r>
          </a:p>
        </p:txBody>
      </p:sp>
    </p:spTree>
    <p:extLst>
      <p:ext uri="{BB962C8B-B14F-4D97-AF65-F5344CB8AC3E}">
        <p14:creationId xmlns:p14="http://schemas.microsoft.com/office/powerpoint/2010/main" val="1693683016"/>
      </p:ext>
    </p:extLst>
  </p:cSld>
</p:sld>
</file>

<file path=ppt/slides/slide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7D517C0-3105-4BEA-9116-D250C0F4C6E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6FE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6E97604-ED16-4771-963B-DA4C73B47F75}"/>
              </a:ext>
            </a:extLst>
          </p:cNvPr>
          <p:cNvSpPr>
            <a:spLocks xmlns:a="http://schemas.openxmlformats.org/drawingml/2006/main" noGrp="1"/>
          </p:cNvSpPr>
          <p:nvPr/>
        </p:nvSpPr>
        <p:spPr>
          <a:xfrm xmlns:a="http://schemas.openxmlformats.org/drawingml/2006/main">
            <a:off x="590550" y="323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139E91"/>
                </a:solidFill>
                <a:latin typeface="Helvetica Neue"/>
                <a:ea typeface="Helvetica Neue"/>
                <a:cs typeface="Helvetica Neue"/>
              </a:defRPr>
            </a:pPr>
            <a:r>
              <a:rPr sz="1125" b="1">
                <a:solidFill>
                  <a:srgbClr val="139E91"/>
                </a:solidFill>
                <a:latin typeface="Helvetica Neue"/>
                <a:ea typeface="Helvetica Neue"/>
                <a:cs typeface="Helvetica Neue"/>
              </a:rPr>
              <a:t>API RELIABILITY</a:t>
            </a:r>
          </a:p>
        </p:txBody>
      </p:sp>
      <p:sp>
        <p:nvSpPr>
          <p:cNvPr id="3" name="slide-title">
            <a:extLst xmlns:a="http://schemas.openxmlformats.org/drawingml/2006/main">
              <a:ext uri="{FF2B5EF4-FFF2-40B4-BE49-F238E27FC236}">
                <a16:creationId xmlns:a16="http://schemas.microsoft.com/office/drawing/2014/main" id="{639E10B9-12EB-405E-BCFE-B0BAA8296D71}"/>
              </a:ext>
            </a:extLst>
          </p:cNvPr>
          <p:cNvSpPr>
            <a:spLocks xmlns:a="http://schemas.openxmlformats.org/drawingml/2006/main" noGrp="1"/>
          </p:cNvSpPr>
          <p:nvPr/>
        </p:nvSpPr>
        <p:spPr>
          <a:xfrm xmlns:a="http://schemas.openxmlformats.org/drawingml/2006/main">
            <a:off x="590550" y="628650"/>
            <a:ext cx="11010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3225" b="1">
                <a:solidFill>
                  <a:srgbClr val="101B35"/>
                </a:solidFill>
                <a:latin typeface="Helvetica Neue"/>
                <a:ea typeface="Helvetica Neue"/>
                <a:cs typeface="Helvetica Neue"/>
              </a:defRPr>
            </a:pPr>
            <a:r>
              <a:rPr sz="3225" b="1">
                <a:solidFill>
                  <a:srgbClr val="101B35"/>
                </a:solidFill>
                <a:latin typeface="Helvetica Neue"/>
                <a:ea typeface="Helvetica Neue"/>
                <a:cs typeface="Helvetica Neue"/>
              </a:rPr>
              <a:t>Idempotency: retries map to one logical transfer</a:t>
            </a:r>
          </a:p>
        </p:txBody>
      </p:sp>
      <p:sp>
        <p:nvSpPr>
          <p:cNvPr id="4" name="">
            <a:extLst xmlns:a="http://schemas.openxmlformats.org/drawingml/2006/main">
              <a:ext uri="{FF2B5EF4-FFF2-40B4-BE49-F238E27FC236}">
                <a16:creationId xmlns:a16="http://schemas.microsoft.com/office/drawing/2014/main" id="{D16E18EC-B022-4D95-9DE9-A3D40427CE0E}"/>
              </a:ext>
            </a:extLst>
          </p:cNvPr>
          <p:cNvSpPr>
            <a:spLocks xmlns:a="http://schemas.openxmlformats.org/drawingml/2006/main" noGrp="1"/>
          </p:cNvSpPr>
          <p:nvPr/>
        </p:nvSpPr>
        <p:spPr>
          <a:xfrm xmlns:a="http://schemas.openxmlformats.org/drawingml/2006/main" flipH="0" flipV="0">
            <a:off x="590550" y="1381125"/>
            <a:ext cx="11010900" cy="9525"/>
          </a:xfrm>
          <a:prstGeom xmlns:a="http://schemas.openxmlformats.org/drawingml/2006/main" prst="line">
            <a:avLst/>
          </a:prstGeom>
          <a:noFill xmlns:a="http://schemas.openxmlformats.org/drawingml/2006/main"/>
          <a:ln xmlns:a="http://schemas.openxmlformats.org/drawingml/2006/main" w="9525">
            <a:solidFill>
              <a:srgbClr val="CCD5E3"/>
            </a:solidFill>
            <a:prstDash val="solid"/>
          </a:ln>
        </p:spPr>
      </p:sp>
      <p:sp>
        <p:nvSpPr>
          <p:cNvPr id="5" name="">
            <a:extLst xmlns:a="http://schemas.openxmlformats.org/drawingml/2006/main">
              <a:ext uri="{FF2B5EF4-FFF2-40B4-BE49-F238E27FC236}">
                <a16:creationId xmlns:a16="http://schemas.microsoft.com/office/drawing/2014/main" id="{E91C8F22-E2BE-441F-A717-027F9E09ADB3}"/>
              </a:ext>
            </a:extLst>
          </p:cNvPr>
          <p:cNvSpPr>
            <a:spLocks xmlns:a="http://schemas.openxmlformats.org/drawingml/2006/main" noGrp="1"/>
          </p:cNvSpPr>
          <p:nvPr/>
        </p:nvSpPr>
        <p:spPr>
          <a:xfrm xmlns:a="http://schemas.openxmlformats.org/drawingml/2006/main">
            <a:off x="11220450" y="64198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1905"/>
          </a:bodyPr>
          <a:lstStyle xmlns:a="http://schemas.openxmlformats.org/drawingml/2006/main"/>
          <a:p xmlns:a="http://schemas.openxmlformats.org/drawingml/2006/main">
            <a:pPr algn="r">
              <a:defRPr sz="1050" b="1">
                <a:solidFill>
                  <a:srgbClr val="53627A"/>
                </a:solidFill>
                <a:latin typeface="Helvetica Neue"/>
                <a:ea typeface="Helvetica Neue"/>
                <a:cs typeface="Helvetica Neue"/>
              </a:defRPr>
            </a:pPr>
            <a:r>
              <a:rPr sz="1050" b="1">
                <a:solidFill>
                  <a:srgbClr val="53627A"/>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1D409288-0A41-4496-A567-256C61E11B1D}"/>
              </a:ext>
            </a:extLst>
          </p:cNvPr>
          <p:cNvSpPr>
            <a:spLocks xmlns:a="http://schemas.openxmlformats.org/drawingml/2006/main" noGrp="1"/>
          </p:cNvSpPr>
          <p:nvPr/>
        </p:nvSpPr>
        <p:spPr>
          <a:xfrm xmlns:a="http://schemas.openxmlformats.org/drawingml/2006/main">
            <a:off x="723900" y="2276475"/>
            <a:ext cx="18097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9050">
            <a:solidFill>
              <a:srgbClr val="2F6FE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8243B"/>
                </a:solidFill>
                <a:latin typeface="Helvetica Neue"/>
                <a:ea typeface="Helvetica Neue"/>
                <a:cs typeface="Helvetica Neue"/>
              </a:defRPr>
            </a:pPr>
            <a:r>
              <a:rPr sz="1575" b="1">
                <a:solidFill>
                  <a:srgbClr val="18243B"/>
                </a:solidFill>
                <a:latin typeface="Helvetica Neue"/>
                <a:ea typeface="Helvetica Neue"/>
                <a:cs typeface="Helvetica Neue"/>
              </a:rPr>
              <a:t>Request 1</a:t>
            </a:r>
          </a:p>
          <a:p xmlns:a="http://schemas.openxmlformats.org/drawingml/2006/main">
            <a:pPr algn="ctr">
              <a:defRPr sz="1575" b="1">
                <a:solidFill>
                  <a:srgbClr val="18243B"/>
                </a:solidFill>
                <a:latin typeface="Helvetica Neue"/>
                <a:ea typeface="Helvetica Neue"/>
                <a:cs typeface="Helvetica Neue"/>
              </a:defRPr>
            </a:pPr>
            <a:r>
              <a:rPr sz="1575" b="1">
                <a:solidFill>
                  <a:srgbClr val="18243B"/>
                </a:solidFill>
                <a:latin typeface="Helvetica Neue"/>
                <a:ea typeface="Helvetica Neue"/>
                <a:cs typeface="Helvetica Neue"/>
              </a:rPr>
              <a:t>key: k-123</a:t>
            </a:r>
          </a:p>
        </p:txBody>
      </p:sp>
      <p:sp>
        <p:nvSpPr>
          <p:cNvPr id="7" name="">
            <a:extLst xmlns:a="http://schemas.openxmlformats.org/drawingml/2006/main">
              <a:ext uri="{FF2B5EF4-FFF2-40B4-BE49-F238E27FC236}">
                <a16:creationId xmlns:a16="http://schemas.microsoft.com/office/drawing/2014/main" id="{11C3C024-A29A-40F5-B923-120AD0E79DC9}"/>
              </a:ext>
            </a:extLst>
          </p:cNvPr>
          <p:cNvSpPr>
            <a:spLocks xmlns:a="http://schemas.openxmlformats.org/drawingml/2006/main" noGrp="1"/>
          </p:cNvSpPr>
          <p:nvPr/>
        </p:nvSpPr>
        <p:spPr>
          <a:xfrm xmlns:a="http://schemas.openxmlformats.org/drawingml/2006/main">
            <a:off x="723900" y="3476625"/>
            <a:ext cx="18097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9050">
            <a:solidFill>
              <a:srgbClr val="E9A52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8243B"/>
                </a:solidFill>
                <a:latin typeface="Helvetica Neue"/>
                <a:ea typeface="Helvetica Neue"/>
                <a:cs typeface="Helvetica Neue"/>
              </a:defRPr>
            </a:pPr>
            <a:r>
              <a:rPr sz="1575" b="1">
                <a:solidFill>
                  <a:srgbClr val="18243B"/>
                </a:solidFill>
                <a:latin typeface="Helvetica Neue"/>
                <a:ea typeface="Helvetica Neue"/>
                <a:cs typeface="Helvetica Neue"/>
              </a:rPr>
              <a:t>Request 2</a:t>
            </a:r>
          </a:p>
          <a:p xmlns:a="http://schemas.openxmlformats.org/drawingml/2006/main">
            <a:pPr algn="ctr">
              <a:defRPr sz="1575" b="1">
                <a:solidFill>
                  <a:srgbClr val="18243B"/>
                </a:solidFill>
                <a:latin typeface="Helvetica Neue"/>
                <a:ea typeface="Helvetica Neue"/>
                <a:cs typeface="Helvetica Neue"/>
              </a:defRPr>
            </a:pPr>
            <a:r>
              <a:rPr sz="1575" b="1">
                <a:solidFill>
                  <a:srgbClr val="18243B"/>
                </a:solidFill>
                <a:latin typeface="Helvetica Neue"/>
                <a:ea typeface="Helvetica Neue"/>
                <a:cs typeface="Helvetica Neue"/>
              </a:rPr>
              <a:t>key: k-123</a:t>
            </a:r>
          </a:p>
        </p:txBody>
      </p:sp>
      <p:sp>
        <p:nvSpPr>
          <p:cNvPr id="8" name="">
            <a:extLst xmlns:a="http://schemas.openxmlformats.org/drawingml/2006/main">
              <a:ext uri="{FF2B5EF4-FFF2-40B4-BE49-F238E27FC236}">
                <a16:creationId xmlns:a16="http://schemas.microsoft.com/office/drawing/2014/main" id="{330CA45C-5717-4C12-B1FC-F4C99F7E6E85}"/>
              </a:ext>
            </a:extLst>
          </p:cNvPr>
          <p:cNvSpPr>
            <a:spLocks xmlns:a="http://schemas.openxmlformats.org/drawingml/2006/main" noGrp="1"/>
          </p:cNvSpPr>
          <p:nvPr/>
        </p:nvSpPr>
        <p:spPr>
          <a:xfrm xmlns:a="http://schemas.openxmlformats.org/drawingml/2006/main">
            <a:off x="3495675" y="2800350"/>
            <a:ext cx="2000250" cy="1066800"/>
          </a:xfrm>
          <a:prstGeom xmlns:a="http://schemas.openxmlformats.org/drawingml/2006/main" prst="roundRect">
            <a:avLst>
              <a:gd name="adj" fmla="val 7143"/>
            </a:avLst>
          </a:prstGeom>
          <a:solidFill xmlns:a="http://schemas.openxmlformats.org/drawingml/2006/main">
            <a:srgbClr val="FFF4DD"/>
          </a:solidFill>
          <a:ln xmlns:a="http://schemas.openxmlformats.org/drawingml/2006/main" w="19050">
            <a:solidFill>
              <a:srgbClr val="E9A52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Redis</a:t>
            </a:r>
          </a:p>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SET key if absent</a:t>
            </a:r>
          </a:p>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TTL</a:t>
            </a:r>
          </a:p>
        </p:txBody>
      </p:sp>
      <p:sp>
        <p:nvSpPr>
          <p:cNvPr id="9" name="">
            <a:extLst xmlns:a="http://schemas.openxmlformats.org/drawingml/2006/main">
              <a:ext uri="{FF2B5EF4-FFF2-40B4-BE49-F238E27FC236}">
                <a16:creationId xmlns:a16="http://schemas.microsoft.com/office/drawing/2014/main" id="{0A8A9331-21FC-44C6-A093-062C70002314}"/>
              </a:ext>
            </a:extLst>
          </p:cNvPr>
          <p:cNvSpPr>
            <a:spLocks xmlns:a="http://schemas.openxmlformats.org/drawingml/2006/main" noGrp="1"/>
          </p:cNvSpPr>
          <p:nvPr/>
        </p:nvSpPr>
        <p:spPr>
          <a:xfrm xmlns:a="http://schemas.openxmlformats.org/drawingml/2006/main">
            <a:off x="6496050" y="2800350"/>
            <a:ext cx="1952625" cy="1066800"/>
          </a:xfrm>
          <a:prstGeom xmlns:a="http://schemas.openxmlformats.org/drawingml/2006/main" prst="roundRect">
            <a:avLst>
              <a:gd name="adj" fmla="val 7143"/>
            </a:avLst>
          </a:prstGeom>
          <a:solidFill xmlns:a="http://schemas.openxmlformats.org/drawingml/2006/main">
            <a:srgbClr val="E8EFFD"/>
          </a:solidFill>
          <a:ln xmlns:a="http://schemas.openxmlformats.org/drawingml/2006/main" w="19050">
            <a:solidFill>
              <a:srgbClr val="2F6FE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8243B"/>
                </a:solidFill>
                <a:latin typeface="Helvetica Neue"/>
                <a:ea typeface="Helvetica Neue"/>
                <a:cs typeface="Helvetica Neue"/>
              </a:defRPr>
            </a:pPr>
            <a:r>
              <a:rPr sz="1575" b="1">
                <a:solidFill>
                  <a:srgbClr val="18243B"/>
                </a:solidFill>
                <a:latin typeface="Helvetica Neue"/>
                <a:ea typeface="Helvetica Neue"/>
                <a:cs typeface="Helvetica Neue"/>
              </a:rPr>
              <a:t>Transfer service</a:t>
            </a:r>
          </a:p>
        </p:txBody>
      </p:sp>
      <p:sp>
        <p:nvSpPr>
          <p:cNvPr id="10" name="">
            <a:extLst xmlns:a="http://schemas.openxmlformats.org/drawingml/2006/main">
              <a:ext uri="{FF2B5EF4-FFF2-40B4-BE49-F238E27FC236}">
                <a16:creationId xmlns:a16="http://schemas.microsoft.com/office/drawing/2014/main" id="{B7F7F7C9-51CB-4E1D-A482-BB99C490C3B0}"/>
              </a:ext>
            </a:extLst>
          </p:cNvPr>
          <p:cNvSpPr>
            <a:spLocks xmlns:a="http://schemas.openxmlformats.org/drawingml/2006/main" noGrp="1"/>
          </p:cNvSpPr>
          <p:nvPr/>
        </p:nvSpPr>
        <p:spPr>
          <a:xfrm xmlns:a="http://schemas.openxmlformats.org/drawingml/2006/main">
            <a:off x="9401175" y="2800350"/>
            <a:ext cx="2133600" cy="1066800"/>
          </a:xfrm>
          <a:prstGeom xmlns:a="http://schemas.openxmlformats.org/drawingml/2006/main" prst="roundRect">
            <a:avLst>
              <a:gd name="adj" fmla="val 7143"/>
            </a:avLst>
          </a:prstGeom>
          <a:solidFill xmlns:a="http://schemas.openxmlformats.org/drawingml/2006/main">
            <a:srgbClr val="E4F5F2"/>
          </a:solidFill>
          <a:ln xmlns:a="http://schemas.openxmlformats.org/drawingml/2006/main" w="19050">
            <a:solidFill>
              <a:srgbClr val="139E91"/>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8243B"/>
                </a:solidFill>
                <a:latin typeface="Helvetica Neue"/>
                <a:ea typeface="Helvetica Neue"/>
                <a:cs typeface="Helvetica Neue"/>
              </a:defRPr>
            </a:pPr>
            <a:r>
              <a:rPr sz="1425" b="1">
                <a:solidFill>
                  <a:srgbClr val="18243B"/>
                </a:solidFill>
                <a:latin typeface="Helvetica Neue"/>
                <a:ea typeface="Helvetica Neue"/>
                <a:cs typeface="Helvetica Neue"/>
              </a:rPr>
              <a:t>PostgreSQL</a:t>
            </a:r>
          </a:p>
          <a:p xmlns:a="http://schemas.openxmlformats.org/drawingml/2006/main">
            <a:pPr algn="ctr">
              <a:defRPr sz="1425" b="1">
                <a:solidFill>
                  <a:srgbClr val="18243B"/>
                </a:solidFill>
                <a:latin typeface="Helvetica Neue"/>
                <a:ea typeface="Helvetica Neue"/>
                <a:cs typeface="Helvetica Neue"/>
              </a:defRPr>
            </a:pPr>
            <a:r>
              <a:rPr sz="1425" b="1">
                <a:solidFill>
                  <a:srgbClr val="18243B"/>
                </a:solidFill>
                <a:latin typeface="Helvetica Neue"/>
                <a:ea typeface="Helvetica Neue"/>
                <a:cs typeface="Helvetica Neue"/>
              </a:rPr>
              <a:t>unique client + key</a:t>
            </a:r>
          </a:p>
          <a:p xmlns:a="http://schemas.openxmlformats.org/drawingml/2006/main">
            <a:pPr algn="ctr">
              <a:defRPr sz="1425" b="1">
                <a:solidFill>
                  <a:srgbClr val="18243B"/>
                </a:solidFill>
                <a:latin typeface="Helvetica Neue"/>
                <a:ea typeface="Helvetica Neue"/>
                <a:cs typeface="Helvetica Neue"/>
              </a:defRPr>
            </a:pPr>
            <a:r>
              <a:rPr sz="1425" b="1">
                <a:solidFill>
                  <a:srgbClr val="18243B"/>
                </a:solidFill>
                <a:latin typeface="Helvetica Neue"/>
                <a:ea typeface="Helvetica Neue"/>
                <a:cs typeface="Helvetica Neue"/>
              </a:rPr>
              <a:t>transfer result</a:t>
            </a:r>
          </a:p>
        </p:txBody>
      </p:sp>
      <p:sp>
        <p:nvSpPr>
          <p:cNvPr id="11" name="">
            <a:extLst xmlns:a="http://schemas.openxmlformats.org/drawingml/2006/main">
              <a:ext uri="{FF2B5EF4-FFF2-40B4-BE49-F238E27FC236}">
                <a16:creationId xmlns:a16="http://schemas.microsoft.com/office/drawing/2014/main" id="{8F8F2635-57CD-41C4-B069-BAC8804C73AF}"/>
              </a:ext>
            </a:extLst>
          </p:cNvPr>
          <p:cNvSpPr>
            <a:spLocks xmlns:a="http://schemas.openxmlformats.org/drawingml/2006/main" noGrp="1"/>
          </p:cNvSpPr>
          <p:nvPr/>
        </p:nvSpPr>
        <p:spPr>
          <a:xfrm xmlns:a="http://schemas.openxmlformats.org/drawingml/2006/main">
            <a:off x="2562225" y="2590800"/>
            <a:ext cx="666750" cy="209550"/>
          </a:xfrm>
          <a:prstGeom xmlns:a="http://schemas.openxmlformats.org/drawingml/2006/main" prst="rightArrow">
            <a:avLst/>
          </a:prstGeom>
          <a:solidFill xmlns:a="http://schemas.openxmlformats.org/drawingml/2006/main">
            <a:srgbClr val="2F6FE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ED7E736-B41A-44D8-AAB7-6D5883023D3F}"/>
              </a:ext>
            </a:extLst>
          </p:cNvPr>
          <p:cNvSpPr>
            <a:spLocks xmlns:a="http://schemas.openxmlformats.org/drawingml/2006/main" noGrp="1"/>
          </p:cNvSpPr>
          <p:nvPr/>
        </p:nvSpPr>
        <p:spPr>
          <a:xfrm xmlns:a="http://schemas.openxmlformats.org/drawingml/2006/main">
            <a:off x="2562225" y="3781425"/>
            <a:ext cx="666750" cy="209550"/>
          </a:xfrm>
          <a:prstGeom xmlns:a="http://schemas.openxmlformats.org/drawingml/2006/main" prst="rightArrow">
            <a:avLst/>
          </a:prstGeom>
          <a:solidFill xmlns:a="http://schemas.openxmlformats.org/drawingml/2006/main">
            <a:srgbClr val="E9A52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BA88EAE-A071-4A4B-9BE3-2B6B48A7BC1F}"/>
              </a:ext>
            </a:extLst>
          </p:cNvPr>
          <p:cNvSpPr>
            <a:spLocks xmlns:a="http://schemas.openxmlformats.org/drawingml/2006/main" noGrp="1"/>
          </p:cNvSpPr>
          <p:nvPr/>
        </p:nvSpPr>
        <p:spPr>
          <a:xfrm xmlns:a="http://schemas.openxmlformats.org/drawingml/2006/main">
            <a:off x="5524500" y="3219450"/>
            <a:ext cx="876300" cy="209550"/>
          </a:xfrm>
          <a:prstGeom xmlns:a="http://schemas.openxmlformats.org/drawingml/2006/main" prst="rightArrow">
            <a:avLst/>
          </a:prstGeom>
          <a:solidFill xmlns:a="http://schemas.openxmlformats.org/drawingml/2006/main">
            <a:srgbClr val="2F6FE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ECC33F1-0BDD-4B65-971B-23292DBB264B}"/>
              </a:ext>
            </a:extLst>
          </p:cNvPr>
          <p:cNvSpPr>
            <a:spLocks xmlns:a="http://schemas.openxmlformats.org/drawingml/2006/main" noGrp="1"/>
          </p:cNvSpPr>
          <p:nvPr/>
        </p:nvSpPr>
        <p:spPr>
          <a:xfrm xmlns:a="http://schemas.openxmlformats.org/drawingml/2006/main">
            <a:off x="8477250" y="3219450"/>
            <a:ext cx="838200" cy="209550"/>
          </a:xfrm>
          <a:prstGeom xmlns:a="http://schemas.openxmlformats.org/drawingml/2006/main" prst="rightArrow">
            <a:avLst/>
          </a:prstGeom>
          <a:solidFill xmlns:a="http://schemas.openxmlformats.org/drawingml/2006/main">
            <a:srgbClr val="139E9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C60691A-9DFA-4F75-B9D1-1AD0533F10F3}"/>
              </a:ext>
            </a:extLst>
          </p:cNvPr>
          <p:cNvSpPr>
            <a:spLocks xmlns:a="http://schemas.openxmlformats.org/drawingml/2006/main" noGrp="1"/>
          </p:cNvSpPr>
          <p:nvPr/>
        </p:nvSpPr>
        <p:spPr>
          <a:xfrm xmlns:a="http://schemas.openxmlformats.org/drawingml/2006/main">
            <a:off x="3533775" y="4238625"/>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139E91"/>
                </a:solidFill>
                <a:latin typeface="Helvetica Neue"/>
                <a:ea typeface="Helvetica Neue"/>
                <a:cs typeface="Helvetica Neue"/>
              </a:defRPr>
            </a:pPr>
            <a:r>
              <a:rPr sz="1275" b="1">
                <a:solidFill>
                  <a:srgbClr val="139E91"/>
                </a:solidFill>
                <a:latin typeface="Helvetica Neue"/>
                <a:ea typeface="Helvetica Neue"/>
                <a:cs typeface="Helvetica Neue"/>
              </a:rPr>
              <a:t>First request proceeds</a:t>
            </a:r>
          </a:p>
        </p:txBody>
      </p:sp>
      <p:sp>
        <p:nvSpPr>
          <p:cNvPr id="16" name="">
            <a:extLst xmlns:a="http://schemas.openxmlformats.org/drawingml/2006/main">
              <a:ext uri="{FF2B5EF4-FFF2-40B4-BE49-F238E27FC236}">
                <a16:creationId xmlns:a16="http://schemas.microsoft.com/office/drawing/2014/main" id="{FE12546F-3838-446C-9561-3EF0CFC031AC}"/>
              </a:ext>
            </a:extLst>
          </p:cNvPr>
          <p:cNvSpPr>
            <a:spLocks xmlns:a="http://schemas.openxmlformats.org/drawingml/2006/main" noGrp="1"/>
          </p:cNvSpPr>
          <p:nvPr/>
        </p:nvSpPr>
        <p:spPr>
          <a:xfrm xmlns:a="http://schemas.openxmlformats.org/drawingml/2006/main">
            <a:off x="6200775" y="4238625"/>
            <a:ext cx="2714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53627A"/>
                </a:solidFill>
                <a:latin typeface="Helvetica Neue"/>
                <a:ea typeface="Helvetica Neue"/>
                <a:cs typeface="Helvetica Neue"/>
              </a:defRPr>
            </a:pPr>
            <a:r>
              <a:rPr sz="1275" b="1">
                <a:solidFill>
                  <a:srgbClr val="53627A"/>
                </a:solidFill>
                <a:latin typeface="Helvetica Neue"/>
                <a:ea typeface="Helvetica Neue"/>
                <a:cs typeface="Helvetica Neue"/>
              </a:rPr>
              <a:t>Duplicate returns the original outcome</a:t>
            </a:r>
          </a:p>
        </p:txBody>
      </p:sp>
      <p:sp>
        <p:nvSpPr>
          <p:cNvPr id="17" name="">
            <a:extLst xmlns:a="http://schemas.openxmlformats.org/drawingml/2006/main">
              <a:ext uri="{FF2B5EF4-FFF2-40B4-BE49-F238E27FC236}">
                <a16:creationId xmlns:a16="http://schemas.microsoft.com/office/drawing/2014/main" id="{F918D3C1-AB3F-4F0D-8611-4CFBC3FE6376}"/>
              </a:ext>
            </a:extLst>
          </p:cNvPr>
          <p:cNvSpPr>
            <a:spLocks xmlns:a="http://schemas.openxmlformats.org/drawingml/2006/main" noGrp="1"/>
          </p:cNvSpPr>
          <p:nvPr/>
        </p:nvSpPr>
        <p:spPr>
          <a:xfrm xmlns:a="http://schemas.openxmlformats.org/drawingml/2006/main" flipH="0" flipV="0">
            <a:off x="723900" y="4895850"/>
            <a:ext cx="10744200" cy="9525"/>
          </a:xfrm>
          <a:prstGeom xmlns:a="http://schemas.openxmlformats.org/drawingml/2006/main" prst="line">
            <a:avLst/>
          </a:prstGeom>
          <a:noFill xmlns:a="http://schemas.openxmlformats.org/drawingml/2006/main"/>
          <a:ln xmlns:a="http://schemas.openxmlformats.org/drawingml/2006/main" w="9525">
            <a:solidFill>
              <a:srgbClr val="CCD5E3"/>
            </a:solidFill>
            <a:prstDash val="solid"/>
          </a:ln>
        </p:spPr>
      </p:sp>
      <p:sp>
        <p:nvSpPr>
          <p:cNvPr id="18" name="">
            <a:extLst xmlns:a="http://schemas.openxmlformats.org/drawingml/2006/main">
              <a:ext uri="{FF2B5EF4-FFF2-40B4-BE49-F238E27FC236}">
                <a16:creationId xmlns:a16="http://schemas.microsoft.com/office/drawing/2014/main" id="{4E1C8489-8C2F-4879-9A30-58ABA74DF900}"/>
              </a:ext>
            </a:extLst>
          </p:cNvPr>
          <p:cNvSpPr>
            <a:spLocks xmlns:a="http://schemas.openxmlformats.org/drawingml/2006/main" noGrp="1"/>
          </p:cNvSpPr>
          <p:nvPr/>
        </p:nvSpPr>
        <p:spPr>
          <a:xfrm xmlns:a="http://schemas.openxmlformats.org/drawingml/2006/main">
            <a:off x="742950" y="517207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p xmlns:a="http://schemas.openxmlformats.org/drawingml/2006/main">
            <a:pPr algn="l">
              <a:defRPr sz="1500" b="1">
                <a:solidFill>
                  <a:srgbClr val="101B35"/>
                </a:solidFill>
                <a:latin typeface="Helvetica Neue"/>
                <a:ea typeface="Helvetica Neue"/>
                <a:cs typeface="Helvetica Neue"/>
              </a:defRPr>
            </a:pPr>
            <a:r>
              <a:rPr sz="1500" b="1">
                <a:solidFill>
                  <a:srgbClr val="101B35"/>
                </a:solidFill>
                <a:latin typeface="Helvetica Neue"/>
                <a:ea typeface="Helvetica Neue"/>
                <a:cs typeface="Helvetica Neue"/>
              </a:rPr>
              <a:t>Design details</a:t>
            </a:r>
          </a:p>
        </p:txBody>
      </p:sp>
      <p:sp>
        <p:nvSpPr>
          <p:cNvPr id="19" name="">
            <a:extLst xmlns:a="http://schemas.openxmlformats.org/drawingml/2006/main">
              <a:ext uri="{FF2B5EF4-FFF2-40B4-BE49-F238E27FC236}">
                <a16:creationId xmlns:a16="http://schemas.microsoft.com/office/drawing/2014/main" id="{6A5C3A5B-C971-4F5C-B6F5-1562FD473733}"/>
              </a:ext>
            </a:extLst>
          </p:cNvPr>
          <p:cNvSpPr>
            <a:spLocks xmlns:a="http://schemas.openxmlformats.org/drawingml/2006/main" noGrp="1"/>
          </p:cNvSpPr>
          <p:nvPr/>
        </p:nvSpPr>
        <p:spPr>
          <a:xfrm xmlns:a="http://schemas.openxmlformats.org/drawingml/2006/main">
            <a:off x="742950" y="55435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8243B"/>
                </a:solidFill>
                <a:latin typeface="Helvetica Neue"/>
                <a:ea typeface="Helvetica Neue"/>
                <a:cs typeface="Helvetica Neue"/>
              </a:defRPr>
            </a:pPr>
            <a:r>
              <a:rPr sz="1425" b="0">
                <a:solidFill>
                  <a:srgbClr val="18243B"/>
                </a:solidFill>
                <a:latin typeface="Helvetica Neue"/>
                <a:ea typeface="Helvetica Neue"/>
                <a:cs typeface="Helvetica Neue"/>
              </a:rPr>
              <a:t>Scope key by client  ·  fingerprint request body  ·  define in-progress behavior  ·  persist uniqueness in PostgreSQL</a:t>
            </a:r>
          </a:p>
        </p:txBody>
      </p:sp>
    </p:spTree>
    <p:extLst>
      <p:ext uri="{BB962C8B-B14F-4D97-AF65-F5344CB8AC3E}">
        <p14:creationId xmlns:p14="http://schemas.microsoft.com/office/powerpoint/2010/main" val="1200657522"/>
      </p:ext>
    </p:extLst>
  </p:cSld>
</p:sld>
</file>

<file path=ppt/slides/slide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DB2B30E-BC9A-49E0-AC9C-CD1F61DAF79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6FE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847B300-8622-45D7-926C-27F733F4CD7A}"/>
              </a:ext>
            </a:extLst>
          </p:cNvPr>
          <p:cNvSpPr>
            <a:spLocks xmlns:a="http://schemas.openxmlformats.org/drawingml/2006/main" noGrp="1"/>
          </p:cNvSpPr>
          <p:nvPr/>
        </p:nvSpPr>
        <p:spPr>
          <a:xfrm xmlns:a="http://schemas.openxmlformats.org/drawingml/2006/main">
            <a:off x="590550" y="323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139E91"/>
                </a:solidFill>
                <a:latin typeface="Helvetica Neue"/>
                <a:ea typeface="Helvetica Neue"/>
                <a:cs typeface="Helvetica Neue"/>
              </a:defRPr>
            </a:pPr>
            <a:r>
              <a:rPr sz="1125" b="1">
                <a:solidFill>
                  <a:srgbClr val="139E91"/>
                </a:solidFill>
                <a:latin typeface="Helvetica Neue"/>
                <a:ea typeface="Helvetica Neue"/>
                <a:cs typeface="Helvetica Neue"/>
              </a:rPr>
              <a:t>RELIABLE MESSAGING</a:t>
            </a:r>
          </a:p>
        </p:txBody>
      </p:sp>
      <p:sp>
        <p:nvSpPr>
          <p:cNvPr id="3" name="slide-title">
            <a:extLst xmlns:a="http://schemas.openxmlformats.org/drawingml/2006/main">
              <a:ext uri="{FF2B5EF4-FFF2-40B4-BE49-F238E27FC236}">
                <a16:creationId xmlns:a16="http://schemas.microsoft.com/office/drawing/2014/main" id="{1CB07605-242E-48DA-A110-A0405E76D9D1}"/>
              </a:ext>
            </a:extLst>
          </p:cNvPr>
          <p:cNvSpPr>
            <a:spLocks xmlns:a="http://schemas.openxmlformats.org/drawingml/2006/main" noGrp="1"/>
          </p:cNvSpPr>
          <p:nvPr/>
        </p:nvSpPr>
        <p:spPr>
          <a:xfrm xmlns:a="http://schemas.openxmlformats.org/drawingml/2006/main">
            <a:off x="590550" y="628650"/>
            <a:ext cx="11010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3225" b="1">
                <a:solidFill>
                  <a:srgbClr val="101B35"/>
                </a:solidFill>
                <a:latin typeface="Helvetica Neue"/>
                <a:ea typeface="Helvetica Neue"/>
                <a:cs typeface="Helvetica Neue"/>
              </a:defRPr>
            </a:pPr>
            <a:r>
              <a:rPr sz="3225" b="1">
                <a:solidFill>
                  <a:srgbClr val="101B35"/>
                </a:solidFill>
                <a:latin typeface="Helvetica Neue"/>
                <a:ea typeface="Helvetica Neue"/>
                <a:cs typeface="Helvetica Neue"/>
              </a:rPr>
              <a:t>Transactional outbox: reliable event delivery</a:t>
            </a:r>
          </a:p>
        </p:txBody>
      </p:sp>
      <p:sp>
        <p:nvSpPr>
          <p:cNvPr id="4" name="">
            <a:extLst xmlns:a="http://schemas.openxmlformats.org/drawingml/2006/main">
              <a:ext uri="{FF2B5EF4-FFF2-40B4-BE49-F238E27FC236}">
                <a16:creationId xmlns:a16="http://schemas.microsoft.com/office/drawing/2014/main" id="{1CBA5DB2-AD1D-407D-909E-733650AD280C}"/>
              </a:ext>
            </a:extLst>
          </p:cNvPr>
          <p:cNvSpPr>
            <a:spLocks xmlns:a="http://schemas.openxmlformats.org/drawingml/2006/main" noGrp="1"/>
          </p:cNvSpPr>
          <p:nvPr/>
        </p:nvSpPr>
        <p:spPr>
          <a:xfrm xmlns:a="http://schemas.openxmlformats.org/drawingml/2006/main" flipH="0" flipV="0">
            <a:off x="590550" y="1381125"/>
            <a:ext cx="11010900" cy="9525"/>
          </a:xfrm>
          <a:prstGeom xmlns:a="http://schemas.openxmlformats.org/drawingml/2006/main" prst="line">
            <a:avLst/>
          </a:prstGeom>
          <a:noFill xmlns:a="http://schemas.openxmlformats.org/drawingml/2006/main"/>
          <a:ln xmlns:a="http://schemas.openxmlformats.org/drawingml/2006/main" w="9525">
            <a:solidFill>
              <a:srgbClr val="CCD5E3"/>
            </a:solidFill>
            <a:prstDash val="solid"/>
          </a:ln>
        </p:spPr>
      </p:sp>
      <p:sp>
        <p:nvSpPr>
          <p:cNvPr id="5" name="">
            <a:extLst xmlns:a="http://schemas.openxmlformats.org/drawingml/2006/main">
              <a:ext uri="{FF2B5EF4-FFF2-40B4-BE49-F238E27FC236}">
                <a16:creationId xmlns:a16="http://schemas.microsoft.com/office/drawing/2014/main" id="{D7F5F9B3-C732-417A-B4D7-C8C9C88E7377}"/>
              </a:ext>
            </a:extLst>
          </p:cNvPr>
          <p:cNvSpPr>
            <a:spLocks xmlns:a="http://schemas.openxmlformats.org/drawingml/2006/main" noGrp="1"/>
          </p:cNvSpPr>
          <p:nvPr/>
        </p:nvSpPr>
        <p:spPr>
          <a:xfrm xmlns:a="http://schemas.openxmlformats.org/drawingml/2006/main">
            <a:off x="11220450" y="64198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1905"/>
          </a:bodyPr>
          <a:lstStyle xmlns:a="http://schemas.openxmlformats.org/drawingml/2006/main"/>
          <a:p xmlns:a="http://schemas.openxmlformats.org/drawingml/2006/main">
            <a:pPr algn="r">
              <a:defRPr sz="1050" b="1">
                <a:solidFill>
                  <a:srgbClr val="53627A"/>
                </a:solidFill>
                <a:latin typeface="Helvetica Neue"/>
                <a:ea typeface="Helvetica Neue"/>
                <a:cs typeface="Helvetica Neue"/>
              </a:defRPr>
            </a:pPr>
            <a:r>
              <a:rPr sz="1050" b="1">
                <a:solidFill>
                  <a:srgbClr val="53627A"/>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33B3DE4F-7771-4DF3-9C8F-93003AD22E3B}"/>
              </a:ext>
            </a:extLst>
          </p:cNvPr>
          <p:cNvSpPr>
            <a:spLocks xmlns:a="http://schemas.openxmlformats.org/drawingml/2006/main" noGrp="1"/>
          </p:cNvSpPr>
          <p:nvPr/>
        </p:nvSpPr>
        <p:spPr>
          <a:xfrm xmlns:a="http://schemas.openxmlformats.org/drawingml/2006/main">
            <a:off x="723900" y="17145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p xmlns:a="http://schemas.openxmlformats.org/drawingml/2006/main">
            <a:pPr algn="l">
              <a:defRPr sz="1500" b="1">
                <a:solidFill>
                  <a:srgbClr val="D85B5B"/>
                </a:solidFill>
                <a:latin typeface="Helvetica Neue"/>
                <a:ea typeface="Helvetica Neue"/>
                <a:cs typeface="Helvetica Neue"/>
              </a:defRPr>
            </a:pPr>
            <a:r>
              <a:rPr sz="1500" b="1">
                <a:solidFill>
                  <a:srgbClr val="D85B5B"/>
                </a:solidFill>
                <a:latin typeface="Helvetica Neue"/>
                <a:ea typeface="Helvetica Neue"/>
                <a:cs typeface="Helvetica Neue"/>
              </a:rPr>
              <a:t>Unsafe dual write</a:t>
            </a:r>
          </a:p>
        </p:txBody>
      </p:sp>
      <p:sp>
        <p:nvSpPr>
          <p:cNvPr id="7" name="">
            <a:extLst xmlns:a="http://schemas.openxmlformats.org/drawingml/2006/main">
              <a:ext uri="{FF2B5EF4-FFF2-40B4-BE49-F238E27FC236}">
                <a16:creationId xmlns:a16="http://schemas.microsoft.com/office/drawing/2014/main" id="{B84FCDBB-2113-4D1F-9A5D-A86378022D93}"/>
              </a:ext>
            </a:extLst>
          </p:cNvPr>
          <p:cNvSpPr>
            <a:spLocks xmlns:a="http://schemas.openxmlformats.org/drawingml/2006/main" noGrp="1"/>
          </p:cNvSpPr>
          <p:nvPr/>
        </p:nvSpPr>
        <p:spPr>
          <a:xfrm xmlns:a="http://schemas.openxmlformats.org/drawingml/2006/main">
            <a:off x="762000" y="2114550"/>
            <a:ext cx="1952625"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9050">
            <a:solidFill>
              <a:srgbClr val="D85B5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Commit database</a:t>
            </a:r>
          </a:p>
        </p:txBody>
      </p:sp>
      <p:sp>
        <p:nvSpPr>
          <p:cNvPr id="8" name="">
            <a:extLst xmlns:a="http://schemas.openxmlformats.org/drawingml/2006/main">
              <a:ext uri="{FF2B5EF4-FFF2-40B4-BE49-F238E27FC236}">
                <a16:creationId xmlns:a16="http://schemas.microsoft.com/office/drawing/2014/main" id="{2FBE4F02-62E4-4020-8593-900F24F1FF53}"/>
              </a:ext>
            </a:extLst>
          </p:cNvPr>
          <p:cNvSpPr>
            <a:spLocks xmlns:a="http://schemas.openxmlformats.org/drawingml/2006/main" noGrp="1"/>
          </p:cNvSpPr>
          <p:nvPr/>
        </p:nvSpPr>
        <p:spPr>
          <a:xfrm xmlns:a="http://schemas.openxmlformats.org/drawingml/2006/main">
            <a:off x="762000" y="3105150"/>
            <a:ext cx="1952625"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9050">
            <a:solidFill>
              <a:srgbClr val="D85B5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Publish Kafka</a:t>
            </a:r>
          </a:p>
        </p:txBody>
      </p:sp>
      <p:sp>
        <p:nvSpPr>
          <p:cNvPr id="9" name="">
            <a:extLst xmlns:a="http://schemas.openxmlformats.org/drawingml/2006/main">
              <a:ext uri="{FF2B5EF4-FFF2-40B4-BE49-F238E27FC236}">
                <a16:creationId xmlns:a16="http://schemas.microsoft.com/office/drawing/2014/main" id="{632593F9-DAE9-4358-8250-573A1F081C49}"/>
              </a:ext>
            </a:extLst>
          </p:cNvPr>
          <p:cNvSpPr>
            <a:spLocks xmlns:a="http://schemas.openxmlformats.org/drawingml/2006/main" noGrp="1"/>
          </p:cNvSpPr>
          <p:nvPr/>
        </p:nvSpPr>
        <p:spPr>
          <a:xfrm xmlns:a="http://schemas.openxmlformats.org/drawingml/2006/main">
            <a:off x="752475" y="3981450"/>
            <a:ext cx="247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3627A"/>
                </a:solidFill>
                <a:latin typeface="Helvetica Neue"/>
                <a:ea typeface="Helvetica Neue"/>
                <a:cs typeface="Helvetica Neue"/>
              </a:defRPr>
            </a:pPr>
            <a:r>
              <a:rPr sz="1350" b="0">
                <a:solidFill>
                  <a:srgbClr val="53627A"/>
                </a:solidFill>
                <a:latin typeface="Helvetica Neue"/>
                <a:ea typeface="Helvetica Neue"/>
                <a:cs typeface="Helvetica Neue"/>
              </a:rPr>
              <a:t>Either step can fail after the other succeeds</a:t>
            </a:r>
          </a:p>
        </p:txBody>
      </p:sp>
      <p:sp>
        <p:nvSpPr>
          <p:cNvPr id="10" name="">
            <a:extLst xmlns:a="http://schemas.openxmlformats.org/drawingml/2006/main">
              <a:ext uri="{FF2B5EF4-FFF2-40B4-BE49-F238E27FC236}">
                <a16:creationId xmlns:a16="http://schemas.microsoft.com/office/drawing/2014/main" id="{8AD823F6-21D0-45E1-A916-C27EACE06F08}"/>
              </a:ext>
            </a:extLst>
          </p:cNvPr>
          <p:cNvSpPr>
            <a:spLocks xmlns:a="http://schemas.openxmlformats.org/drawingml/2006/main" noGrp="1"/>
          </p:cNvSpPr>
          <p:nvPr/>
        </p:nvSpPr>
        <p:spPr>
          <a:xfrm xmlns:a="http://schemas.openxmlformats.org/drawingml/2006/main" flipH="0" flipV="0">
            <a:off x="3543300" y="1704975"/>
            <a:ext cx="9525" cy="3457575"/>
          </a:xfrm>
          <a:prstGeom xmlns:a="http://schemas.openxmlformats.org/drawingml/2006/main" prst="line">
            <a:avLst/>
          </a:prstGeom>
          <a:noFill xmlns:a="http://schemas.openxmlformats.org/drawingml/2006/main"/>
          <a:ln xmlns:a="http://schemas.openxmlformats.org/drawingml/2006/main" w="9525">
            <a:solidFill>
              <a:srgbClr val="CCD5E3"/>
            </a:solidFill>
            <a:prstDash val="solid"/>
          </a:ln>
        </p:spPr>
      </p:sp>
      <p:sp>
        <p:nvSpPr>
          <p:cNvPr id="11" name="">
            <a:extLst xmlns:a="http://schemas.openxmlformats.org/drawingml/2006/main">
              <a:ext uri="{FF2B5EF4-FFF2-40B4-BE49-F238E27FC236}">
                <a16:creationId xmlns:a16="http://schemas.microsoft.com/office/drawing/2014/main" id="{270BC785-CB7D-472C-8A46-A548EBE9D908}"/>
              </a:ext>
            </a:extLst>
          </p:cNvPr>
          <p:cNvSpPr>
            <a:spLocks xmlns:a="http://schemas.openxmlformats.org/drawingml/2006/main" noGrp="1"/>
          </p:cNvSpPr>
          <p:nvPr/>
        </p:nvSpPr>
        <p:spPr>
          <a:xfrm xmlns:a="http://schemas.openxmlformats.org/drawingml/2006/main">
            <a:off x="4019550" y="17145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p xmlns:a="http://schemas.openxmlformats.org/drawingml/2006/main">
            <a:pPr algn="l">
              <a:defRPr sz="1500" b="1">
                <a:solidFill>
                  <a:srgbClr val="139E91"/>
                </a:solidFill>
                <a:latin typeface="Helvetica Neue"/>
                <a:ea typeface="Helvetica Neue"/>
                <a:cs typeface="Helvetica Neue"/>
              </a:defRPr>
            </a:pPr>
            <a:r>
              <a:rPr sz="1500" b="1">
                <a:solidFill>
                  <a:srgbClr val="139E91"/>
                </a:solidFill>
                <a:latin typeface="Helvetica Neue"/>
                <a:ea typeface="Helvetica Neue"/>
                <a:cs typeface="Helvetica Neue"/>
              </a:rPr>
              <a:t>Atomic database transaction</a:t>
            </a:r>
          </a:p>
        </p:txBody>
      </p:sp>
      <p:sp>
        <p:nvSpPr>
          <p:cNvPr id="12" name="">
            <a:extLst xmlns:a="http://schemas.openxmlformats.org/drawingml/2006/main">
              <a:ext uri="{FF2B5EF4-FFF2-40B4-BE49-F238E27FC236}">
                <a16:creationId xmlns:a16="http://schemas.microsoft.com/office/drawing/2014/main" id="{8871FD39-24B5-4343-A9E2-4B651A5AF431}"/>
              </a:ext>
            </a:extLst>
          </p:cNvPr>
          <p:cNvSpPr>
            <a:spLocks xmlns:a="http://schemas.openxmlformats.org/drawingml/2006/main" noGrp="1"/>
          </p:cNvSpPr>
          <p:nvPr/>
        </p:nvSpPr>
        <p:spPr>
          <a:xfrm xmlns:a="http://schemas.openxmlformats.org/drawingml/2006/main">
            <a:off x="4019550" y="2209800"/>
            <a:ext cx="2095500" cy="819150"/>
          </a:xfrm>
          <a:prstGeom xmlns:a="http://schemas.openxmlformats.org/drawingml/2006/main" prst="roundRect">
            <a:avLst>
              <a:gd name="adj" fmla="val 9302"/>
            </a:avLst>
          </a:prstGeom>
          <a:solidFill xmlns:a="http://schemas.openxmlformats.org/drawingml/2006/main">
            <a:srgbClr val="E8EFFD"/>
          </a:solidFill>
          <a:ln xmlns:a="http://schemas.openxmlformats.org/drawingml/2006/main" w="19050">
            <a:solidFill>
              <a:srgbClr val="2F6FE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Update balances</a:t>
            </a:r>
          </a:p>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 transfer row</a:t>
            </a:r>
          </a:p>
        </p:txBody>
      </p:sp>
      <p:sp>
        <p:nvSpPr>
          <p:cNvPr id="13" name="">
            <a:extLst xmlns:a="http://schemas.openxmlformats.org/drawingml/2006/main">
              <a:ext uri="{FF2B5EF4-FFF2-40B4-BE49-F238E27FC236}">
                <a16:creationId xmlns:a16="http://schemas.microsoft.com/office/drawing/2014/main" id="{77972196-AD45-4B91-9DEB-0EC2F579F418}"/>
              </a:ext>
            </a:extLst>
          </p:cNvPr>
          <p:cNvSpPr>
            <a:spLocks xmlns:a="http://schemas.openxmlformats.org/drawingml/2006/main" noGrp="1"/>
          </p:cNvSpPr>
          <p:nvPr/>
        </p:nvSpPr>
        <p:spPr>
          <a:xfrm xmlns:a="http://schemas.openxmlformats.org/drawingml/2006/main">
            <a:off x="4019550" y="3419475"/>
            <a:ext cx="2095500" cy="685800"/>
          </a:xfrm>
          <a:prstGeom xmlns:a="http://schemas.openxmlformats.org/drawingml/2006/main" prst="roundRect">
            <a:avLst>
              <a:gd name="adj" fmla="val 11111"/>
            </a:avLst>
          </a:prstGeom>
          <a:solidFill xmlns:a="http://schemas.openxmlformats.org/drawingml/2006/main">
            <a:srgbClr val="E4F5F2"/>
          </a:solidFill>
          <a:ln xmlns:a="http://schemas.openxmlformats.org/drawingml/2006/main" w="19050">
            <a:solidFill>
              <a:srgbClr val="139E91"/>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Insert outbox event</a:t>
            </a:r>
          </a:p>
        </p:txBody>
      </p:sp>
      <p:sp>
        <p:nvSpPr>
          <p:cNvPr id="14" name="">
            <a:extLst xmlns:a="http://schemas.openxmlformats.org/drawingml/2006/main">
              <a:ext uri="{FF2B5EF4-FFF2-40B4-BE49-F238E27FC236}">
                <a16:creationId xmlns:a16="http://schemas.microsoft.com/office/drawing/2014/main" id="{C517BE67-C39A-4565-936C-472922353EA8}"/>
              </a:ext>
            </a:extLst>
          </p:cNvPr>
          <p:cNvSpPr>
            <a:spLocks xmlns:a="http://schemas.openxmlformats.org/drawingml/2006/main" noGrp="1"/>
          </p:cNvSpPr>
          <p:nvPr/>
        </p:nvSpPr>
        <p:spPr>
          <a:xfrm xmlns:a="http://schemas.openxmlformats.org/drawingml/2006/main" flipH="0" flipV="0">
            <a:off x="5067300" y="3028950"/>
            <a:ext cx="9525" cy="314325"/>
          </a:xfrm>
          <a:prstGeom xmlns:a="http://schemas.openxmlformats.org/drawingml/2006/main" prst="line">
            <a:avLst/>
          </a:prstGeom>
          <a:noFill xmlns:a="http://schemas.openxmlformats.org/drawingml/2006/main"/>
          <a:ln xmlns:a="http://schemas.openxmlformats.org/drawingml/2006/main" w="19050">
            <a:solidFill>
              <a:srgbClr val="139E91"/>
            </a:solidFill>
            <a:prstDash val="solid"/>
          </a:ln>
        </p:spPr>
      </p:sp>
      <p:sp>
        <p:nvSpPr>
          <p:cNvPr id="15" name="">
            <a:extLst xmlns:a="http://schemas.openxmlformats.org/drawingml/2006/main">
              <a:ext uri="{FF2B5EF4-FFF2-40B4-BE49-F238E27FC236}">
                <a16:creationId xmlns:a16="http://schemas.microsoft.com/office/drawing/2014/main" id="{3A78745D-9154-4C0D-8FD0-795F50B6E31A}"/>
              </a:ext>
            </a:extLst>
          </p:cNvPr>
          <p:cNvSpPr>
            <a:spLocks xmlns:a="http://schemas.openxmlformats.org/drawingml/2006/main" noGrp="1"/>
          </p:cNvSpPr>
          <p:nvPr/>
        </p:nvSpPr>
        <p:spPr>
          <a:xfrm xmlns:a="http://schemas.openxmlformats.org/drawingml/2006/main">
            <a:off x="6772275" y="2724150"/>
            <a:ext cx="1666875"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9050">
            <a:solidFill>
              <a:srgbClr val="E9A52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Poller / CDC</a:t>
            </a:r>
          </a:p>
        </p:txBody>
      </p:sp>
      <p:sp>
        <p:nvSpPr>
          <p:cNvPr id="16" name="">
            <a:extLst xmlns:a="http://schemas.openxmlformats.org/drawingml/2006/main">
              <a:ext uri="{FF2B5EF4-FFF2-40B4-BE49-F238E27FC236}">
                <a16:creationId xmlns:a16="http://schemas.microsoft.com/office/drawing/2014/main" id="{374F71BB-F547-4B61-B037-DDC3CB79ADD0}"/>
              </a:ext>
            </a:extLst>
          </p:cNvPr>
          <p:cNvSpPr>
            <a:spLocks xmlns:a="http://schemas.openxmlformats.org/drawingml/2006/main" noGrp="1"/>
          </p:cNvSpPr>
          <p:nvPr/>
        </p:nvSpPr>
        <p:spPr>
          <a:xfrm xmlns:a="http://schemas.openxmlformats.org/drawingml/2006/main">
            <a:off x="8991600" y="2724150"/>
            <a:ext cx="1190625"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9050">
            <a:solidFill>
              <a:srgbClr val="2F6FE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8243B"/>
                </a:solidFill>
                <a:latin typeface="Helvetica Neue"/>
                <a:ea typeface="Helvetica Neue"/>
                <a:cs typeface="Helvetica Neue"/>
              </a:defRPr>
            </a:pPr>
            <a:r>
              <a:rPr sz="1650" b="1">
                <a:solidFill>
                  <a:srgbClr val="18243B"/>
                </a:solidFill>
                <a:latin typeface="Helvetica Neue"/>
                <a:ea typeface="Helvetica Neue"/>
                <a:cs typeface="Helvetica Neue"/>
              </a:rPr>
              <a:t>Kafka</a:t>
            </a:r>
          </a:p>
        </p:txBody>
      </p:sp>
      <p:sp>
        <p:nvSpPr>
          <p:cNvPr id="17" name="">
            <a:extLst xmlns:a="http://schemas.openxmlformats.org/drawingml/2006/main">
              <a:ext uri="{FF2B5EF4-FFF2-40B4-BE49-F238E27FC236}">
                <a16:creationId xmlns:a16="http://schemas.microsoft.com/office/drawing/2014/main" id="{AF961CA9-D5A3-481A-9136-146E2B2042B8}"/>
              </a:ext>
            </a:extLst>
          </p:cNvPr>
          <p:cNvSpPr>
            <a:spLocks xmlns:a="http://schemas.openxmlformats.org/drawingml/2006/main" noGrp="1"/>
          </p:cNvSpPr>
          <p:nvPr/>
        </p:nvSpPr>
        <p:spPr>
          <a:xfrm xmlns:a="http://schemas.openxmlformats.org/drawingml/2006/main">
            <a:off x="10429875" y="2724150"/>
            <a:ext cx="1333500" cy="781050"/>
          </a:xfrm>
          <a:prstGeom xmlns:a="http://schemas.openxmlformats.org/drawingml/2006/main" prst="roundRect">
            <a:avLst>
              <a:gd name="adj" fmla="val 9756"/>
            </a:avLst>
          </a:prstGeom>
          <a:solidFill xmlns:a="http://schemas.openxmlformats.org/drawingml/2006/main">
            <a:srgbClr val="E4F5F2"/>
          </a:solidFill>
          <a:ln xmlns:a="http://schemas.openxmlformats.org/drawingml/2006/main" w="19050">
            <a:solidFill>
              <a:srgbClr val="139E91"/>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8243B"/>
                </a:solidFill>
                <a:latin typeface="Helvetica Neue"/>
                <a:ea typeface="Helvetica Neue"/>
                <a:cs typeface="Helvetica Neue"/>
              </a:defRPr>
            </a:pPr>
            <a:r>
              <a:rPr sz="1275" b="1">
                <a:solidFill>
                  <a:srgbClr val="18243B"/>
                </a:solidFill>
                <a:latin typeface="Helvetica Neue"/>
                <a:ea typeface="Helvetica Neue"/>
                <a:cs typeface="Helvetica Neue"/>
              </a:rPr>
              <a:t>Audit / notifications</a:t>
            </a:r>
          </a:p>
        </p:txBody>
      </p:sp>
      <p:sp>
        <p:nvSpPr>
          <p:cNvPr id="18" name="">
            <a:extLst xmlns:a="http://schemas.openxmlformats.org/drawingml/2006/main">
              <a:ext uri="{FF2B5EF4-FFF2-40B4-BE49-F238E27FC236}">
                <a16:creationId xmlns:a16="http://schemas.microsoft.com/office/drawing/2014/main" id="{99C6E99F-C0F8-474F-8857-7ED9CA238D86}"/>
              </a:ext>
            </a:extLst>
          </p:cNvPr>
          <p:cNvSpPr>
            <a:spLocks xmlns:a="http://schemas.openxmlformats.org/drawingml/2006/main" noGrp="1"/>
          </p:cNvSpPr>
          <p:nvPr/>
        </p:nvSpPr>
        <p:spPr>
          <a:xfrm xmlns:a="http://schemas.openxmlformats.org/drawingml/2006/main">
            <a:off x="6162675" y="2952750"/>
            <a:ext cx="552450" cy="209550"/>
          </a:xfrm>
          <a:prstGeom xmlns:a="http://schemas.openxmlformats.org/drawingml/2006/main" prst="rightArrow">
            <a:avLst/>
          </a:prstGeom>
          <a:solidFill xmlns:a="http://schemas.openxmlformats.org/drawingml/2006/main">
            <a:srgbClr val="139E9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805A5D6-96FE-46AE-B297-3EDABB52A1F5}"/>
              </a:ext>
            </a:extLst>
          </p:cNvPr>
          <p:cNvSpPr>
            <a:spLocks xmlns:a="http://schemas.openxmlformats.org/drawingml/2006/main" noGrp="1"/>
          </p:cNvSpPr>
          <p:nvPr/>
        </p:nvSpPr>
        <p:spPr>
          <a:xfrm xmlns:a="http://schemas.openxmlformats.org/drawingml/2006/main">
            <a:off x="8467725" y="2952750"/>
            <a:ext cx="457200" cy="209550"/>
          </a:xfrm>
          <a:prstGeom xmlns:a="http://schemas.openxmlformats.org/drawingml/2006/main" prst="rightArrow">
            <a:avLst/>
          </a:prstGeom>
          <a:solidFill xmlns:a="http://schemas.openxmlformats.org/drawingml/2006/main">
            <a:srgbClr val="2F6FE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035DE98-E7C4-4901-A158-ADF22ED02D80}"/>
              </a:ext>
            </a:extLst>
          </p:cNvPr>
          <p:cNvSpPr>
            <a:spLocks xmlns:a="http://schemas.openxmlformats.org/drawingml/2006/main" noGrp="1"/>
          </p:cNvSpPr>
          <p:nvPr/>
        </p:nvSpPr>
        <p:spPr>
          <a:xfrm xmlns:a="http://schemas.openxmlformats.org/drawingml/2006/main">
            <a:off x="10191750" y="2952750"/>
            <a:ext cx="209550" cy="209550"/>
          </a:xfrm>
          <a:prstGeom xmlns:a="http://schemas.openxmlformats.org/drawingml/2006/main" prst="rightArrow">
            <a:avLst/>
          </a:prstGeom>
          <a:solidFill xmlns:a="http://schemas.openxmlformats.org/drawingml/2006/main">
            <a:srgbClr val="139E9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4ACD2CF-BEB9-46E4-A09F-1F637D9881CA}"/>
              </a:ext>
            </a:extLst>
          </p:cNvPr>
          <p:cNvSpPr>
            <a:spLocks xmlns:a="http://schemas.openxmlformats.org/drawingml/2006/main" noGrp="1"/>
          </p:cNvSpPr>
          <p:nvPr/>
        </p:nvSpPr>
        <p:spPr>
          <a:xfrm xmlns:a="http://schemas.openxmlformats.org/drawingml/2006/main">
            <a:off x="6772275" y="3962400"/>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p xmlns:a="http://schemas.openxmlformats.org/drawingml/2006/main">
            <a:pPr algn="ctr">
              <a:defRPr sz="1500" b="1">
                <a:solidFill>
                  <a:srgbClr val="101B35"/>
                </a:solidFill>
                <a:latin typeface="Helvetica Neue"/>
                <a:ea typeface="Helvetica Neue"/>
                <a:cs typeface="Helvetica Neue"/>
              </a:defRPr>
            </a:pPr>
            <a:r>
              <a:rPr sz="1500" b="1">
                <a:solidFill>
                  <a:srgbClr val="101B35"/>
                </a:solidFill>
                <a:latin typeface="Helvetica Neue"/>
                <a:ea typeface="Helvetica Neue"/>
                <a:cs typeface="Helvetica Neue"/>
              </a:rPr>
              <a:t>Delivery is at least once</a:t>
            </a:r>
          </a:p>
        </p:txBody>
      </p:sp>
      <p:sp>
        <p:nvSpPr>
          <p:cNvPr id="22" name="">
            <a:extLst xmlns:a="http://schemas.openxmlformats.org/drawingml/2006/main">
              <a:ext uri="{FF2B5EF4-FFF2-40B4-BE49-F238E27FC236}">
                <a16:creationId xmlns:a16="http://schemas.microsoft.com/office/drawing/2014/main" id="{8EDDF90D-B274-4C81-AA36-1199622E0FF8}"/>
              </a:ext>
            </a:extLst>
          </p:cNvPr>
          <p:cNvSpPr>
            <a:spLocks xmlns:a="http://schemas.openxmlformats.org/drawingml/2006/main" noGrp="1"/>
          </p:cNvSpPr>
          <p:nvPr/>
        </p:nvSpPr>
        <p:spPr>
          <a:xfrm xmlns:a="http://schemas.openxmlformats.org/drawingml/2006/main">
            <a:off x="6772275" y="4295775"/>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53627A"/>
                </a:solidFill>
                <a:latin typeface="Helvetica Neue"/>
                <a:ea typeface="Helvetica Neue"/>
                <a:cs typeface="Helvetica Neue"/>
              </a:defRPr>
            </a:pPr>
            <a:r>
              <a:rPr sz="1350" b="0">
                <a:solidFill>
                  <a:srgbClr val="53627A"/>
                </a:solidFill>
                <a:latin typeface="Helvetica Neue"/>
                <a:ea typeface="Helvetica Neue"/>
                <a:cs typeface="Helvetica Neue"/>
              </a:rPr>
              <a:t>Consumers deduplicate by event or transfer ID</a:t>
            </a:r>
          </a:p>
        </p:txBody>
      </p:sp>
      <p:sp>
        <p:nvSpPr>
          <p:cNvPr id="23" name="">
            <a:extLst xmlns:a="http://schemas.openxmlformats.org/drawingml/2006/main">
              <a:ext uri="{FF2B5EF4-FFF2-40B4-BE49-F238E27FC236}">
                <a16:creationId xmlns:a16="http://schemas.microsoft.com/office/drawing/2014/main" id="{46D0D278-8584-4346-A271-8DBCE4BE3651}"/>
              </a:ext>
            </a:extLst>
          </p:cNvPr>
          <p:cNvSpPr>
            <a:spLocks xmlns:a="http://schemas.openxmlformats.org/drawingml/2006/main" noGrp="1"/>
          </p:cNvSpPr>
          <p:nvPr/>
        </p:nvSpPr>
        <p:spPr>
          <a:xfrm xmlns:a="http://schemas.openxmlformats.org/drawingml/2006/main">
            <a:off x="4019550" y="5276850"/>
            <a:ext cx="7477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561"/>
          </a:bodyPr>
          <a:lstStyle xmlns:a="http://schemas.openxmlformats.org/drawingml/2006/main"/>
          <a:p xmlns:a="http://schemas.openxmlformats.org/drawingml/2006/main">
            <a:pPr algn="l">
              <a:defRPr sz="1425" b="0">
                <a:solidFill>
                  <a:srgbClr val="18243B"/>
                </a:solidFill>
                <a:latin typeface="Helvetica Neue"/>
                <a:ea typeface="Helvetica Neue"/>
                <a:cs typeface="Helvetica Neue"/>
              </a:defRPr>
            </a:pPr>
            <a:r>
              <a:rPr sz="1425" b="0">
                <a:solidFill>
                  <a:srgbClr val="18243B"/>
                </a:solidFill>
                <a:latin typeface="Helvetica Neue"/>
                <a:ea typeface="Helvetica Neue"/>
                <a:cs typeface="Helvetica Neue"/>
              </a:rPr>
              <a:t>Polling is simple to operate; CDC can reduce polling overhead at greater operational complexity.</a:t>
            </a:r>
          </a:p>
        </p:txBody>
      </p:sp>
    </p:spTree>
    <p:extLst>
      <p:ext uri="{BB962C8B-B14F-4D97-AF65-F5344CB8AC3E}">
        <p14:creationId xmlns:p14="http://schemas.microsoft.com/office/powerpoint/2010/main" val="418277238"/>
      </p:ext>
    </p:extLst>
  </p:cSld>
</p:sld>
</file>

<file path=ppt/slides/slide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A182DA1-C682-454F-9551-ED868ED5E7C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6FE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34A322A-900F-4B2C-94AF-6928C211A742}"/>
              </a:ext>
            </a:extLst>
          </p:cNvPr>
          <p:cNvSpPr>
            <a:spLocks xmlns:a="http://schemas.openxmlformats.org/drawingml/2006/main" noGrp="1"/>
          </p:cNvSpPr>
          <p:nvPr/>
        </p:nvSpPr>
        <p:spPr>
          <a:xfrm xmlns:a="http://schemas.openxmlformats.org/drawingml/2006/main">
            <a:off x="590550" y="323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139E91"/>
                </a:solidFill>
                <a:latin typeface="Helvetica Neue"/>
                <a:ea typeface="Helvetica Neue"/>
                <a:cs typeface="Helvetica Neue"/>
              </a:defRPr>
            </a:pPr>
            <a:r>
              <a:rPr sz="1125" b="1">
                <a:solidFill>
                  <a:srgbClr val="139E91"/>
                </a:solidFill>
                <a:latin typeface="Helvetica Neue"/>
                <a:ea typeface="Helvetica Neue"/>
                <a:cs typeface="Helvetica Neue"/>
              </a:rPr>
              <a:t>ACCESS CONTROL</a:t>
            </a:r>
          </a:p>
        </p:txBody>
      </p:sp>
      <p:sp>
        <p:nvSpPr>
          <p:cNvPr id="3" name="slide-title">
            <a:extLst xmlns:a="http://schemas.openxmlformats.org/drawingml/2006/main">
              <a:ext uri="{FF2B5EF4-FFF2-40B4-BE49-F238E27FC236}">
                <a16:creationId xmlns:a16="http://schemas.microsoft.com/office/drawing/2014/main" id="{D6734353-AB6A-4C96-BB73-647724C4A411}"/>
              </a:ext>
            </a:extLst>
          </p:cNvPr>
          <p:cNvSpPr>
            <a:spLocks xmlns:a="http://schemas.openxmlformats.org/drawingml/2006/main" noGrp="1"/>
          </p:cNvSpPr>
          <p:nvPr/>
        </p:nvSpPr>
        <p:spPr>
          <a:xfrm xmlns:a="http://schemas.openxmlformats.org/drawingml/2006/main">
            <a:off x="590550" y="628650"/>
            <a:ext cx="11010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3225" b="1">
                <a:solidFill>
                  <a:srgbClr val="101B35"/>
                </a:solidFill>
                <a:latin typeface="Helvetica Neue"/>
                <a:ea typeface="Helvetica Neue"/>
                <a:cs typeface="Helvetica Neue"/>
              </a:defRPr>
            </a:pPr>
            <a:r>
              <a:rPr sz="3225" b="1">
                <a:solidFill>
                  <a:srgbClr val="101B35"/>
                </a:solidFill>
                <a:latin typeface="Helvetica Neue"/>
                <a:ea typeface="Helvetica Neue"/>
                <a:cs typeface="Helvetica Neue"/>
              </a:rPr>
              <a:t>Security and resilience at the API boundary</a:t>
            </a:r>
          </a:p>
        </p:txBody>
      </p:sp>
      <p:sp>
        <p:nvSpPr>
          <p:cNvPr id="4" name="">
            <a:extLst xmlns:a="http://schemas.openxmlformats.org/drawingml/2006/main">
              <a:ext uri="{FF2B5EF4-FFF2-40B4-BE49-F238E27FC236}">
                <a16:creationId xmlns:a16="http://schemas.microsoft.com/office/drawing/2014/main" id="{8A7FBDCD-6F65-4914-8D5D-0482466FE53E}"/>
              </a:ext>
            </a:extLst>
          </p:cNvPr>
          <p:cNvSpPr>
            <a:spLocks xmlns:a="http://schemas.openxmlformats.org/drawingml/2006/main" noGrp="1"/>
          </p:cNvSpPr>
          <p:nvPr/>
        </p:nvSpPr>
        <p:spPr>
          <a:xfrm xmlns:a="http://schemas.openxmlformats.org/drawingml/2006/main" flipH="0" flipV="0">
            <a:off x="590550" y="1381125"/>
            <a:ext cx="11010900" cy="9525"/>
          </a:xfrm>
          <a:prstGeom xmlns:a="http://schemas.openxmlformats.org/drawingml/2006/main" prst="line">
            <a:avLst/>
          </a:prstGeom>
          <a:noFill xmlns:a="http://schemas.openxmlformats.org/drawingml/2006/main"/>
          <a:ln xmlns:a="http://schemas.openxmlformats.org/drawingml/2006/main" w="9525">
            <a:solidFill>
              <a:srgbClr val="CCD5E3"/>
            </a:solidFill>
            <a:prstDash val="solid"/>
          </a:ln>
        </p:spPr>
      </p:sp>
      <p:sp>
        <p:nvSpPr>
          <p:cNvPr id="5" name="">
            <a:extLst xmlns:a="http://schemas.openxmlformats.org/drawingml/2006/main">
              <a:ext uri="{FF2B5EF4-FFF2-40B4-BE49-F238E27FC236}">
                <a16:creationId xmlns:a16="http://schemas.microsoft.com/office/drawing/2014/main" id="{E86E6A13-DFA8-4D7C-B161-BE71FD6D7C4A}"/>
              </a:ext>
            </a:extLst>
          </p:cNvPr>
          <p:cNvSpPr>
            <a:spLocks xmlns:a="http://schemas.openxmlformats.org/drawingml/2006/main" noGrp="1"/>
          </p:cNvSpPr>
          <p:nvPr/>
        </p:nvSpPr>
        <p:spPr>
          <a:xfrm xmlns:a="http://schemas.openxmlformats.org/drawingml/2006/main">
            <a:off x="11220450" y="64198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1905"/>
          </a:bodyPr>
          <a:lstStyle xmlns:a="http://schemas.openxmlformats.org/drawingml/2006/main"/>
          <a:p xmlns:a="http://schemas.openxmlformats.org/drawingml/2006/main">
            <a:pPr algn="r">
              <a:defRPr sz="1050" b="1">
                <a:solidFill>
                  <a:srgbClr val="53627A"/>
                </a:solidFill>
                <a:latin typeface="Helvetica Neue"/>
                <a:ea typeface="Helvetica Neue"/>
                <a:cs typeface="Helvetica Neue"/>
              </a:defRPr>
            </a:pPr>
            <a:r>
              <a:rPr sz="1050" b="1">
                <a:solidFill>
                  <a:srgbClr val="53627A"/>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072F69FC-4E04-4098-8432-CADF7AE0F428}"/>
              </a:ext>
            </a:extLst>
          </p:cNvPr>
          <p:cNvSpPr>
            <a:spLocks xmlns:a="http://schemas.openxmlformats.org/drawingml/2006/main" noGrp="1"/>
          </p:cNvSpPr>
          <p:nvPr/>
        </p:nvSpPr>
        <p:spPr>
          <a:xfrm xmlns:a="http://schemas.openxmlformats.org/drawingml/2006/main">
            <a:off x="723900" y="2352675"/>
            <a:ext cx="121920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19050">
            <a:solidFill>
              <a:srgbClr val="2F6FE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18243B"/>
                </a:solidFill>
                <a:latin typeface="Helvetica Neue"/>
                <a:ea typeface="Helvetica Neue"/>
                <a:cs typeface="Helvetica Neue"/>
              </a:defRPr>
            </a:pPr>
            <a:r>
              <a:rPr sz="1725" b="1">
                <a:solidFill>
                  <a:srgbClr val="18243B"/>
                </a:solidFill>
                <a:latin typeface="Helvetica Neue"/>
                <a:ea typeface="Helvetica Neue"/>
                <a:cs typeface="Helvetica Neue"/>
              </a:rPr>
              <a:t>JWT</a:t>
            </a:r>
          </a:p>
        </p:txBody>
      </p:sp>
      <p:sp>
        <p:nvSpPr>
          <p:cNvPr id="7" name="">
            <a:extLst xmlns:a="http://schemas.openxmlformats.org/drawingml/2006/main">
              <a:ext uri="{FF2B5EF4-FFF2-40B4-BE49-F238E27FC236}">
                <a16:creationId xmlns:a16="http://schemas.microsoft.com/office/drawing/2014/main" id="{22DE5990-9FBD-43EF-BCFC-AE5E7565113D}"/>
              </a:ext>
            </a:extLst>
          </p:cNvPr>
          <p:cNvSpPr>
            <a:spLocks xmlns:a="http://schemas.openxmlformats.org/drawingml/2006/main" noGrp="1"/>
          </p:cNvSpPr>
          <p:nvPr/>
        </p:nvSpPr>
        <p:spPr>
          <a:xfrm xmlns:a="http://schemas.openxmlformats.org/drawingml/2006/main">
            <a:off x="2019300" y="2600325"/>
            <a:ext cx="514350" cy="209550"/>
          </a:xfrm>
          <a:prstGeom xmlns:a="http://schemas.openxmlformats.org/drawingml/2006/main" prst="rightArrow">
            <a:avLst/>
          </a:prstGeom>
          <a:solidFill xmlns:a="http://schemas.openxmlformats.org/drawingml/2006/main">
            <a:srgbClr val="2F6FE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FDADA69-0711-40C0-ABA9-D2AFC1037DE1}"/>
              </a:ext>
            </a:extLst>
          </p:cNvPr>
          <p:cNvSpPr>
            <a:spLocks xmlns:a="http://schemas.openxmlformats.org/drawingml/2006/main" noGrp="1"/>
          </p:cNvSpPr>
          <p:nvPr/>
        </p:nvSpPr>
        <p:spPr>
          <a:xfrm xmlns:a="http://schemas.openxmlformats.org/drawingml/2006/main">
            <a:off x="2609850" y="2238375"/>
            <a:ext cx="1981200" cy="933450"/>
          </a:xfrm>
          <a:prstGeom xmlns:a="http://schemas.openxmlformats.org/drawingml/2006/main" prst="roundRect">
            <a:avLst>
              <a:gd name="adj" fmla="val 8163"/>
            </a:avLst>
          </a:prstGeom>
          <a:solidFill xmlns:a="http://schemas.openxmlformats.org/drawingml/2006/main">
            <a:srgbClr val="E8EFFD"/>
          </a:solidFill>
          <a:ln xmlns:a="http://schemas.openxmlformats.org/drawingml/2006/main" w="19050">
            <a:solidFill>
              <a:srgbClr val="2F6FE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Spring Security</a:t>
            </a:r>
          </a:p>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filter chain</a:t>
            </a:r>
          </a:p>
        </p:txBody>
      </p:sp>
      <p:sp>
        <p:nvSpPr>
          <p:cNvPr id="9" name="">
            <a:extLst xmlns:a="http://schemas.openxmlformats.org/drawingml/2006/main">
              <a:ext uri="{FF2B5EF4-FFF2-40B4-BE49-F238E27FC236}">
                <a16:creationId xmlns:a16="http://schemas.microsoft.com/office/drawing/2014/main" id="{1B96195E-62C3-48B6-9E54-58A06CA99B7F}"/>
              </a:ext>
            </a:extLst>
          </p:cNvPr>
          <p:cNvSpPr>
            <a:spLocks xmlns:a="http://schemas.openxmlformats.org/drawingml/2006/main" noGrp="1"/>
          </p:cNvSpPr>
          <p:nvPr/>
        </p:nvSpPr>
        <p:spPr>
          <a:xfrm xmlns:a="http://schemas.openxmlformats.org/drawingml/2006/main">
            <a:off x="4676775" y="2600325"/>
            <a:ext cx="485775" cy="209550"/>
          </a:xfrm>
          <a:prstGeom xmlns:a="http://schemas.openxmlformats.org/drawingml/2006/main" prst="rightArrow">
            <a:avLst/>
          </a:prstGeom>
          <a:solidFill xmlns:a="http://schemas.openxmlformats.org/drawingml/2006/main">
            <a:srgbClr val="2F6FE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D8A0352-204A-49B4-AD53-70A6EA7A4901}"/>
              </a:ext>
            </a:extLst>
          </p:cNvPr>
          <p:cNvSpPr>
            <a:spLocks xmlns:a="http://schemas.openxmlformats.org/drawingml/2006/main" noGrp="1"/>
          </p:cNvSpPr>
          <p:nvPr/>
        </p:nvSpPr>
        <p:spPr>
          <a:xfrm xmlns:a="http://schemas.openxmlformats.org/drawingml/2006/main">
            <a:off x="5248275" y="2238375"/>
            <a:ext cx="1943100" cy="933450"/>
          </a:xfrm>
          <a:prstGeom xmlns:a="http://schemas.openxmlformats.org/drawingml/2006/main" prst="roundRect">
            <a:avLst>
              <a:gd name="adj" fmla="val 8163"/>
            </a:avLst>
          </a:prstGeom>
          <a:solidFill xmlns:a="http://schemas.openxmlformats.org/drawingml/2006/main">
            <a:srgbClr val="FFFFFF"/>
          </a:solidFill>
          <a:ln xmlns:a="http://schemas.openxmlformats.org/drawingml/2006/main" w="19050">
            <a:solidFill>
              <a:srgbClr val="139E91"/>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8243B"/>
                </a:solidFill>
                <a:latin typeface="Helvetica Neue"/>
                <a:ea typeface="Helvetica Neue"/>
                <a:cs typeface="Helvetica Neue"/>
              </a:defRPr>
            </a:pPr>
            <a:r>
              <a:rPr sz="1425" b="1">
                <a:solidFill>
                  <a:srgbClr val="18243B"/>
                </a:solidFill>
                <a:latin typeface="Helvetica Neue"/>
                <a:ea typeface="Helvetica Neue"/>
                <a:cs typeface="Helvetica Neue"/>
              </a:rPr>
              <a:t>Authorization</a:t>
            </a:r>
          </a:p>
          <a:p xmlns:a="http://schemas.openxmlformats.org/drawingml/2006/main">
            <a:pPr algn="ctr">
              <a:defRPr sz="1425" b="1">
                <a:solidFill>
                  <a:srgbClr val="18243B"/>
                </a:solidFill>
                <a:latin typeface="Helvetica Neue"/>
                <a:ea typeface="Helvetica Neue"/>
                <a:cs typeface="Helvetica Neue"/>
              </a:defRPr>
            </a:pPr>
            <a:r>
              <a:rPr sz="1425" b="1">
                <a:solidFill>
                  <a:srgbClr val="18243B"/>
                </a:solidFill>
                <a:latin typeface="Helvetica Neue"/>
                <a:ea typeface="Helvetica Neue"/>
                <a:cs typeface="Helvetica Neue"/>
              </a:rPr>
              <a:t>user ↔ wallet</a:t>
            </a:r>
          </a:p>
        </p:txBody>
      </p:sp>
      <p:sp>
        <p:nvSpPr>
          <p:cNvPr id="11" name="">
            <a:extLst xmlns:a="http://schemas.openxmlformats.org/drawingml/2006/main">
              <a:ext uri="{FF2B5EF4-FFF2-40B4-BE49-F238E27FC236}">
                <a16:creationId xmlns:a16="http://schemas.microsoft.com/office/drawing/2014/main" id="{4266C860-74D0-49CA-966D-7A3541961679}"/>
              </a:ext>
            </a:extLst>
          </p:cNvPr>
          <p:cNvSpPr>
            <a:spLocks xmlns:a="http://schemas.openxmlformats.org/drawingml/2006/main" noGrp="1"/>
          </p:cNvSpPr>
          <p:nvPr/>
        </p:nvSpPr>
        <p:spPr>
          <a:xfrm xmlns:a="http://schemas.openxmlformats.org/drawingml/2006/main">
            <a:off x="7267575" y="2600325"/>
            <a:ext cx="485775" cy="209550"/>
          </a:xfrm>
          <a:prstGeom xmlns:a="http://schemas.openxmlformats.org/drawingml/2006/main" prst="rightArrow">
            <a:avLst/>
          </a:prstGeom>
          <a:solidFill xmlns:a="http://schemas.openxmlformats.org/drawingml/2006/main">
            <a:srgbClr val="139E9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3F2012D-ED72-4AF0-BA35-B213E01B0677}"/>
              </a:ext>
            </a:extLst>
          </p:cNvPr>
          <p:cNvSpPr>
            <a:spLocks xmlns:a="http://schemas.openxmlformats.org/drawingml/2006/main" noGrp="1"/>
          </p:cNvSpPr>
          <p:nvPr/>
        </p:nvSpPr>
        <p:spPr>
          <a:xfrm xmlns:a="http://schemas.openxmlformats.org/drawingml/2006/main">
            <a:off x="7829550" y="2238375"/>
            <a:ext cx="1866900" cy="933450"/>
          </a:xfrm>
          <a:prstGeom xmlns:a="http://schemas.openxmlformats.org/drawingml/2006/main" prst="roundRect">
            <a:avLst>
              <a:gd name="adj" fmla="val 8163"/>
            </a:avLst>
          </a:prstGeom>
          <a:solidFill xmlns:a="http://schemas.openxmlformats.org/drawingml/2006/main">
            <a:srgbClr val="FFF4DD"/>
          </a:solidFill>
          <a:ln xmlns:a="http://schemas.openxmlformats.org/drawingml/2006/main" w="19050">
            <a:solidFill>
              <a:srgbClr val="E9A52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8243B"/>
                </a:solidFill>
                <a:latin typeface="Helvetica Neue"/>
                <a:ea typeface="Helvetica Neue"/>
                <a:cs typeface="Helvetica Neue"/>
              </a:defRPr>
            </a:pPr>
            <a:r>
              <a:rPr sz="1425" b="1">
                <a:solidFill>
                  <a:srgbClr val="18243B"/>
                </a:solidFill>
                <a:latin typeface="Helvetica Neue"/>
                <a:ea typeface="Helvetica Neue"/>
                <a:cs typeface="Helvetica Neue"/>
              </a:rPr>
              <a:t>Token bucket</a:t>
            </a:r>
          </a:p>
          <a:p xmlns:a="http://schemas.openxmlformats.org/drawingml/2006/main">
            <a:pPr algn="ctr">
              <a:defRPr sz="1425" b="1">
                <a:solidFill>
                  <a:srgbClr val="18243B"/>
                </a:solidFill>
                <a:latin typeface="Helvetica Neue"/>
                <a:ea typeface="Helvetica Neue"/>
                <a:cs typeface="Helvetica Neue"/>
              </a:defRPr>
            </a:pPr>
            <a:r>
              <a:rPr sz="1425" b="1">
                <a:solidFill>
                  <a:srgbClr val="18243B"/>
                </a:solidFill>
                <a:latin typeface="Helvetica Neue"/>
                <a:ea typeface="Helvetica Neue"/>
                <a:cs typeface="Helvetica Neue"/>
              </a:rPr>
              <a:t>Redis counters</a:t>
            </a:r>
          </a:p>
        </p:txBody>
      </p:sp>
      <p:sp>
        <p:nvSpPr>
          <p:cNvPr id="13" name="">
            <a:extLst xmlns:a="http://schemas.openxmlformats.org/drawingml/2006/main">
              <a:ext uri="{FF2B5EF4-FFF2-40B4-BE49-F238E27FC236}">
                <a16:creationId xmlns:a16="http://schemas.microsoft.com/office/drawing/2014/main" id="{E3491ED2-0C40-420C-B9E3-A1C508EC9FD6}"/>
              </a:ext>
            </a:extLst>
          </p:cNvPr>
          <p:cNvSpPr>
            <a:spLocks xmlns:a="http://schemas.openxmlformats.org/drawingml/2006/main" noGrp="1"/>
          </p:cNvSpPr>
          <p:nvPr/>
        </p:nvSpPr>
        <p:spPr>
          <a:xfrm xmlns:a="http://schemas.openxmlformats.org/drawingml/2006/main">
            <a:off x="9763125" y="2600325"/>
            <a:ext cx="485775" cy="209550"/>
          </a:xfrm>
          <a:prstGeom xmlns:a="http://schemas.openxmlformats.org/drawingml/2006/main" prst="rightArrow">
            <a:avLst/>
          </a:prstGeom>
          <a:solidFill xmlns:a="http://schemas.openxmlformats.org/drawingml/2006/main">
            <a:srgbClr val="2F6FE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0345BD8-49BB-497F-9B75-53783782690F}"/>
              </a:ext>
            </a:extLst>
          </p:cNvPr>
          <p:cNvSpPr>
            <a:spLocks xmlns:a="http://schemas.openxmlformats.org/drawingml/2006/main" noGrp="1"/>
          </p:cNvSpPr>
          <p:nvPr/>
        </p:nvSpPr>
        <p:spPr>
          <a:xfrm xmlns:a="http://schemas.openxmlformats.org/drawingml/2006/main">
            <a:off x="10306050" y="2352675"/>
            <a:ext cx="125730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19050">
            <a:solidFill>
              <a:srgbClr val="2F6FE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Wallet API</a:t>
            </a:r>
          </a:p>
        </p:txBody>
      </p:sp>
      <p:sp>
        <p:nvSpPr>
          <p:cNvPr id="15" name="">
            <a:extLst xmlns:a="http://schemas.openxmlformats.org/drawingml/2006/main">
              <a:ext uri="{FF2B5EF4-FFF2-40B4-BE49-F238E27FC236}">
                <a16:creationId xmlns:a16="http://schemas.microsoft.com/office/drawing/2014/main" id="{40261CA5-75C5-49B2-8FB2-BE2AF43454C2}"/>
              </a:ext>
            </a:extLst>
          </p:cNvPr>
          <p:cNvSpPr>
            <a:spLocks xmlns:a="http://schemas.openxmlformats.org/drawingml/2006/main" noGrp="1"/>
          </p:cNvSpPr>
          <p:nvPr/>
        </p:nvSpPr>
        <p:spPr>
          <a:xfrm xmlns:a="http://schemas.openxmlformats.org/drawingml/2006/main">
            <a:off x="733425" y="3667125"/>
            <a:ext cx="10382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01B35"/>
                </a:solidFill>
                <a:latin typeface="Helvetica Neue"/>
                <a:ea typeface="Helvetica Neue"/>
                <a:cs typeface="Helvetica Neue"/>
              </a:defRPr>
            </a:pPr>
            <a:r>
              <a:rPr sz="1650" b="1">
                <a:solidFill>
                  <a:srgbClr val="101B35"/>
                </a:solidFill>
                <a:latin typeface="Helvetica Neue"/>
                <a:ea typeface="Helvetica Neue"/>
                <a:cs typeface="Helvetica Neue"/>
              </a:rPr>
              <a:t>JWT validation authenticates the caller. Wallet-level checks authorize the transfer.</a:t>
            </a:r>
          </a:p>
        </p:txBody>
      </p:sp>
      <p:sp>
        <p:nvSpPr>
          <p:cNvPr id="16" name="">
            <a:extLst xmlns:a="http://schemas.openxmlformats.org/drawingml/2006/main">
              <a:ext uri="{FF2B5EF4-FFF2-40B4-BE49-F238E27FC236}">
                <a16:creationId xmlns:a16="http://schemas.microsoft.com/office/drawing/2014/main" id="{4C55D8AD-FD7A-4214-8C7D-2A0A0D820545}"/>
              </a:ext>
            </a:extLst>
          </p:cNvPr>
          <p:cNvSpPr>
            <a:spLocks xmlns:a="http://schemas.openxmlformats.org/drawingml/2006/main" noGrp="1"/>
          </p:cNvSpPr>
          <p:nvPr/>
        </p:nvSpPr>
        <p:spPr>
          <a:xfrm xmlns:a="http://schemas.openxmlformats.org/drawingml/2006/main" flipH="0" flipV="0">
            <a:off x="723900" y="4362450"/>
            <a:ext cx="10744200" cy="9525"/>
          </a:xfrm>
          <a:prstGeom xmlns:a="http://schemas.openxmlformats.org/drawingml/2006/main" prst="line">
            <a:avLst/>
          </a:prstGeom>
          <a:noFill xmlns:a="http://schemas.openxmlformats.org/drawingml/2006/main"/>
          <a:ln xmlns:a="http://schemas.openxmlformats.org/drawingml/2006/main" w="9525">
            <a:solidFill>
              <a:srgbClr val="CCD5E3"/>
            </a:solidFill>
            <a:prstDash val="solid"/>
          </a:ln>
        </p:spPr>
      </p:sp>
      <p:sp>
        <p:nvSpPr>
          <p:cNvPr id="17" name="">
            <a:extLst xmlns:a="http://schemas.openxmlformats.org/drawingml/2006/main">
              <a:ext uri="{FF2B5EF4-FFF2-40B4-BE49-F238E27FC236}">
                <a16:creationId xmlns:a16="http://schemas.microsoft.com/office/drawing/2014/main" id="{59E85E70-EA45-40BA-B7E4-4FA26CEF9FC6}"/>
              </a:ext>
            </a:extLst>
          </p:cNvPr>
          <p:cNvSpPr>
            <a:spLocks xmlns:a="http://schemas.openxmlformats.org/drawingml/2006/main" noGrp="1"/>
          </p:cNvSpPr>
          <p:nvPr/>
        </p:nvSpPr>
        <p:spPr>
          <a:xfrm xmlns:a="http://schemas.openxmlformats.org/drawingml/2006/main">
            <a:off x="762000" y="4657725"/>
            <a:ext cx="2457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984"/>
          </a:bodyPr>
          <a:lstStyle xmlns:a="http://schemas.openxmlformats.org/drawingml/2006/main"/>
          <a:p xmlns:a="http://schemas.openxmlformats.org/drawingml/2006/main">
            <a:pPr algn="l">
              <a:defRPr sz="1575" b="1">
                <a:solidFill>
                  <a:srgbClr val="101B35"/>
                </a:solidFill>
                <a:latin typeface="Helvetica Neue"/>
                <a:ea typeface="Helvetica Neue"/>
                <a:cs typeface="Helvetica Neue"/>
              </a:defRPr>
            </a:pPr>
            <a:r>
              <a:rPr sz="1575" b="1">
                <a:solidFill>
                  <a:srgbClr val="101B35"/>
                </a:solidFill>
                <a:latin typeface="Helvetica Neue"/>
                <a:ea typeface="Helvetica Neue"/>
                <a:cs typeface="Helvetica Neue"/>
              </a:rPr>
              <a:t>Token bucket policy</a:t>
            </a:r>
          </a:p>
        </p:txBody>
      </p:sp>
      <p:sp>
        <p:nvSpPr>
          <p:cNvPr id="18" name="">
            <a:extLst xmlns:a="http://schemas.openxmlformats.org/drawingml/2006/main">
              <a:ext uri="{FF2B5EF4-FFF2-40B4-BE49-F238E27FC236}">
                <a16:creationId xmlns:a16="http://schemas.microsoft.com/office/drawing/2014/main" id="{F7B3E68D-9C32-45B6-A5CD-AF12A2B68C1A}"/>
              </a:ext>
            </a:extLst>
          </p:cNvPr>
          <p:cNvSpPr>
            <a:spLocks xmlns:a="http://schemas.openxmlformats.org/drawingml/2006/main" noGrp="1"/>
          </p:cNvSpPr>
          <p:nvPr/>
        </p:nvSpPr>
        <p:spPr>
          <a:xfrm xmlns:a="http://schemas.openxmlformats.org/drawingml/2006/main">
            <a:off x="762000" y="5048250"/>
            <a:ext cx="4524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368"/>
          </a:bodyPr>
          <a:lstStyle xmlns:a="http://schemas.openxmlformats.org/drawingml/2006/main"/>
          <a:p xmlns:a="http://schemas.openxmlformats.org/drawingml/2006/main">
            <a:pPr algn="l">
              <a:defRPr sz="1425" b="0">
                <a:solidFill>
                  <a:srgbClr val="18243B"/>
                </a:solidFill>
                <a:latin typeface="Helvetica Neue"/>
                <a:ea typeface="Helvetica Neue"/>
                <a:cs typeface="Helvetica Neue"/>
              </a:defRPr>
            </a:pPr>
            <a:r>
              <a:rPr sz="1425" b="0">
                <a:solidFill>
                  <a:srgbClr val="18243B"/>
                </a:solidFill>
                <a:latin typeface="Helvetica Neue"/>
                <a:ea typeface="Helvetica Neue"/>
                <a:cs typeface="Helvetica Neue"/>
              </a:rPr>
              <a:t>Allows short bursts while limiting average request rate. Apply per user or client.</a:t>
            </a:r>
          </a:p>
        </p:txBody>
      </p:sp>
      <p:sp>
        <p:nvSpPr>
          <p:cNvPr id="19" name="">
            <a:extLst xmlns:a="http://schemas.openxmlformats.org/drawingml/2006/main">
              <a:ext uri="{FF2B5EF4-FFF2-40B4-BE49-F238E27FC236}">
                <a16:creationId xmlns:a16="http://schemas.microsoft.com/office/drawing/2014/main" id="{6C1C9477-19F5-447F-989B-5AAF5C3602FC}"/>
              </a:ext>
            </a:extLst>
          </p:cNvPr>
          <p:cNvSpPr>
            <a:spLocks xmlns:a="http://schemas.openxmlformats.org/drawingml/2006/main" noGrp="1"/>
          </p:cNvSpPr>
          <p:nvPr/>
        </p:nvSpPr>
        <p:spPr>
          <a:xfrm xmlns:a="http://schemas.openxmlformats.org/drawingml/2006/main">
            <a:off x="6229350" y="4657725"/>
            <a:ext cx="2457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984"/>
          </a:bodyPr>
          <a:lstStyle xmlns:a="http://schemas.openxmlformats.org/drawingml/2006/main"/>
          <a:p xmlns:a="http://schemas.openxmlformats.org/drawingml/2006/main">
            <a:pPr algn="l">
              <a:defRPr sz="1575" b="1">
                <a:solidFill>
                  <a:srgbClr val="101B35"/>
                </a:solidFill>
                <a:latin typeface="Helvetica Neue"/>
                <a:ea typeface="Helvetica Neue"/>
                <a:cs typeface="Helvetica Neue"/>
              </a:defRPr>
            </a:pPr>
            <a:r>
              <a:rPr sz="1575" b="1">
                <a:solidFill>
                  <a:srgbClr val="101B35"/>
                </a:solidFill>
                <a:latin typeface="Helvetica Neue"/>
                <a:ea typeface="Helvetica Neue"/>
                <a:cs typeface="Helvetica Neue"/>
              </a:rPr>
              <a:t>Redis outage policy</a:t>
            </a:r>
          </a:p>
        </p:txBody>
      </p:sp>
      <p:sp>
        <p:nvSpPr>
          <p:cNvPr id="20" name="">
            <a:extLst xmlns:a="http://schemas.openxmlformats.org/drawingml/2006/main">
              <a:ext uri="{FF2B5EF4-FFF2-40B4-BE49-F238E27FC236}">
                <a16:creationId xmlns:a16="http://schemas.microsoft.com/office/drawing/2014/main" id="{46D21BC9-A6C1-48F2-B8C6-3018CF13284C}"/>
              </a:ext>
            </a:extLst>
          </p:cNvPr>
          <p:cNvSpPr>
            <a:spLocks xmlns:a="http://schemas.openxmlformats.org/drawingml/2006/main" noGrp="1"/>
          </p:cNvSpPr>
          <p:nvPr/>
        </p:nvSpPr>
        <p:spPr>
          <a:xfrm xmlns:a="http://schemas.openxmlformats.org/drawingml/2006/main">
            <a:off x="6229350" y="5048250"/>
            <a:ext cx="4714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368"/>
          </a:bodyPr>
          <a:lstStyle xmlns:a="http://schemas.openxmlformats.org/drawingml/2006/main"/>
          <a:p xmlns:a="http://schemas.openxmlformats.org/drawingml/2006/main">
            <a:pPr algn="l">
              <a:defRPr sz="1425" b="0">
                <a:solidFill>
                  <a:srgbClr val="18243B"/>
                </a:solidFill>
                <a:latin typeface="Helvetica Neue"/>
                <a:ea typeface="Helvetica Neue"/>
                <a:cs typeface="Helvetica Neue"/>
              </a:defRPr>
            </a:pPr>
            <a:r>
              <a:rPr sz="1425" b="0">
                <a:solidFill>
                  <a:srgbClr val="18243B"/>
                </a:solidFill>
                <a:latin typeface="Helvetica Neue"/>
                <a:ea typeface="Helvetica Neue"/>
                <a:cs typeface="Helvetica Neue"/>
              </a:rPr>
              <a:t>Fail open favors availability. Fail closed protects capacity but can reject valid requests.</a:t>
            </a:r>
          </a:p>
        </p:txBody>
      </p:sp>
    </p:spTree>
    <p:extLst>
      <p:ext uri="{BB962C8B-B14F-4D97-AF65-F5344CB8AC3E}">
        <p14:creationId xmlns:p14="http://schemas.microsoft.com/office/powerpoint/2010/main" val="831537629"/>
      </p:ext>
    </p:extLst>
  </p:cSld>
</p:sld>
</file>

<file path=ppt/slides/slide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52B7D9A-027F-4D2E-B076-DFFB072D607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6FE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F6C7CD5-EB9A-4120-BF2C-B44A5C1D9695}"/>
              </a:ext>
            </a:extLst>
          </p:cNvPr>
          <p:cNvSpPr>
            <a:spLocks xmlns:a="http://schemas.openxmlformats.org/drawingml/2006/main" noGrp="1"/>
          </p:cNvSpPr>
          <p:nvPr/>
        </p:nvSpPr>
        <p:spPr>
          <a:xfrm xmlns:a="http://schemas.openxmlformats.org/drawingml/2006/main">
            <a:off x="590550" y="323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139E91"/>
                </a:solidFill>
                <a:latin typeface="Helvetica Neue"/>
                <a:ea typeface="Helvetica Neue"/>
                <a:cs typeface="Helvetica Neue"/>
              </a:defRPr>
            </a:pPr>
            <a:r>
              <a:rPr sz="1125" b="1">
                <a:solidFill>
                  <a:srgbClr val="139E91"/>
                </a:solidFill>
                <a:latin typeface="Helvetica Neue"/>
                <a:ea typeface="Helvetica Neue"/>
                <a:cs typeface="Helvetica Neue"/>
              </a:rPr>
              <a:t>VERIFICATION</a:t>
            </a:r>
          </a:p>
        </p:txBody>
      </p:sp>
      <p:sp>
        <p:nvSpPr>
          <p:cNvPr id="3" name="slide-title">
            <a:extLst xmlns:a="http://schemas.openxmlformats.org/drawingml/2006/main">
              <a:ext uri="{FF2B5EF4-FFF2-40B4-BE49-F238E27FC236}">
                <a16:creationId xmlns:a16="http://schemas.microsoft.com/office/drawing/2014/main" id="{521569D5-57C0-44FE-B7B4-94ED99523F73}"/>
              </a:ext>
            </a:extLst>
          </p:cNvPr>
          <p:cNvSpPr>
            <a:spLocks xmlns:a="http://schemas.openxmlformats.org/drawingml/2006/main" noGrp="1"/>
          </p:cNvSpPr>
          <p:nvPr/>
        </p:nvSpPr>
        <p:spPr>
          <a:xfrm xmlns:a="http://schemas.openxmlformats.org/drawingml/2006/main">
            <a:off x="590550" y="628650"/>
            <a:ext cx="11010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3225" b="1">
                <a:solidFill>
                  <a:srgbClr val="101B35"/>
                </a:solidFill>
                <a:latin typeface="Helvetica Neue"/>
                <a:ea typeface="Helvetica Neue"/>
                <a:cs typeface="Helvetica Neue"/>
              </a:defRPr>
            </a:pPr>
            <a:r>
              <a:rPr sz="3225" b="1">
                <a:solidFill>
                  <a:srgbClr val="101B35"/>
                </a:solidFill>
                <a:latin typeface="Helvetica Neue"/>
                <a:ea typeface="Helvetica Neue"/>
                <a:cs typeface="Helvetica Neue"/>
              </a:rPr>
              <a:t>Testing strategy: assert invariants under contention</a:t>
            </a:r>
          </a:p>
        </p:txBody>
      </p:sp>
      <p:sp>
        <p:nvSpPr>
          <p:cNvPr id="4" name="">
            <a:extLst xmlns:a="http://schemas.openxmlformats.org/drawingml/2006/main">
              <a:ext uri="{FF2B5EF4-FFF2-40B4-BE49-F238E27FC236}">
                <a16:creationId xmlns:a16="http://schemas.microsoft.com/office/drawing/2014/main" id="{490BD0D5-3EC6-4BE9-AFF0-1ED60B17B6A9}"/>
              </a:ext>
            </a:extLst>
          </p:cNvPr>
          <p:cNvSpPr>
            <a:spLocks xmlns:a="http://schemas.openxmlformats.org/drawingml/2006/main" noGrp="1"/>
          </p:cNvSpPr>
          <p:nvPr/>
        </p:nvSpPr>
        <p:spPr>
          <a:xfrm xmlns:a="http://schemas.openxmlformats.org/drawingml/2006/main" flipH="0" flipV="0">
            <a:off x="590550" y="1381125"/>
            <a:ext cx="11010900" cy="9525"/>
          </a:xfrm>
          <a:prstGeom xmlns:a="http://schemas.openxmlformats.org/drawingml/2006/main" prst="line">
            <a:avLst/>
          </a:prstGeom>
          <a:noFill xmlns:a="http://schemas.openxmlformats.org/drawingml/2006/main"/>
          <a:ln xmlns:a="http://schemas.openxmlformats.org/drawingml/2006/main" w="9525">
            <a:solidFill>
              <a:srgbClr val="CCD5E3"/>
            </a:solidFill>
            <a:prstDash val="solid"/>
          </a:ln>
        </p:spPr>
      </p:sp>
      <p:sp>
        <p:nvSpPr>
          <p:cNvPr id="5" name="">
            <a:extLst xmlns:a="http://schemas.openxmlformats.org/drawingml/2006/main">
              <a:ext uri="{FF2B5EF4-FFF2-40B4-BE49-F238E27FC236}">
                <a16:creationId xmlns:a16="http://schemas.microsoft.com/office/drawing/2014/main" id="{D51F398D-1272-49F3-ADB1-E664101976B5}"/>
              </a:ext>
            </a:extLst>
          </p:cNvPr>
          <p:cNvSpPr>
            <a:spLocks xmlns:a="http://schemas.openxmlformats.org/drawingml/2006/main" noGrp="1"/>
          </p:cNvSpPr>
          <p:nvPr/>
        </p:nvSpPr>
        <p:spPr>
          <a:xfrm xmlns:a="http://schemas.openxmlformats.org/drawingml/2006/main">
            <a:off x="11220450" y="64198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1905"/>
          </a:bodyPr>
          <a:lstStyle xmlns:a="http://schemas.openxmlformats.org/drawingml/2006/main"/>
          <a:p xmlns:a="http://schemas.openxmlformats.org/drawingml/2006/main">
            <a:pPr algn="r">
              <a:defRPr sz="1050" b="1">
                <a:solidFill>
                  <a:srgbClr val="53627A"/>
                </a:solidFill>
                <a:latin typeface="Helvetica Neue"/>
                <a:ea typeface="Helvetica Neue"/>
                <a:cs typeface="Helvetica Neue"/>
              </a:defRPr>
            </a:pPr>
            <a:r>
              <a:rPr sz="1050" b="1">
                <a:solidFill>
                  <a:srgbClr val="53627A"/>
                </a:solidFill>
                <a:latin typeface="Helvetica Neue"/>
                <a:ea typeface="Helvetica Neue"/>
                <a:cs typeface="Helvetica Neue"/>
              </a:rPr>
              <a:t>08</a:t>
            </a:r>
          </a:p>
        </p:txBody>
      </p:sp>
      <p:sp>
        <p:nvSpPr>
          <p:cNvPr id="6" name="">
            <a:extLst xmlns:a="http://schemas.openxmlformats.org/drawingml/2006/main">
              <a:ext uri="{FF2B5EF4-FFF2-40B4-BE49-F238E27FC236}">
                <a16:creationId xmlns:a16="http://schemas.microsoft.com/office/drawing/2014/main" id="{B5D583E0-46DD-473B-BF81-EF1413ECE459}"/>
              </a:ext>
            </a:extLst>
          </p:cNvPr>
          <p:cNvSpPr>
            <a:spLocks xmlns:a="http://schemas.openxmlformats.org/drawingml/2006/main" noGrp="1"/>
          </p:cNvSpPr>
          <p:nvPr/>
        </p:nvSpPr>
        <p:spPr>
          <a:xfrm xmlns:a="http://schemas.openxmlformats.org/drawingml/2006/main">
            <a:off x="723900" y="177165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208"/>
          </a:bodyPr>
          <a:lstStyle xmlns:a="http://schemas.openxmlformats.org/drawingml/2006/main"/>
          <a:p xmlns:a="http://schemas.openxmlformats.org/drawingml/2006/main">
            <a:pPr algn="l">
              <a:defRPr sz="1200" b="1">
                <a:solidFill>
                  <a:srgbClr val="139E91"/>
                </a:solidFill>
                <a:latin typeface="Helvetica Neue"/>
                <a:ea typeface="Helvetica Neue"/>
                <a:cs typeface="Helvetica Neue"/>
              </a:defRPr>
            </a:pPr>
            <a:r>
              <a:rPr sz="1200" b="1">
                <a:solidFill>
                  <a:srgbClr val="139E91"/>
                </a:solidFill>
                <a:latin typeface="Helvetica Neue"/>
                <a:ea typeface="Helvetica Neue"/>
                <a:cs typeface="Helvetica Neue"/>
              </a:rPr>
              <a:t>TEST LAYERS</a:t>
            </a:r>
          </a:p>
        </p:txBody>
      </p:sp>
      <p:sp>
        <p:nvSpPr>
          <p:cNvPr id="7" name="">
            <a:extLst xmlns:a="http://schemas.openxmlformats.org/drawingml/2006/main">
              <a:ext uri="{FF2B5EF4-FFF2-40B4-BE49-F238E27FC236}">
                <a16:creationId xmlns:a16="http://schemas.microsoft.com/office/drawing/2014/main" id="{1CB0442C-9A1B-469C-9EF3-9759105651C6}"/>
              </a:ext>
            </a:extLst>
          </p:cNvPr>
          <p:cNvSpPr>
            <a:spLocks xmlns:a="http://schemas.openxmlformats.org/drawingml/2006/main" noGrp="1"/>
          </p:cNvSpPr>
          <p:nvPr/>
        </p:nvSpPr>
        <p:spPr>
          <a:xfrm xmlns:a="http://schemas.openxmlformats.org/drawingml/2006/main" flipH="0" flipV="0">
            <a:off x="1171575" y="5191125"/>
            <a:ext cx="9829800" cy="9525"/>
          </a:xfrm>
          <a:prstGeom xmlns:a="http://schemas.openxmlformats.org/drawingml/2006/main" prst="line">
            <a:avLst/>
          </a:prstGeom>
          <a:noFill xmlns:a="http://schemas.openxmlformats.org/drawingml/2006/main"/>
          <a:ln xmlns:a="http://schemas.openxmlformats.org/drawingml/2006/main" w="28575">
            <a:solidFill>
              <a:srgbClr val="CCD5E3"/>
            </a:solidFill>
            <a:prstDash val="solid"/>
          </a:ln>
        </p:spPr>
      </p:sp>
      <p:sp>
        <p:nvSpPr>
          <p:cNvPr id="8" name="">
            <a:extLst xmlns:a="http://schemas.openxmlformats.org/drawingml/2006/main">
              <a:ext uri="{FF2B5EF4-FFF2-40B4-BE49-F238E27FC236}">
                <a16:creationId xmlns:a16="http://schemas.microsoft.com/office/drawing/2014/main" id="{FA4F953F-DF26-475C-A6BB-2E8A5981891D}"/>
              </a:ext>
            </a:extLst>
          </p:cNvPr>
          <p:cNvSpPr>
            <a:spLocks xmlns:a="http://schemas.openxmlformats.org/drawingml/2006/main" noGrp="1"/>
          </p:cNvSpPr>
          <p:nvPr/>
        </p:nvSpPr>
        <p:spPr>
          <a:xfrm xmlns:a="http://schemas.openxmlformats.org/drawingml/2006/main">
            <a:off x="952500" y="2343150"/>
            <a:ext cx="2524125" cy="76200"/>
          </a:xfrm>
          <a:prstGeom xmlns:a="http://schemas.openxmlformats.org/drawingml/2006/main" prst="rect">
            <a:avLst/>
          </a:prstGeom>
          <a:solidFill xmlns:a="http://schemas.openxmlformats.org/drawingml/2006/main">
            <a:srgbClr val="2F6FE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9F914EC-A101-46DA-A098-052AEDA15206}"/>
              </a:ext>
            </a:extLst>
          </p:cNvPr>
          <p:cNvSpPr>
            <a:spLocks xmlns:a="http://schemas.openxmlformats.org/drawingml/2006/main" noGrp="1"/>
          </p:cNvSpPr>
          <p:nvPr/>
        </p:nvSpPr>
        <p:spPr>
          <a:xfrm xmlns:a="http://schemas.openxmlformats.org/drawingml/2006/main">
            <a:off x="952500" y="2647950"/>
            <a:ext cx="2524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l">
              <a:defRPr sz="1875" b="1">
                <a:solidFill>
                  <a:srgbClr val="101B35"/>
                </a:solidFill>
                <a:latin typeface="Helvetica Neue"/>
                <a:ea typeface="Helvetica Neue"/>
                <a:cs typeface="Helvetica Neue"/>
              </a:defRPr>
            </a:pPr>
            <a:r>
              <a:rPr sz="1875" b="1">
                <a:solidFill>
                  <a:srgbClr val="101B35"/>
                </a:solidFill>
                <a:latin typeface="Helvetica Neue"/>
                <a:ea typeface="Helvetica Neue"/>
                <a:cs typeface="Helvetica Neue"/>
              </a:rPr>
              <a:t>Unit</a:t>
            </a:r>
          </a:p>
        </p:txBody>
      </p:sp>
      <p:sp>
        <p:nvSpPr>
          <p:cNvPr id="10" name="">
            <a:extLst xmlns:a="http://schemas.openxmlformats.org/drawingml/2006/main">
              <a:ext uri="{FF2B5EF4-FFF2-40B4-BE49-F238E27FC236}">
                <a16:creationId xmlns:a16="http://schemas.microsoft.com/office/drawing/2014/main" id="{8BFF67B2-55FF-4125-B26B-ABBCBF9DA41E}"/>
              </a:ext>
            </a:extLst>
          </p:cNvPr>
          <p:cNvSpPr>
            <a:spLocks xmlns:a="http://schemas.openxmlformats.org/drawingml/2006/main" noGrp="1"/>
          </p:cNvSpPr>
          <p:nvPr/>
        </p:nvSpPr>
        <p:spPr>
          <a:xfrm xmlns:a="http://schemas.openxmlformats.org/drawingml/2006/main">
            <a:off x="952500" y="3038475"/>
            <a:ext cx="2524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2F6FED"/>
                </a:solidFill>
                <a:latin typeface="Helvetica Neue"/>
                <a:ea typeface="Helvetica Neue"/>
                <a:cs typeface="Helvetica Neue"/>
              </a:defRPr>
            </a:pPr>
            <a:r>
              <a:rPr sz="1350" b="1">
                <a:solidFill>
                  <a:srgbClr val="2F6FED"/>
                </a:solidFill>
                <a:latin typeface="Helvetica Neue"/>
                <a:ea typeface="Helvetica Neue"/>
                <a:cs typeface="Helvetica Neue"/>
              </a:rPr>
              <a:t>JUnit 5 + Mockito</a:t>
            </a:r>
          </a:p>
        </p:txBody>
      </p:sp>
      <p:sp>
        <p:nvSpPr>
          <p:cNvPr id="11" name="">
            <a:extLst xmlns:a="http://schemas.openxmlformats.org/drawingml/2006/main">
              <a:ext uri="{FF2B5EF4-FFF2-40B4-BE49-F238E27FC236}">
                <a16:creationId xmlns:a16="http://schemas.microsoft.com/office/drawing/2014/main" id="{51B36E6E-0876-43BF-A073-458DB3E7AFDF}"/>
              </a:ext>
            </a:extLst>
          </p:cNvPr>
          <p:cNvSpPr>
            <a:spLocks xmlns:a="http://schemas.openxmlformats.org/drawingml/2006/main" noGrp="1"/>
          </p:cNvSpPr>
          <p:nvPr/>
        </p:nvSpPr>
        <p:spPr>
          <a:xfrm xmlns:a="http://schemas.openxmlformats.org/drawingml/2006/main">
            <a:off x="952500" y="3476625"/>
            <a:ext cx="252412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8243B"/>
                </a:solidFill>
                <a:latin typeface="Helvetica Neue"/>
                <a:ea typeface="Helvetica Neue"/>
                <a:cs typeface="Helvetica Neue"/>
              </a:defRPr>
            </a:pPr>
            <a:r>
              <a:rPr sz="1500" b="0">
                <a:solidFill>
                  <a:srgbClr val="18243B"/>
                </a:solidFill>
                <a:latin typeface="Helvetica Neue"/>
                <a:ea typeface="Helvetica Neue"/>
                <a:cs typeface="Helvetica Neue"/>
              </a:rPr>
              <a:t>Business rules</a:t>
            </a:r>
          </a:p>
          <a:p xmlns:a="http://schemas.openxmlformats.org/drawingml/2006/main">
            <a:pPr algn="l">
              <a:defRPr sz="1500" b="0">
                <a:solidFill>
                  <a:srgbClr val="18243B"/>
                </a:solidFill>
                <a:latin typeface="Helvetica Neue"/>
                <a:ea typeface="Helvetica Neue"/>
                <a:cs typeface="Helvetica Neue"/>
              </a:defRPr>
            </a:pPr>
            <a:r>
              <a:rPr sz="1500" b="0">
                <a:solidFill>
                  <a:srgbClr val="18243B"/>
                </a:solidFill>
                <a:latin typeface="Helvetica Neue"/>
                <a:ea typeface="Helvetica Neue"/>
                <a:cs typeface="Helvetica Neue"/>
              </a:rPr>
              <a:t>insufficient funds</a:t>
            </a:r>
          </a:p>
          <a:p xmlns:a="http://schemas.openxmlformats.org/drawingml/2006/main">
            <a:pPr algn="l">
              <a:defRPr sz="1500" b="0">
                <a:solidFill>
                  <a:srgbClr val="18243B"/>
                </a:solidFill>
                <a:latin typeface="Helvetica Neue"/>
                <a:ea typeface="Helvetica Neue"/>
                <a:cs typeface="Helvetica Neue"/>
              </a:defRPr>
            </a:pPr>
            <a:r>
              <a:rPr sz="1500" b="0">
                <a:solidFill>
                  <a:srgbClr val="18243B"/>
                </a:solidFill>
                <a:latin typeface="Helvetica Neue"/>
                <a:ea typeface="Helvetica Neue"/>
                <a:cs typeface="Helvetica Neue"/>
              </a:rPr>
              <a:t>error mapping</a:t>
            </a:r>
          </a:p>
        </p:txBody>
      </p:sp>
      <p:sp>
        <p:nvSpPr>
          <p:cNvPr id="12" name="">
            <a:extLst xmlns:a="http://schemas.openxmlformats.org/drawingml/2006/main">
              <a:ext uri="{FF2B5EF4-FFF2-40B4-BE49-F238E27FC236}">
                <a16:creationId xmlns:a16="http://schemas.microsoft.com/office/drawing/2014/main" id="{CD7A78D4-E1A4-4128-B139-FE7E5563F797}"/>
              </a:ext>
            </a:extLst>
          </p:cNvPr>
          <p:cNvSpPr>
            <a:spLocks xmlns:a="http://schemas.openxmlformats.org/drawingml/2006/main" noGrp="1"/>
          </p:cNvSpPr>
          <p:nvPr/>
        </p:nvSpPr>
        <p:spPr>
          <a:xfrm xmlns:a="http://schemas.openxmlformats.org/drawingml/2006/main">
            <a:off x="1047750" y="5076825"/>
            <a:ext cx="247650" cy="247650"/>
          </a:xfrm>
          <a:prstGeom xmlns:a="http://schemas.openxmlformats.org/drawingml/2006/main" prst="ellipse">
            <a:avLst/>
          </a:prstGeom>
          <a:solidFill xmlns:a="http://schemas.openxmlformats.org/drawingml/2006/main">
            <a:srgbClr val="2F6FE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F9BDAA2-D304-4DB7-828A-B6474815D98A}"/>
              </a:ext>
            </a:extLst>
          </p:cNvPr>
          <p:cNvSpPr>
            <a:spLocks xmlns:a="http://schemas.openxmlformats.org/drawingml/2006/main" noGrp="1"/>
          </p:cNvSpPr>
          <p:nvPr/>
        </p:nvSpPr>
        <p:spPr>
          <a:xfrm xmlns:a="http://schemas.openxmlformats.org/drawingml/2006/main">
            <a:off x="4248150" y="2343150"/>
            <a:ext cx="3238500" cy="76200"/>
          </a:xfrm>
          <a:prstGeom xmlns:a="http://schemas.openxmlformats.org/drawingml/2006/main" prst="rect">
            <a:avLst/>
          </a:prstGeom>
          <a:solidFill xmlns:a="http://schemas.openxmlformats.org/drawingml/2006/main">
            <a:srgbClr val="139E9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FC191F2-2B28-477D-82E6-A420D5F89EA5}"/>
              </a:ext>
            </a:extLst>
          </p:cNvPr>
          <p:cNvSpPr>
            <a:spLocks xmlns:a="http://schemas.openxmlformats.org/drawingml/2006/main" noGrp="1"/>
          </p:cNvSpPr>
          <p:nvPr/>
        </p:nvSpPr>
        <p:spPr>
          <a:xfrm xmlns:a="http://schemas.openxmlformats.org/drawingml/2006/main">
            <a:off x="4248150" y="2647950"/>
            <a:ext cx="3238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l">
              <a:defRPr sz="1875" b="1">
                <a:solidFill>
                  <a:srgbClr val="101B35"/>
                </a:solidFill>
                <a:latin typeface="Helvetica Neue"/>
                <a:ea typeface="Helvetica Neue"/>
                <a:cs typeface="Helvetica Neue"/>
              </a:defRPr>
            </a:pPr>
            <a:r>
              <a:rPr sz="1875" b="1">
                <a:solidFill>
                  <a:srgbClr val="101B35"/>
                </a:solidFill>
                <a:latin typeface="Helvetica Neue"/>
                <a:ea typeface="Helvetica Neue"/>
                <a:cs typeface="Helvetica Neue"/>
              </a:rPr>
              <a:t>Integration</a:t>
            </a:r>
          </a:p>
        </p:txBody>
      </p:sp>
      <p:sp>
        <p:nvSpPr>
          <p:cNvPr id="15" name="">
            <a:extLst xmlns:a="http://schemas.openxmlformats.org/drawingml/2006/main">
              <a:ext uri="{FF2B5EF4-FFF2-40B4-BE49-F238E27FC236}">
                <a16:creationId xmlns:a16="http://schemas.microsoft.com/office/drawing/2014/main" id="{D66249D9-4796-4ABA-8F2B-C1FA5B85F1F1}"/>
              </a:ext>
            </a:extLst>
          </p:cNvPr>
          <p:cNvSpPr>
            <a:spLocks xmlns:a="http://schemas.openxmlformats.org/drawingml/2006/main" noGrp="1"/>
          </p:cNvSpPr>
          <p:nvPr/>
        </p:nvSpPr>
        <p:spPr>
          <a:xfrm xmlns:a="http://schemas.openxmlformats.org/drawingml/2006/main">
            <a:off x="4248150" y="303847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139E91"/>
                </a:solidFill>
                <a:latin typeface="Helvetica Neue"/>
                <a:ea typeface="Helvetica Neue"/>
                <a:cs typeface="Helvetica Neue"/>
              </a:defRPr>
            </a:pPr>
            <a:r>
              <a:rPr sz="1350" b="1">
                <a:solidFill>
                  <a:srgbClr val="139E91"/>
                </a:solidFill>
                <a:latin typeface="Helvetica Neue"/>
                <a:ea typeface="Helvetica Neue"/>
                <a:cs typeface="Helvetica Neue"/>
              </a:rPr>
              <a:t>Real database boundaries</a:t>
            </a:r>
          </a:p>
        </p:txBody>
      </p:sp>
      <p:sp>
        <p:nvSpPr>
          <p:cNvPr id="16" name="">
            <a:extLst xmlns:a="http://schemas.openxmlformats.org/drawingml/2006/main">
              <a:ext uri="{FF2B5EF4-FFF2-40B4-BE49-F238E27FC236}">
                <a16:creationId xmlns:a16="http://schemas.microsoft.com/office/drawing/2014/main" id="{95CE9C53-565A-4212-B3FE-5E67FEF9AAE4}"/>
              </a:ext>
            </a:extLst>
          </p:cNvPr>
          <p:cNvSpPr>
            <a:spLocks xmlns:a="http://schemas.openxmlformats.org/drawingml/2006/main" noGrp="1"/>
          </p:cNvSpPr>
          <p:nvPr/>
        </p:nvSpPr>
        <p:spPr>
          <a:xfrm xmlns:a="http://schemas.openxmlformats.org/drawingml/2006/main">
            <a:off x="4248150" y="3476625"/>
            <a:ext cx="32385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8243B"/>
                </a:solidFill>
                <a:latin typeface="Helvetica Neue"/>
                <a:ea typeface="Helvetica Neue"/>
                <a:cs typeface="Helvetica Neue"/>
              </a:defRPr>
            </a:pPr>
            <a:r>
              <a:rPr sz="1500" b="0">
                <a:solidFill>
                  <a:srgbClr val="18243B"/>
                </a:solidFill>
                <a:latin typeface="Helvetica Neue"/>
                <a:ea typeface="Helvetica Neue"/>
                <a:cs typeface="Helvetica Neue"/>
              </a:rPr>
              <a:t>Transactions</a:t>
            </a:r>
          </a:p>
          <a:p xmlns:a="http://schemas.openxmlformats.org/drawingml/2006/main">
            <a:pPr algn="l">
              <a:defRPr sz="1500" b="0">
                <a:solidFill>
                  <a:srgbClr val="18243B"/>
                </a:solidFill>
                <a:latin typeface="Helvetica Neue"/>
                <a:ea typeface="Helvetica Neue"/>
                <a:cs typeface="Helvetica Neue"/>
              </a:defRPr>
            </a:pPr>
            <a:r>
              <a:rPr sz="1500" b="0">
                <a:solidFill>
                  <a:srgbClr val="18243B"/>
                </a:solidFill>
                <a:latin typeface="Helvetica Neue"/>
                <a:ea typeface="Helvetica Neue"/>
                <a:cs typeface="Helvetica Neue"/>
              </a:rPr>
              <a:t>constraints</a:t>
            </a:r>
          </a:p>
          <a:p xmlns:a="http://schemas.openxmlformats.org/drawingml/2006/main">
            <a:pPr algn="l">
              <a:defRPr sz="1500" b="0">
                <a:solidFill>
                  <a:srgbClr val="18243B"/>
                </a:solidFill>
                <a:latin typeface="Helvetica Neue"/>
                <a:ea typeface="Helvetica Neue"/>
                <a:cs typeface="Helvetica Neue"/>
              </a:defRPr>
            </a:pPr>
            <a:r>
              <a:rPr sz="1500" b="0">
                <a:solidFill>
                  <a:srgbClr val="18243B"/>
                </a:solidFill>
                <a:latin typeface="Helvetica Neue"/>
                <a:ea typeface="Helvetica Neue"/>
                <a:cs typeface="Helvetica Neue"/>
              </a:rPr>
              <a:t>row-lock behavior</a:t>
            </a:r>
          </a:p>
        </p:txBody>
      </p:sp>
      <p:sp>
        <p:nvSpPr>
          <p:cNvPr id="17" name="">
            <a:extLst xmlns:a="http://schemas.openxmlformats.org/drawingml/2006/main">
              <a:ext uri="{FF2B5EF4-FFF2-40B4-BE49-F238E27FC236}">
                <a16:creationId xmlns:a16="http://schemas.microsoft.com/office/drawing/2014/main" id="{6190BFF5-3106-48B9-BE4D-DBF9EDFB7A82}"/>
              </a:ext>
            </a:extLst>
          </p:cNvPr>
          <p:cNvSpPr>
            <a:spLocks xmlns:a="http://schemas.openxmlformats.org/drawingml/2006/main" noGrp="1"/>
          </p:cNvSpPr>
          <p:nvPr/>
        </p:nvSpPr>
        <p:spPr>
          <a:xfrm xmlns:a="http://schemas.openxmlformats.org/drawingml/2006/main">
            <a:off x="4343400" y="5076825"/>
            <a:ext cx="247650" cy="247650"/>
          </a:xfrm>
          <a:prstGeom xmlns:a="http://schemas.openxmlformats.org/drawingml/2006/main" prst="ellipse">
            <a:avLst/>
          </a:prstGeom>
          <a:solidFill xmlns:a="http://schemas.openxmlformats.org/drawingml/2006/main">
            <a:srgbClr val="139E9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3977F8D-2386-4DD9-BA88-21970DF86D8E}"/>
              </a:ext>
            </a:extLst>
          </p:cNvPr>
          <p:cNvSpPr>
            <a:spLocks xmlns:a="http://schemas.openxmlformats.org/drawingml/2006/main" noGrp="1"/>
          </p:cNvSpPr>
          <p:nvPr/>
        </p:nvSpPr>
        <p:spPr>
          <a:xfrm xmlns:a="http://schemas.openxmlformats.org/drawingml/2006/main">
            <a:off x="7981950" y="2343150"/>
            <a:ext cx="3238500" cy="76200"/>
          </a:xfrm>
          <a:prstGeom xmlns:a="http://schemas.openxmlformats.org/drawingml/2006/main" prst="rect">
            <a:avLst/>
          </a:prstGeom>
          <a:solidFill xmlns:a="http://schemas.openxmlformats.org/drawingml/2006/main">
            <a:srgbClr val="E9A52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13423E4-D7B2-4F4F-BD1F-E75D0821C502}"/>
              </a:ext>
            </a:extLst>
          </p:cNvPr>
          <p:cNvSpPr>
            <a:spLocks xmlns:a="http://schemas.openxmlformats.org/drawingml/2006/main" noGrp="1"/>
          </p:cNvSpPr>
          <p:nvPr/>
        </p:nvSpPr>
        <p:spPr>
          <a:xfrm xmlns:a="http://schemas.openxmlformats.org/drawingml/2006/main">
            <a:off x="7981950" y="2647950"/>
            <a:ext cx="3238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l">
              <a:defRPr sz="1875" b="1">
                <a:solidFill>
                  <a:srgbClr val="101B35"/>
                </a:solidFill>
                <a:latin typeface="Helvetica Neue"/>
                <a:ea typeface="Helvetica Neue"/>
                <a:cs typeface="Helvetica Neue"/>
              </a:defRPr>
            </a:pPr>
            <a:r>
              <a:rPr sz="1875" b="1">
                <a:solidFill>
                  <a:srgbClr val="101B35"/>
                </a:solidFill>
                <a:latin typeface="Helvetica Neue"/>
                <a:ea typeface="Helvetica Neue"/>
                <a:cs typeface="Helvetica Neue"/>
              </a:rPr>
              <a:t>Concurrency + load</a:t>
            </a:r>
          </a:p>
        </p:txBody>
      </p:sp>
      <p:sp>
        <p:nvSpPr>
          <p:cNvPr id="20" name="">
            <a:extLst xmlns:a="http://schemas.openxmlformats.org/drawingml/2006/main">
              <a:ext uri="{FF2B5EF4-FFF2-40B4-BE49-F238E27FC236}">
                <a16:creationId xmlns:a16="http://schemas.microsoft.com/office/drawing/2014/main" id="{C2F97C9E-103D-42C8-8AD5-A1ADF6FB7E99}"/>
              </a:ext>
            </a:extLst>
          </p:cNvPr>
          <p:cNvSpPr>
            <a:spLocks xmlns:a="http://schemas.openxmlformats.org/drawingml/2006/main" noGrp="1"/>
          </p:cNvSpPr>
          <p:nvPr/>
        </p:nvSpPr>
        <p:spPr>
          <a:xfrm xmlns:a="http://schemas.openxmlformats.org/drawingml/2006/main">
            <a:off x="7981950" y="303847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E9A52B"/>
                </a:solidFill>
                <a:latin typeface="Helvetica Neue"/>
                <a:ea typeface="Helvetica Neue"/>
                <a:cs typeface="Helvetica Neue"/>
              </a:defRPr>
            </a:pPr>
            <a:r>
              <a:rPr sz="1350" b="1">
                <a:solidFill>
                  <a:srgbClr val="E9A52B"/>
                </a:solidFill>
                <a:latin typeface="Helvetica Neue"/>
                <a:ea typeface="Helvetica Neue"/>
                <a:cs typeface="Helvetica Neue"/>
              </a:rPr>
              <a:t>Threads and connection pools</a:t>
            </a:r>
          </a:p>
        </p:txBody>
      </p:sp>
      <p:sp>
        <p:nvSpPr>
          <p:cNvPr id="21" name="">
            <a:extLst xmlns:a="http://schemas.openxmlformats.org/drawingml/2006/main">
              <a:ext uri="{FF2B5EF4-FFF2-40B4-BE49-F238E27FC236}">
                <a16:creationId xmlns:a16="http://schemas.microsoft.com/office/drawing/2014/main" id="{F2D9BAB2-F998-431E-A0B1-B9DB87A71489}"/>
              </a:ext>
            </a:extLst>
          </p:cNvPr>
          <p:cNvSpPr>
            <a:spLocks xmlns:a="http://schemas.openxmlformats.org/drawingml/2006/main" noGrp="1"/>
          </p:cNvSpPr>
          <p:nvPr/>
        </p:nvSpPr>
        <p:spPr>
          <a:xfrm xmlns:a="http://schemas.openxmlformats.org/drawingml/2006/main">
            <a:off x="7981950" y="3476625"/>
            <a:ext cx="32385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8243B"/>
                </a:solidFill>
                <a:latin typeface="Helvetica Neue"/>
                <a:ea typeface="Helvetica Neue"/>
                <a:cs typeface="Helvetica Neue"/>
              </a:defRPr>
            </a:pPr>
            <a:r>
              <a:rPr sz="1500" b="0">
                <a:solidFill>
                  <a:srgbClr val="18243B"/>
                </a:solidFill>
                <a:latin typeface="Helvetica Neue"/>
                <a:ea typeface="Helvetica Neue"/>
                <a:cs typeface="Helvetica Neue"/>
              </a:rPr>
              <a:t>Overlapping transfers</a:t>
            </a:r>
          </a:p>
          <a:p xmlns:a="http://schemas.openxmlformats.org/drawingml/2006/main">
            <a:pPr algn="l">
              <a:defRPr sz="1500" b="0">
                <a:solidFill>
                  <a:srgbClr val="18243B"/>
                </a:solidFill>
                <a:latin typeface="Helvetica Neue"/>
                <a:ea typeface="Helvetica Neue"/>
                <a:cs typeface="Helvetica Neue"/>
              </a:defRPr>
            </a:pPr>
            <a:r>
              <a:rPr sz="1500" b="0">
                <a:solidFill>
                  <a:srgbClr val="18243B"/>
                </a:solidFill>
                <a:latin typeface="Helvetica Neue"/>
                <a:ea typeface="Helvetica Neue"/>
                <a:cs typeface="Helvetica Neue"/>
              </a:rPr>
              <a:t>duplicate retries</a:t>
            </a:r>
          </a:p>
          <a:p xmlns:a="http://schemas.openxmlformats.org/drawingml/2006/main">
            <a:pPr algn="l">
              <a:defRPr sz="1500" b="0">
                <a:solidFill>
                  <a:srgbClr val="18243B"/>
                </a:solidFill>
                <a:latin typeface="Helvetica Neue"/>
                <a:ea typeface="Helvetica Neue"/>
                <a:cs typeface="Helvetica Neue"/>
              </a:defRPr>
            </a:pPr>
            <a:r>
              <a:rPr sz="1500" b="0">
                <a:solidFill>
                  <a:srgbClr val="18243B"/>
                </a:solidFill>
                <a:latin typeface="Helvetica Neue"/>
                <a:ea typeface="Helvetica Neue"/>
                <a:cs typeface="Helvetica Neue"/>
              </a:rPr>
              <a:t>latency percentiles</a:t>
            </a:r>
          </a:p>
        </p:txBody>
      </p:sp>
      <p:sp>
        <p:nvSpPr>
          <p:cNvPr id="22" name="">
            <a:extLst xmlns:a="http://schemas.openxmlformats.org/drawingml/2006/main">
              <a:ext uri="{FF2B5EF4-FFF2-40B4-BE49-F238E27FC236}">
                <a16:creationId xmlns:a16="http://schemas.microsoft.com/office/drawing/2014/main" id="{8E968EF8-AB0E-4613-9B7B-33DDC85C60B3}"/>
              </a:ext>
            </a:extLst>
          </p:cNvPr>
          <p:cNvSpPr>
            <a:spLocks xmlns:a="http://schemas.openxmlformats.org/drawingml/2006/main" noGrp="1"/>
          </p:cNvSpPr>
          <p:nvPr/>
        </p:nvSpPr>
        <p:spPr>
          <a:xfrm xmlns:a="http://schemas.openxmlformats.org/drawingml/2006/main">
            <a:off x="8077200" y="5076825"/>
            <a:ext cx="247650" cy="247650"/>
          </a:xfrm>
          <a:prstGeom xmlns:a="http://schemas.openxmlformats.org/drawingml/2006/main" prst="ellipse">
            <a:avLst/>
          </a:prstGeom>
          <a:solidFill xmlns:a="http://schemas.openxmlformats.org/drawingml/2006/main">
            <a:srgbClr val="E9A52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65A26A6-81E3-4566-AFBD-45F7A8455C88}"/>
              </a:ext>
            </a:extLst>
          </p:cNvPr>
          <p:cNvSpPr>
            <a:spLocks xmlns:a="http://schemas.openxmlformats.org/drawingml/2006/main" noGrp="1"/>
          </p:cNvSpPr>
          <p:nvPr/>
        </p:nvSpPr>
        <p:spPr>
          <a:xfrm xmlns:a="http://schemas.openxmlformats.org/drawingml/2006/main">
            <a:off x="742950" y="561975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01B35"/>
                </a:solidFill>
                <a:latin typeface="Helvetica Neue"/>
                <a:ea typeface="Helvetica Neue"/>
                <a:cs typeface="Helvetica Neue"/>
              </a:defRPr>
            </a:pPr>
            <a:r>
              <a:rPr sz="1575" b="1">
                <a:solidFill>
                  <a:srgbClr val="101B35"/>
                </a:solidFill>
                <a:latin typeface="Helvetica Neue"/>
                <a:ea typeface="Helvetica Neue"/>
                <a:cs typeface="Helvetica Neue"/>
              </a:rPr>
              <a:t>Invariant: completed transfers conserve value and never debit below the permitted balance.</a:t>
            </a:r>
          </a:p>
        </p:txBody>
      </p:sp>
      <p:sp>
        <p:nvSpPr>
          <p:cNvPr id="24" name="">
            <a:extLst xmlns:a="http://schemas.openxmlformats.org/drawingml/2006/main">
              <a:ext uri="{FF2B5EF4-FFF2-40B4-BE49-F238E27FC236}">
                <a16:creationId xmlns:a16="http://schemas.microsoft.com/office/drawing/2014/main" id="{B111F503-F90D-4FEF-A086-BA1C7A875D38}"/>
              </a:ext>
            </a:extLst>
          </p:cNvPr>
          <p:cNvSpPr>
            <a:spLocks xmlns:a="http://schemas.openxmlformats.org/drawingml/2006/main" noGrp="1"/>
          </p:cNvSpPr>
          <p:nvPr/>
        </p:nvSpPr>
        <p:spPr>
          <a:xfrm xmlns:a="http://schemas.openxmlformats.org/drawingml/2006/main">
            <a:off x="742950" y="6010275"/>
            <a:ext cx="10477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294"/>
          </a:bodyPr>
          <a:lstStyle xmlns:a="http://schemas.openxmlformats.org/drawingml/2006/main"/>
          <a:p xmlns:a="http://schemas.openxmlformats.org/drawingml/2006/main">
            <a:pPr algn="l">
              <a:defRPr sz="1275" b="0">
                <a:solidFill>
                  <a:srgbClr val="53627A"/>
                </a:solidFill>
                <a:latin typeface="Helvetica Neue"/>
                <a:ea typeface="Helvetica Neue"/>
                <a:cs typeface="Helvetica Neue"/>
              </a:defRPr>
            </a:pPr>
            <a:r>
              <a:rPr sz="1275" b="0">
                <a:solidFill>
                  <a:srgbClr val="53627A"/>
                </a:solidFill>
                <a:latin typeface="Helvetica Neue"/>
                <a:ea typeface="Helvetica Neue"/>
                <a:cs typeface="Helvetica Neue"/>
              </a:rPr>
              <a:t>Report workload, hardware, concurrency, and p95/p99 latency with any throughput result.</a:t>
            </a:r>
          </a:p>
        </p:txBody>
      </p:sp>
    </p:spTree>
    <p:extLst>
      <p:ext uri="{BB962C8B-B14F-4D97-AF65-F5344CB8AC3E}">
        <p14:creationId xmlns:p14="http://schemas.microsoft.com/office/powerpoint/2010/main" val="1235119809"/>
      </p:ext>
    </p:extLst>
  </p:cSld>
</p:sld>
</file>

<file path=ppt/slides/slide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5DDBF968-8DD5-43E3-8878-81C65E0545C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6FE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35AEDE2-C64B-4F72-B2A3-7F868F8B5F86}"/>
              </a:ext>
            </a:extLst>
          </p:cNvPr>
          <p:cNvSpPr>
            <a:spLocks xmlns:a="http://schemas.openxmlformats.org/drawingml/2006/main" noGrp="1"/>
          </p:cNvSpPr>
          <p:nvPr/>
        </p:nvSpPr>
        <p:spPr>
          <a:xfrm xmlns:a="http://schemas.openxmlformats.org/drawingml/2006/main">
            <a:off x="590550" y="323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139E91"/>
                </a:solidFill>
                <a:latin typeface="Helvetica Neue"/>
                <a:ea typeface="Helvetica Neue"/>
                <a:cs typeface="Helvetica Neue"/>
              </a:defRPr>
            </a:pPr>
            <a:r>
              <a:rPr sz="1125" b="1">
                <a:solidFill>
                  <a:srgbClr val="139E91"/>
                </a:solidFill>
                <a:latin typeface="Helvetica Neue"/>
                <a:ea typeface="Helvetica Neue"/>
                <a:cs typeface="Helvetica Neue"/>
              </a:rPr>
              <a:t>TRADE-OFFS AND ROADMAP</a:t>
            </a:r>
          </a:p>
        </p:txBody>
      </p:sp>
      <p:sp>
        <p:nvSpPr>
          <p:cNvPr id="3" name="slide-title">
            <a:extLst xmlns:a="http://schemas.openxmlformats.org/drawingml/2006/main">
              <a:ext uri="{FF2B5EF4-FFF2-40B4-BE49-F238E27FC236}">
                <a16:creationId xmlns:a16="http://schemas.microsoft.com/office/drawing/2014/main" id="{BFBB183A-DBE8-4AD1-9B16-E62B343F9C2A}"/>
              </a:ext>
            </a:extLst>
          </p:cNvPr>
          <p:cNvSpPr>
            <a:spLocks xmlns:a="http://schemas.openxmlformats.org/drawingml/2006/main" noGrp="1"/>
          </p:cNvSpPr>
          <p:nvPr/>
        </p:nvSpPr>
        <p:spPr>
          <a:xfrm xmlns:a="http://schemas.openxmlformats.org/drawingml/2006/main">
            <a:off x="590550" y="628650"/>
            <a:ext cx="11010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3225" b="1">
                <a:solidFill>
                  <a:srgbClr val="101B35"/>
                </a:solidFill>
                <a:latin typeface="Helvetica Neue"/>
                <a:ea typeface="Helvetica Neue"/>
                <a:cs typeface="Helvetica Neue"/>
              </a:defRPr>
            </a:pPr>
            <a:r>
              <a:rPr sz="3225" b="1">
                <a:solidFill>
                  <a:srgbClr val="101B35"/>
                </a:solidFill>
                <a:latin typeface="Helvetica Neue"/>
                <a:ea typeface="Helvetica Neue"/>
                <a:cs typeface="Helvetica Neue"/>
              </a:rPr>
              <a:t>Known limits and the next engineering steps</a:t>
            </a:r>
          </a:p>
        </p:txBody>
      </p:sp>
      <p:sp>
        <p:nvSpPr>
          <p:cNvPr id="4" name="">
            <a:extLst xmlns:a="http://schemas.openxmlformats.org/drawingml/2006/main">
              <a:ext uri="{FF2B5EF4-FFF2-40B4-BE49-F238E27FC236}">
                <a16:creationId xmlns:a16="http://schemas.microsoft.com/office/drawing/2014/main" id="{A64BE394-AB49-4FFF-888F-E6AB046B6D96}"/>
              </a:ext>
            </a:extLst>
          </p:cNvPr>
          <p:cNvSpPr>
            <a:spLocks xmlns:a="http://schemas.openxmlformats.org/drawingml/2006/main" noGrp="1"/>
          </p:cNvSpPr>
          <p:nvPr/>
        </p:nvSpPr>
        <p:spPr>
          <a:xfrm xmlns:a="http://schemas.openxmlformats.org/drawingml/2006/main" flipH="0" flipV="0">
            <a:off x="590550" y="1381125"/>
            <a:ext cx="11010900" cy="9525"/>
          </a:xfrm>
          <a:prstGeom xmlns:a="http://schemas.openxmlformats.org/drawingml/2006/main" prst="line">
            <a:avLst/>
          </a:prstGeom>
          <a:noFill xmlns:a="http://schemas.openxmlformats.org/drawingml/2006/main"/>
          <a:ln xmlns:a="http://schemas.openxmlformats.org/drawingml/2006/main" w="9525">
            <a:solidFill>
              <a:srgbClr val="CCD5E3"/>
            </a:solidFill>
            <a:prstDash val="solid"/>
          </a:ln>
        </p:spPr>
      </p:sp>
      <p:sp>
        <p:nvSpPr>
          <p:cNvPr id="5" name="">
            <a:extLst xmlns:a="http://schemas.openxmlformats.org/drawingml/2006/main">
              <a:ext uri="{FF2B5EF4-FFF2-40B4-BE49-F238E27FC236}">
                <a16:creationId xmlns:a16="http://schemas.microsoft.com/office/drawing/2014/main" id="{C38FDE2F-619E-438C-8DB4-441544238C1C}"/>
              </a:ext>
            </a:extLst>
          </p:cNvPr>
          <p:cNvSpPr>
            <a:spLocks xmlns:a="http://schemas.openxmlformats.org/drawingml/2006/main" noGrp="1"/>
          </p:cNvSpPr>
          <p:nvPr/>
        </p:nvSpPr>
        <p:spPr>
          <a:xfrm xmlns:a="http://schemas.openxmlformats.org/drawingml/2006/main">
            <a:off x="11220450" y="64198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1905"/>
          </a:bodyPr>
          <a:lstStyle xmlns:a="http://schemas.openxmlformats.org/drawingml/2006/main"/>
          <a:p xmlns:a="http://schemas.openxmlformats.org/drawingml/2006/main">
            <a:pPr algn="r">
              <a:defRPr sz="1050" b="1">
                <a:solidFill>
                  <a:srgbClr val="53627A"/>
                </a:solidFill>
                <a:latin typeface="Helvetica Neue"/>
                <a:ea typeface="Helvetica Neue"/>
                <a:cs typeface="Helvetica Neue"/>
              </a:defRPr>
            </a:pPr>
            <a:r>
              <a:rPr sz="1050" b="1">
                <a:solidFill>
                  <a:srgbClr val="53627A"/>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E2923F29-FD54-469D-95FE-6541A2309C68}"/>
              </a:ext>
            </a:extLst>
          </p:cNvPr>
          <p:cNvSpPr>
            <a:spLocks xmlns:a="http://schemas.openxmlformats.org/drawingml/2006/main" noGrp="1"/>
          </p:cNvSpPr>
          <p:nvPr/>
        </p:nvSpPr>
        <p:spPr>
          <a:xfrm xmlns:a="http://schemas.openxmlformats.org/drawingml/2006/main">
            <a:off x="742950" y="175260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53627A"/>
                </a:solidFill>
                <a:latin typeface="Helvetica Neue"/>
                <a:ea typeface="Helvetica Neue"/>
                <a:cs typeface="Helvetica Neue"/>
              </a:defRPr>
            </a:pPr>
            <a:r>
              <a:rPr sz="1125" b="1">
                <a:solidFill>
                  <a:srgbClr val="53627A"/>
                </a:solidFill>
                <a:latin typeface="Helvetica Neue"/>
                <a:ea typeface="Helvetica Neue"/>
                <a:cs typeface="Helvetica Neue"/>
              </a:rPr>
              <a:t>PRESSURE POINT</a:t>
            </a:r>
          </a:p>
        </p:txBody>
      </p:sp>
      <p:sp>
        <p:nvSpPr>
          <p:cNvPr id="7" name="">
            <a:extLst xmlns:a="http://schemas.openxmlformats.org/drawingml/2006/main">
              <a:ext uri="{FF2B5EF4-FFF2-40B4-BE49-F238E27FC236}">
                <a16:creationId xmlns:a16="http://schemas.microsoft.com/office/drawing/2014/main" id="{EDB33170-F16B-41B8-B59C-07D50F49E37C}"/>
              </a:ext>
            </a:extLst>
          </p:cNvPr>
          <p:cNvSpPr>
            <a:spLocks xmlns:a="http://schemas.openxmlformats.org/drawingml/2006/main" noGrp="1"/>
          </p:cNvSpPr>
          <p:nvPr/>
        </p:nvSpPr>
        <p:spPr>
          <a:xfrm xmlns:a="http://schemas.openxmlformats.org/drawingml/2006/main">
            <a:off x="4229100" y="17526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53627A"/>
                </a:solidFill>
                <a:latin typeface="Helvetica Neue"/>
                <a:ea typeface="Helvetica Neue"/>
                <a:cs typeface="Helvetica Neue"/>
              </a:defRPr>
            </a:pPr>
            <a:r>
              <a:rPr sz="1125" b="1">
                <a:solidFill>
                  <a:srgbClr val="53627A"/>
                </a:solidFill>
                <a:latin typeface="Helvetica Neue"/>
                <a:ea typeface="Helvetica Neue"/>
                <a:cs typeface="Helvetica Neue"/>
              </a:rPr>
              <a:t>WHY IT MATTERS</a:t>
            </a:r>
          </a:p>
        </p:txBody>
      </p:sp>
      <p:sp>
        <p:nvSpPr>
          <p:cNvPr id="8" name="">
            <a:extLst xmlns:a="http://schemas.openxmlformats.org/drawingml/2006/main">
              <a:ext uri="{FF2B5EF4-FFF2-40B4-BE49-F238E27FC236}">
                <a16:creationId xmlns:a16="http://schemas.microsoft.com/office/drawing/2014/main" id="{254AC01E-3865-44C7-B2B5-A7FAEE221600}"/>
              </a:ext>
            </a:extLst>
          </p:cNvPr>
          <p:cNvSpPr>
            <a:spLocks xmlns:a="http://schemas.openxmlformats.org/drawingml/2006/main" noGrp="1"/>
          </p:cNvSpPr>
          <p:nvPr/>
        </p:nvSpPr>
        <p:spPr>
          <a:xfrm xmlns:a="http://schemas.openxmlformats.org/drawingml/2006/main">
            <a:off x="8010525" y="17526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53627A"/>
                </a:solidFill>
                <a:latin typeface="Helvetica Neue"/>
                <a:ea typeface="Helvetica Neue"/>
                <a:cs typeface="Helvetica Neue"/>
              </a:defRPr>
            </a:pPr>
            <a:r>
              <a:rPr sz="1125" b="1">
                <a:solidFill>
                  <a:srgbClr val="53627A"/>
                </a:solidFill>
                <a:latin typeface="Helvetica Neue"/>
                <a:ea typeface="Helvetica Neue"/>
                <a:cs typeface="Helvetica Neue"/>
              </a:rPr>
              <a:t>NEXT STEP</a:t>
            </a:r>
          </a:p>
        </p:txBody>
      </p:sp>
      <p:sp>
        <p:nvSpPr>
          <p:cNvPr id="9" name="">
            <a:extLst xmlns:a="http://schemas.openxmlformats.org/drawingml/2006/main">
              <a:ext uri="{FF2B5EF4-FFF2-40B4-BE49-F238E27FC236}">
                <a16:creationId xmlns:a16="http://schemas.microsoft.com/office/drawing/2014/main" id="{27AB833D-14D7-44C6-82B2-E19722FEFB0C}"/>
              </a:ext>
            </a:extLst>
          </p:cNvPr>
          <p:cNvSpPr>
            <a:spLocks xmlns:a="http://schemas.openxmlformats.org/drawingml/2006/main" noGrp="1"/>
          </p:cNvSpPr>
          <p:nvPr/>
        </p:nvSpPr>
        <p:spPr>
          <a:xfrm xmlns:a="http://schemas.openxmlformats.org/drawingml/2006/main" flipH="0" flipV="0">
            <a:off x="723900" y="2076450"/>
            <a:ext cx="10744200" cy="9525"/>
          </a:xfrm>
          <a:prstGeom xmlns:a="http://schemas.openxmlformats.org/drawingml/2006/main" prst="line">
            <a:avLst/>
          </a:prstGeom>
          <a:noFill xmlns:a="http://schemas.openxmlformats.org/drawingml/2006/main"/>
          <a:ln xmlns:a="http://schemas.openxmlformats.org/drawingml/2006/main" w="19050">
            <a:solidFill>
              <a:srgbClr val="101B35"/>
            </a:solidFill>
            <a:prstDash val="solid"/>
          </a:ln>
        </p:spPr>
      </p:sp>
      <p:sp>
        <p:nvSpPr>
          <p:cNvPr id="10" name="">
            <a:extLst xmlns:a="http://schemas.openxmlformats.org/drawingml/2006/main">
              <a:ext uri="{FF2B5EF4-FFF2-40B4-BE49-F238E27FC236}">
                <a16:creationId xmlns:a16="http://schemas.microsoft.com/office/drawing/2014/main" id="{DCC9BDD8-0D40-4FD5-AA1C-8ED8565C37BB}"/>
              </a:ext>
            </a:extLst>
          </p:cNvPr>
          <p:cNvSpPr>
            <a:spLocks xmlns:a="http://schemas.openxmlformats.org/drawingml/2006/main" noGrp="1"/>
          </p:cNvSpPr>
          <p:nvPr/>
        </p:nvSpPr>
        <p:spPr>
          <a:xfrm xmlns:a="http://schemas.openxmlformats.org/drawingml/2006/main">
            <a:off x="742950" y="2295525"/>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01B35"/>
                </a:solidFill>
                <a:latin typeface="Helvetica Neue"/>
                <a:ea typeface="Helvetica Neue"/>
                <a:cs typeface="Helvetica Neue"/>
              </a:defRPr>
            </a:pPr>
            <a:r>
              <a:rPr sz="1575" b="1">
                <a:solidFill>
                  <a:srgbClr val="101B35"/>
                </a:solidFill>
                <a:latin typeface="Helvetica Neue"/>
                <a:ea typeface="Helvetica Neue"/>
                <a:cs typeface="Helvetica Neue"/>
              </a:rPr>
              <a:t>Hot account locks</a:t>
            </a:r>
          </a:p>
        </p:txBody>
      </p:sp>
      <p:sp>
        <p:nvSpPr>
          <p:cNvPr id="11" name="">
            <a:extLst xmlns:a="http://schemas.openxmlformats.org/drawingml/2006/main">
              <a:ext uri="{FF2B5EF4-FFF2-40B4-BE49-F238E27FC236}">
                <a16:creationId xmlns:a16="http://schemas.microsoft.com/office/drawing/2014/main" id="{A9C328DE-73B3-4C5B-A91E-D02486BE8F3E}"/>
              </a:ext>
            </a:extLst>
          </p:cNvPr>
          <p:cNvSpPr>
            <a:spLocks xmlns:a="http://schemas.openxmlformats.org/drawingml/2006/main" noGrp="1"/>
          </p:cNvSpPr>
          <p:nvPr/>
        </p:nvSpPr>
        <p:spPr>
          <a:xfrm xmlns:a="http://schemas.openxmlformats.org/drawingml/2006/main">
            <a:off x="4229100" y="2295525"/>
            <a:ext cx="3371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8243B"/>
                </a:solidFill>
                <a:latin typeface="Helvetica Neue"/>
                <a:ea typeface="Helvetica Neue"/>
                <a:cs typeface="Helvetica Neue"/>
              </a:defRPr>
            </a:pPr>
            <a:r>
              <a:rPr sz="1350" b="0">
                <a:solidFill>
                  <a:srgbClr val="18243B"/>
                </a:solidFill>
                <a:latin typeface="Helvetica Neue"/>
                <a:ea typeface="Helvetica Neue"/>
                <a:cs typeface="Helvetica Neue"/>
              </a:rPr>
              <a:t>Writes to one wallet serialize</a:t>
            </a:r>
          </a:p>
        </p:txBody>
      </p:sp>
      <p:sp>
        <p:nvSpPr>
          <p:cNvPr id="12" name="">
            <a:extLst xmlns:a="http://schemas.openxmlformats.org/drawingml/2006/main">
              <a:ext uri="{FF2B5EF4-FFF2-40B4-BE49-F238E27FC236}">
                <a16:creationId xmlns:a16="http://schemas.microsoft.com/office/drawing/2014/main" id="{0DB9E7BD-CDE1-4A98-A9FA-C725779801BD}"/>
              </a:ext>
            </a:extLst>
          </p:cNvPr>
          <p:cNvSpPr>
            <a:spLocks xmlns:a="http://schemas.openxmlformats.org/drawingml/2006/main" noGrp="1"/>
          </p:cNvSpPr>
          <p:nvPr/>
        </p:nvSpPr>
        <p:spPr>
          <a:xfrm xmlns:a="http://schemas.openxmlformats.org/drawingml/2006/main">
            <a:off x="8010525" y="2295525"/>
            <a:ext cx="3381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39E91"/>
                </a:solidFill>
                <a:latin typeface="Helvetica Neue"/>
                <a:ea typeface="Helvetica Neue"/>
                <a:cs typeface="Helvetica Neue"/>
              </a:defRPr>
            </a:pPr>
            <a:r>
              <a:rPr sz="1350" b="0">
                <a:solidFill>
                  <a:srgbClr val="139E91"/>
                </a:solidFill>
                <a:latin typeface="Helvetica Neue"/>
                <a:ea typeface="Helvetica Neue"/>
                <a:cs typeface="Helvetica Neue"/>
              </a:rPr>
              <a:t>Profile contention; define workload limits</a:t>
            </a:r>
          </a:p>
        </p:txBody>
      </p:sp>
      <p:sp>
        <p:nvSpPr>
          <p:cNvPr id="13" name="">
            <a:extLst xmlns:a="http://schemas.openxmlformats.org/drawingml/2006/main">
              <a:ext uri="{FF2B5EF4-FFF2-40B4-BE49-F238E27FC236}">
                <a16:creationId xmlns:a16="http://schemas.microsoft.com/office/drawing/2014/main" id="{1E77B9BC-4BC3-488E-8DF5-92FC45A1CC40}"/>
              </a:ext>
            </a:extLst>
          </p:cNvPr>
          <p:cNvSpPr>
            <a:spLocks xmlns:a="http://schemas.openxmlformats.org/drawingml/2006/main" noGrp="1"/>
          </p:cNvSpPr>
          <p:nvPr/>
        </p:nvSpPr>
        <p:spPr>
          <a:xfrm xmlns:a="http://schemas.openxmlformats.org/drawingml/2006/main" flipH="0" flipV="0">
            <a:off x="723900" y="2914650"/>
            <a:ext cx="10744200" cy="9525"/>
          </a:xfrm>
          <a:prstGeom xmlns:a="http://schemas.openxmlformats.org/drawingml/2006/main" prst="line">
            <a:avLst/>
          </a:prstGeom>
          <a:noFill xmlns:a="http://schemas.openxmlformats.org/drawingml/2006/main"/>
          <a:ln xmlns:a="http://schemas.openxmlformats.org/drawingml/2006/main" w="9525">
            <a:solidFill>
              <a:srgbClr val="CCD5E3"/>
            </a:solidFill>
            <a:prstDash val="solid"/>
          </a:ln>
        </p:spPr>
      </p:sp>
      <p:sp>
        <p:nvSpPr>
          <p:cNvPr id="14" name="">
            <a:extLst xmlns:a="http://schemas.openxmlformats.org/drawingml/2006/main">
              <a:ext uri="{FF2B5EF4-FFF2-40B4-BE49-F238E27FC236}">
                <a16:creationId xmlns:a16="http://schemas.microsoft.com/office/drawing/2014/main" id="{8299B2B8-26DC-406A-8DF5-D79269F85E85}"/>
              </a:ext>
            </a:extLst>
          </p:cNvPr>
          <p:cNvSpPr>
            <a:spLocks xmlns:a="http://schemas.openxmlformats.org/drawingml/2006/main" noGrp="1"/>
          </p:cNvSpPr>
          <p:nvPr/>
        </p:nvSpPr>
        <p:spPr>
          <a:xfrm xmlns:a="http://schemas.openxmlformats.org/drawingml/2006/main">
            <a:off x="742950" y="31242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01B35"/>
                </a:solidFill>
                <a:latin typeface="Helvetica Neue"/>
                <a:ea typeface="Helvetica Neue"/>
                <a:cs typeface="Helvetica Neue"/>
              </a:defRPr>
            </a:pPr>
            <a:r>
              <a:rPr sz="1575" b="1">
                <a:solidFill>
                  <a:srgbClr val="101B35"/>
                </a:solidFill>
                <a:latin typeface="Helvetica Neue"/>
                <a:ea typeface="Helvetica Neue"/>
                <a:cs typeface="Helvetica Neue"/>
              </a:rPr>
              <a:t>Outbox polling</a:t>
            </a:r>
          </a:p>
        </p:txBody>
      </p:sp>
      <p:sp>
        <p:nvSpPr>
          <p:cNvPr id="15" name="">
            <a:extLst xmlns:a="http://schemas.openxmlformats.org/drawingml/2006/main">
              <a:ext uri="{FF2B5EF4-FFF2-40B4-BE49-F238E27FC236}">
                <a16:creationId xmlns:a16="http://schemas.microsoft.com/office/drawing/2014/main" id="{14FD0958-B59B-41A6-A785-CFEFA85F073F}"/>
              </a:ext>
            </a:extLst>
          </p:cNvPr>
          <p:cNvSpPr>
            <a:spLocks xmlns:a="http://schemas.openxmlformats.org/drawingml/2006/main" noGrp="1"/>
          </p:cNvSpPr>
          <p:nvPr/>
        </p:nvSpPr>
        <p:spPr>
          <a:xfrm xmlns:a="http://schemas.openxmlformats.org/drawingml/2006/main">
            <a:off x="4229100" y="3124200"/>
            <a:ext cx="3371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148"/>
          </a:bodyPr>
          <a:lstStyle xmlns:a="http://schemas.openxmlformats.org/drawingml/2006/main"/>
          <a:p xmlns:a="http://schemas.openxmlformats.org/drawingml/2006/main">
            <a:pPr algn="l">
              <a:defRPr sz="1350" b="0">
                <a:solidFill>
                  <a:srgbClr val="18243B"/>
                </a:solidFill>
                <a:latin typeface="Helvetica Neue"/>
                <a:ea typeface="Helvetica Neue"/>
                <a:cs typeface="Helvetica Neue"/>
              </a:defRPr>
            </a:pPr>
            <a:r>
              <a:rPr sz="1350" b="0">
                <a:solidFill>
                  <a:srgbClr val="18243B"/>
                </a:solidFill>
                <a:latin typeface="Helvetica Neue"/>
                <a:ea typeface="Helvetica Neue"/>
                <a:cs typeface="Helvetica Neue"/>
              </a:rPr>
              <a:t>Database queries add load and delivery lag</a:t>
            </a:r>
          </a:p>
        </p:txBody>
      </p:sp>
      <p:sp>
        <p:nvSpPr>
          <p:cNvPr id="16" name="">
            <a:extLst xmlns:a="http://schemas.openxmlformats.org/drawingml/2006/main">
              <a:ext uri="{FF2B5EF4-FFF2-40B4-BE49-F238E27FC236}">
                <a16:creationId xmlns:a16="http://schemas.microsoft.com/office/drawing/2014/main" id="{A7C71D45-94DE-4C0D-80F1-35A6E2688DE6}"/>
              </a:ext>
            </a:extLst>
          </p:cNvPr>
          <p:cNvSpPr>
            <a:spLocks xmlns:a="http://schemas.openxmlformats.org/drawingml/2006/main" noGrp="1"/>
          </p:cNvSpPr>
          <p:nvPr/>
        </p:nvSpPr>
        <p:spPr>
          <a:xfrm xmlns:a="http://schemas.openxmlformats.org/drawingml/2006/main">
            <a:off x="8010525" y="3124200"/>
            <a:ext cx="3381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39E91"/>
                </a:solidFill>
                <a:latin typeface="Helvetica Neue"/>
                <a:ea typeface="Helvetica Neue"/>
                <a:cs typeface="Helvetica Neue"/>
              </a:defRPr>
            </a:pPr>
            <a:r>
              <a:rPr sz="1350" b="0">
                <a:solidFill>
                  <a:srgbClr val="139E91"/>
                </a:solidFill>
                <a:latin typeface="Helvetica Neue"/>
                <a:ea typeface="Helvetica Neue"/>
                <a:cs typeface="Helvetica Neue"/>
              </a:rPr>
              <a:t>Tune batches; evaluate Debezium CDC</a:t>
            </a:r>
          </a:p>
        </p:txBody>
      </p:sp>
      <p:sp>
        <p:nvSpPr>
          <p:cNvPr id="17" name="">
            <a:extLst xmlns:a="http://schemas.openxmlformats.org/drawingml/2006/main">
              <a:ext uri="{FF2B5EF4-FFF2-40B4-BE49-F238E27FC236}">
                <a16:creationId xmlns:a16="http://schemas.microsoft.com/office/drawing/2014/main" id="{3BE5680A-9466-4F18-8018-905BB8858CD2}"/>
              </a:ext>
            </a:extLst>
          </p:cNvPr>
          <p:cNvSpPr>
            <a:spLocks xmlns:a="http://schemas.openxmlformats.org/drawingml/2006/main" noGrp="1"/>
          </p:cNvSpPr>
          <p:nvPr/>
        </p:nvSpPr>
        <p:spPr>
          <a:xfrm xmlns:a="http://schemas.openxmlformats.org/drawingml/2006/main" flipH="0" flipV="0">
            <a:off x="723900" y="3743325"/>
            <a:ext cx="10744200" cy="9525"/>
          </a:xfrm>
          <a:prstGeom xmlns:a="http://schemas.openxmlformats.org/drawingml/2006/main" prst="line">
            <a:avLst/>
          </a:prstGeom>
          <a:noFill xmlns:a="http://schemas.openxmlformats.org/drawingml/2006/main"/>
          <a:ln xmlns:a="http://schemas.openxmlformats.org/drawingml/2006/main" w="9525">
            <a:solidFill>
              <a:srgbClr val="CCD5E3"/>
            </a:solidFill>
            <a:prstDash val="solid"/>
          </a:ln>
        </p:spPr>
      </p:sp>
      <p:sp>
        <p:nvSpPr>
          <p:cNvPr id="18" name="">
            <a:extLst xmlns:a="http://schemas.openxmlformats.org/drawingml/2006/main">
              <a:ext uri="{FF2B5EF4-FFF2-40B4-BE49-F238E27FC236}">
                <a16:creationId xmlns:a16="http://schemas.microsoft.com/office/drawing/2014/main" id="{672440A5-A154-4ED9-9202-74C86D8C78EE}"/>
              </a:ext>
            </a:extLst>
          </p:cNvPr>
          <p:cNvSpPr>
            <a:spLocks xmlns:a="http://schemas.openxmlformats.org/drawingml/2006/main" noGrp="1"/>
          </p:cNvSpPr>
          <p:nvPr/>
        </p:nvSpPr>
        <p:spPr>
          <a:xfrm xmlns:a="http://schemas.openxmlformats.org/drawingml/2006/main">
            <a:off x="742950" y="3952875"/>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01B35"/>
                </a:solidFill>
                <a:latin typeface="Helvetica Neue"/>
                <a:ea typeface="Helvetica Neue"/>
                <a:cs typeface="Helvetica Neue"/>
              </a:defRPr>
            </a:pPr>
            <a:r>
              <a:rPr sz="1575" b="1">
                <a:solidFill>
                  <a:srgbClr val="101B35"/>
                </a:solidFill>
                <a:latin typeface="Helvetica Neue"/>
                <a:ea typeface="Helvetica Neue"/>
                <a:cs typeface="Helvetica Neue"/>
              </a:rPr>
              <a:t>Shared dependencies</a:t>
            </a:r>
          </a:p>
        </p:txBody>
      </p:sp>
      <p:sp>
        <p:nvSpPr>
          <p:cNvPr id="19" name="">
            <a:extLst xmlns:a="http://schemas.openxmlformats.org/drawingml/2006/main">
              <a:ext uri="{FF2B5EF4-FFF2-40B4-BE49-F238E27FC236}">
                <a16:creationId xmlns:a16="http://schemas.microsoft.com/office/drawing/2014/main" id="{AAF51B5C-4220-4AC1-BD12-703D09AE99AE}"/>
              </a:ext>
            </a:extLst>
          </p:cNvPr>
          <p:cNvSpPr>
            <a:spLocks xmlns:a="http://schemas.openxmlformats.org/drawingml/2006/main" noGrp="1"/>
          </p:cNvSpPr>
          <p:nvPr/>
        </p:nvSpPr>
        <p:spPr>
          <a:xfrm xmlns:a="http://schemas.openxmlformats.org/drawingml/2006/main">
            <a:off x="4229100" y="3952875"/>
            <a:ext cx="3371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8243B"/>
                </a:solidFill>
                <a:latin typeface="Helvetica Neue"/>
                <a:ea typeface="Helvetica Neue"/>
                <a:cs typeface="Helvetica Neue"/>
              </a:defRPr>
            </a:pPr>
            <a:r>
              <a:rPr sz="1350" b="0">
                <a:solidFill>
                  <a:srgbClr val="18243B"/>
                </a:solidFill>
                <a:latin typeface="Helvetica Neue"/>
                <a:ea typeface="Helvetica Neue"/>
                <a:cs typeface="Helvetica Neue"/>
              </a:rPr>
              <a:t>PostgreSQL, Redis, Kafka need failover</a:t>
            </a:r>
          </a:p>
        </p:txBody>
      </p:sp>
      <p:sp>
        <p:nvSpPr>
          <p:cNvPr id="20" name="">
            <a:extLst xmlns:a="http://schemas.openxmlformats.org/drawingml/2006/main">
              <a:ext uri="{FF2B5EF4-FFF2-40B4-BE49-F238E27FC236}">
                <a16:creationId xmlns:a16="http://schemas.microsoft.com/office/drawing/2014/main" id="{C830604D-32A5-4129-82CA-C1A650B585D8}"/>
              </a:ext>
            </a:extLst>
          </p:cNvPr>
          <p:cNvSpPr>
            <a:spLocks xmlns:a="http://schemas.openxmlformats.org/drawingml/2006/main" noGrp="1"/>
          </p:cNvSpPr>
          <p:nvPr/>
        </p:nvSpPr>
        <p:spPr>
          <a:xfrm xmlns:a="http://schemas.openxmlformats.org/drawingml/2006/main">
            <a:off x="8010525" y="3952875"/>
            <a:ext cx="3381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39E91"/>
                </a:solidFill>
                <a:latin typeface="Helvetica Neue"/>
                <a:ea typeface="Helvetica Neue"/>
                <a:cs typeface="Helvetica Neue"/>
              </a:defRPr>
            </a:pPr>
            <a:r>
              <a:rPr sz="1350" b="0">
                <a:solidFill>
                  <a:srgbClr val="139E91"/>
                </a:solidFill>
                <a:latin typeface="Helvetica Neue"/>
                <a:ea typeface="Helvetica Neue"/>
                <a:cs typeface="Helvetica Neue"/>
              </a:rPr>
              <a:t>Deploy replication, alerts, recovery drills</a:t>
            </a:r>
          </a:p>
        </p:txBody>
      </p:sp>
      <p:sp>
        <p:nvSpPr>
          <p:cNvPr id="21" name="">
            <a:extLst xmlns:a="http://schemas.openxmlformats.org/drawingml/2006/main">
              <a:ext uri="{FF2B5EF4-FFF2-40B4-BE49-F238E27FC236}">
                <a16:creationId xmlns:a16="http://schemas.microsoft.com/office/drawing/2014/main" id="{BE635133-488D-4F48-9011-C6C6025699FE}"/>
              </a:ext>
            </a:extLst>
          </p:cNvPr>
          <p:cNvSpPr>
            <a:spLocks xmlns:a="http://schemas.openxmlformats.org/drawingml/2006/main" noGrp="1"/>
          </p:cNvSpPr>
          <p:nvPr/>
        </p:nvSpPr>
        <p:spPr>
          <a:xfrm xmlns:a="http://schemas.openxmlformats.org/drawingml/2006/main" flipH="0" flipV="0">
            <a:off x="723900" y="4572000"/>
            <a:ext cx="10744200" cy="9525"/>
          </a:xfrm>
          <a:prstGeom xmlns:a="http://schemas.openxmlformats.org/drawingml/2006/main" prst="line">
            <a:avLst/>
          </a:prstGeom>
          <a:noFill xmlns:a="http://schemas.openxmlformats.org/drawingml/2006/main"/>
          <a:ln xmlns:a="http://schemas.openxmlformats.org/drawingml/2006/main" w="9525">
            <a:solidFill>
              <a:srgbClr val="CCD5E3"/>
            </a:solidFill>
            <a:prstDash val="solid"/>
          </a:ln>
        </p:spPr>
      </p:sp>
      <p:sp>
        <p:nvSpPr>
          <p:cNvPr id="22" name="">
            <a:extLst xmlns:a="http://schemas.openxmlformats.org/drawingml/2006/main">
              <a:ext uri="{FF2B5EF4-FFF2-40B4-BE49-F238E27FC236}">
                <a16:creationId xmlns:a16="http://schemas.microsoft.com/office/drawing/2014/main" id="{49DB6105-0CA9-4EEF-8B47-6D778FC341D1}"/>
              </a:ext>
            </a:extLst>
          </p:cNvPr>
          <p:cNvSpPr>
            <a:spLocks xmlns:a="http://schemas.openxmlformats.org/drawingml/2006/main" noGrp="1"/>
          </p:cNvSpPr>
          <p:nvPr/>
        </p:nvSpPr>
        <p:spPr>
          <a:xfrm xmlns:a="http://schemas.openxmlformats.org/drawingml/2006/main">
            <a:off x="742950" y="478155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01B35"/>
                </a:solidFill>
                <a:latin typeface="Helvetica Neue"/>
                <a:ea typeface="Helvetica Neue"/>
                <a:cs typeface="Helvetica Neue"/>
              </a:defRPr>
            </a:pPr>
            <a:r>
              <a:rPr sz="1575" b="1">
                <a:solidFill>
                  <a:srgbClr val="101B35"/>
                </a:solidFill>
                <a:latin typeface="Helvetica Neue"/>
                <a:ea typeface="Helvetica Neue"/>
                <a:cs typeface="Helvetica Neue"/>
              </a:rPr>
              <a:t>Cross-shard transfers</a:t>
            </a:r>
          </a:p>
        </p:txBody>
      </p:sp>
      <p:sp>
        <p:nvSpPr>
          <p:cNvPr id="23" name="">
            <a:extLst xmlns:a="http://schemas.openxmlformats.org/drawingml/2006/main">
              <a:ext uri="{FF2B5EF4-FFF2-40B4-BE49-F238E27FC236}">
                <a16:creationId xmlns:a16="http://schemas.microsoft.com/office/drawing/2014/main" id="{62B4BAA8-55DA-4E73-853A-D9185CD33EB6}"/>
              </a:ext>
            </a:extLst>
          </p:cNvPr>
          <p:cNvSpPr>
            <a:spLocks xmlns:a="http://schemas.openxmlformats.org/drawingml/2006/main" noGrp="1"/>
          </p:cNvSpPr>
          <p:nvPr/>
        </p:nvSpPr>
        <p:spPr>
          <a:xfrm xmlns:a="http://schemas.openxmlformats.org/drawingml/2006/main">
            <a:off x="4229100" y="4781550"/>
            <a:ext cx="3371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148"/>
          </a:bodyPr>
          <a:lstStyle xmlns:a="http://schemas.openxmlformats.org/drawingml/2006/main"/>
          <a:p xmlns:a="http://schemas.openxmlformats.org/drawingml/2006/main">
            <a:pPr algn="l">
              <a:defRPr sz="1350" b="0">
                <a:solidFill>
                  <a:srgbClr val="18243B"/>
                </a:solidFill>
                <a:latin typeface="Helvetica Neue"/>
                <a:ea typeface="Helvetica Neue"/>
                <a:cs typeface="Helvetica Neue"/>
              </a:defRPr>
            </a:pPr>
            <a:r>
              <a:rPr sz="1350" b="0">
                <a:solidFill>
                  <a:srgbClr val="18243B"/>
                </a:solidFill>
                <a:latin typeface="Helvetica Neue"/>
                <a:ea typeface="Helvetica Neue"/>
                <a:cs typeface="Helvetica Neue"/>
              </a:rPr>
              <a:t>Partitioning complicates atomic movement</a:t>
            </a:r>
          </a:p>
        </p:txBody>
      </p:sp>
      <p:sp>
        <p:nvSpPr>
          <p:cNvPr id="24" name="">
            <a:extLst xmlns:a="http://schemas.openxmlformats.org/drawingml/2006/main">
              <a:ext uri="{FF2B5EF4-FFF2-40B4-BE49-F238E27FC236}">
                <a16:creationId xmlns:a16="http://schemas.microsoft.com/office/drawing/2014/main" id="{258A96A8-4C09-47D2-9CF6-1DD175B37E73}"/>
              </a:ext>
            </a:extLst>
          </p:cNvPr>
          <p:cNvSpPr>
            <a:spLocks xmlns:a="http://schemas.openxmlformats.org/drawingml/2006/main" noGrp="1"/>
          </p:cNvSpPr>
          <p:nvPr/>
        </p:nvSpPr>
        <p:spPr>
          <a:xfrm xmlns:a="http://schemas.openxmlformats.org/drawingml/2006/main">
            <a:off x="8010525" y="4781550"/>
            <a:ext cx="3381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39E91"/>
                </a:solidFill>
                <a:latin typeface="Helvetica Neue"/>
                <a:ea typeface="Helvetica Neue"/>
                <a:cs typeface="Helvetica Neue"/>
              </a:defRPr>
            </a:pPr>
            <a:r>
              <a:rPr sz="1350" b="0">
                <a:solidFill>
                  <a:srgbClr val="139E91"/>
                </a:solidFill>
                <a:latin typeface="Helvetica Neue"/>
                <a:ea typeface="Helvetica Neue"/>
                <a:cs typeface="Helvetica Neue"/>
              </a:rPr>
              <a:t>Shard only after measured pressure</a:t>
            </a:r>
          </a:p>
        </p:txBody>
      </p:sp>
      <p:sp>
        <p:nvSpPr>
          <p:cNvPr id="25" name="">
            <a:extLst xmlns:a="http://schemas.openxmlformats.org/drawingml/2006/main">
              <a:ext uri="{FF2B5EF4-FFF2-40B4-BE49-F238E27FC236}">
                <a16:creationId xmlns:a16="http://schemas.microsoft.com/office/drawing/2014/main" id="{D645BF2F-4D10-4216-B0EA-FA11689AB760}"/>
              </a:ext>
            </a:extLst>
          </p:cNvPr>
          <p:cNvSpPr>
            <a:spLocks xmlns:a="http://schemas.openxmlformats.org/drawingml/2006/main" noGrp="1"/>
          </p:cNvSpPr>
          <p:nvPr/>
        </p:nvSpPr>
        <p:spPr>
          <a:xfrm xmlns:a="http://schemas.openxmlformats.org/drawingml/2006/main">
            <a:off x="742950" y="5743575"/>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2F6FED"/>
                </a:solidFill>
                <a:latin typeface="Helvetica Neue"/>
                <a:ea typeface="Helvetica Neue"/>
                <a:cs typeface="Helvetica Neue"/>
              </a:defRPr>
            </a:pPr>
            <a:r>
              <a:rPr sz="1575" b="1">
                <a:solidFill>
                  <a:srgbClr val="2F6FED"/>
                </a:solidFill>
                <a:latin typeface="Helvetica Neue"/>
                <a:ea typeface="Helvetica Neue"/>
                <a:cs typeface="Helvetica Neue"/>
              </a:rPr>
              <a:t>Horizontal API scaling does not remove contention on shared account rows.</a:t>
            </a:r>
          </a:p>
        </p:txBody>
      </p:sp>
    </p:spTree>
    <p:extLst>
      <p:ext uri="{BB962C8B-B14F-4D97-AF65-F5344CB8AC3E}">
        <p14:creationId xmlns:p14="http://schemas.microsoft.com/office/powerpoint/2010/main" val="1648598323"/>
      </p:ext>
    </p:extLst>
  </p:cSld>
</p:sld>
</file>

<file path=ppt/slides/slide10.xml><?xml version="1.0" encoding="utf-8"?>
<p:sld xmlns:p="http://schemas.openxmlformats.org/presentationml/2006/main">
  <p:cSld>
    <p:bg>
      <p:bgPr>
        <a:solidFill xmlns:a="http://schemas.openxmlformats.org/drawingml/2006/main">
          <a:srgbClr val="101B3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7676344-5167-485A-A6DE-85FC40A0BBBC}"/>
              </a:ext>
            </a:extLst>
          </p:cNvPr>
          <p:cNvSpPr>
            <a:spLocks xmlns:a="http://schemas.openxmlformats.org/drawingml/2006/main" noGrp="1"/>
          </p:cNvSpPr>
          <p:nvPr/>
        </p:nvSpPr>
        <p:spPr>
          <a:xfrm xmlns:a="http://schemas.openxmlformats.org/drawingml/2006/main">
            <a:off x="0" y="0"/>
            <a:ext cx="161925" cy="6858000"/>
          </a:xfrm>
          <a:prstGeom xmlns:a="http://schemas.openxmlformats.org/drawingml/2006/main" prst="rect">
            <a:avLst/>
          </a:prstGeom>
          <a:solidFill xmlns:a="http://schemas.openxmlformats.org/drawingml/2006/main">
            <a:srgbClr val="139E9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58E432B-8975-4689-89D1-9E79753A6FEC}"/>
              </a:ext>
            </a:extLst>
          </p:cNvPr>
          <p:cNvSpPr>
            <a:spLocks xmlns:a="http://schemas.openxmlformats.org/drawingml/2006/main" noGrp="1"/>
          </p:cNvSpPr>
          <p:nvPr/>
        </p:nvSpPr>
        <p:spPr>
          <a:xfrm xmlns:a="http://schemas.openxmlformats.org/drawingml/2006/main">
            <a:off x="723900" y="6858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8FDCD3"/>
                </a:solidFill>
                <a:latin typeface="Helvetica Neue"/>
                <a:ea typeface="Helvetica Neue"/>
                <a:cs typeface="Helvetica Neue"/>
              </a:defRPr>
            </a:pPr>
            <a:r>
              <a:rPr sz="1350" b="1">
                <a:solidFill>
                  <a:srgbClr val="8FDCD3"/>
                </a:solidFill>
                <a:latin typeface="Helvetica Neue"/>
                <a:ea typeface="Helvetica Neue"/>
                <a:cs typeface="Helvetica Neue"/>
              </a:rPr>
              <a:t>CONCLUSION</a:t>
            </a:r>
          </a:p>
        </p:txBody>
      </p:sp>
      <p:sp>
        <p:nvSpPr>
          <p:cNvPr id="3" name="">
            <a:extLst xmlns:a="http://schemas.openxmlformats.org/drawingml/2006/main">
              <a:ext uri="{FF2B5EF4-FFF2-40B4-BE49-F238E27FC236}">
                <a16:creationId xmlns:a16="http://schemas.microsoft.com/office/drawing/2014/main" id="{D44D7531-8836-4749-AFD2-B04377E7C429}"/>
              </a:ext>
            </a:extLst>
          </p:cNvPr>
          <p:cNvSpPr>
            <a:spLocks xmlns:a="http://schemas.openxmlformats.org/drawingml/2006/main" noGrp="1"/>
          </p:cNvSpPr>
          <p:nvPr/>
        </p:nvSpPr>
        <p:spPr>
          <a:xfrm xmlns:a="http://schemas.openxmlformats.org/drawingml/2006/main">
            <a:off x="723900" y="1200150"/>
            <a:ext cx="9810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408"/>
          </a:bodyPr>
          <a:lstStyle xmlns:a="http://schemas.openxmlformats.org/drawingml/2006/main"/>
          <a:p xmlns:a="http://schemas.openxmlformats.org/drawingml/2006/main">
            <a:pPr algn="l">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A safe transfer is a coordinated set of guarantees</a:t>
            </a:r>
          </a:p>
        </p:txBody>
      </p:sp>
      <p:sp>
        <p:nvSpPr>
          <p:cNvPr id="4" name="">
            <a:extLst xmlns:a="http://schemas.openxmlformats.org/drawingml/2006/main">
              <a:ext uri="{FF2B5EF4-FFF2-40B4-BE49-F238E27FC236}">
                <a16:creationId xmlns:a16="http://schemas.microsoft.com/office/drawing/2014/main" id="{4F27028D-4E3E-4D91-BD06-C5C7B511FCA3}"/>
              </a:ext>
            </a:extLst>
          </p:cNvPr>
          <p:cNvSpPr>
            <a:spLocks xmlns:a="http://schemas.openxmlformats.org/drawingml/2006/main" noGrp="1"/>
          </p:cNvSpPr>
          <p:nvPr/>
        </p:nvSpPr>
        <p:spPr>
          <a:xfrm xmlns:a="http://schemas.openxmlformats.org/drawingml/2006/main">
            <a:off x="723900" y="2790825"/>
            <a:ext cx="5143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294"/>
          </a:bodyPr>
          <a:lstStyle xmlns:a="http://schemas.openxmlformats.org/drawingml/2006/main"/>
          <a:p xmlns:a="http://schemas.openxmlformats.org/drawingml/2006/main">
            <a:pPr algn="l">
              <a:defRPr sz="1275" b="1">
                <a:solidFill>
                  <a:srgbClr val="8FDCD3"/>
                </a:solidFill>
                <a:latin typeface="Helvetica Neue"/>
                <a:ea typeface="Helvetica Neue"/>
                <a:cs typeface="Helvetica Neue"/>
              </a:defRPr>
            </a:pPr>
            <a:r>
              <a:rPr sz="1275" b="1">
                <a:solidFill>
                  <a:srgbClr val="8FDCD3"/>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E8F55B4A-2753-498B-8CDA-806BF5B6BFC7}"/>
              </a:ext>
            </a:extLst>
          </p:cNvPr>
          <p:cNvSpPr>
            <a:spLocks xmlns:a="http://schemas.openxmlformats.org/drawingml/2006/main" noGrp="1"/>
          </p:cNvSpPr>
          <p:nvPr/>
        </p:nvSpPr>
        <p:spPr>
          <a:xfrm xmlns:a="http://schemas.openxmlformats.org/drawingml/2006/main">
            <a:off x="723900" y="3190875"/>
            <a:ext cx="1885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Authenticate</a:t>
            </a:r>
          </a:p>
        </p:txBody>
      </p:sp>
      <p:sp>
        <p:nvSpPr>
          <p:cNvPr id="6" name="">
            <a:extLst xmlns:a="http://schemas.openxmlformats.org/drawingml/2006/main">
              <a:ext uri="{FF2B5EF4-FFF2-40B4-BE49-F238E27FC236}">
                <a16:creationId xmlns:a16="http://schemas.microsoft.com/office/drawing/2014/main" id="{F7EF7724-A435-4BEE-9CE0-0B8154DF1DD1}"/>
              </a:ext>
            </a:extLst>
          </p:cNvPr>
          <p:cNvSpPr>
            <a:spLocks xmlns:a="http://schemas.openxmlformats.org/drawingml/2006/main" noGrp="1"/>
          </p:cNvSpPr>
          <p:nvPr/>
        </p:nvSpPr>
        <p:spPr>
          <a:xfrm xmlns:a="http://schemas.openxmlformats.org/drawingml/2006/main">
            <a:off x="2381250" y="3305175"/>
            <a:ext cx="342900" cy="171450"/>
          </a:xfrm>
          <a:prstGeom xmlns:a="http://schemas.openxmlformats.org/drawingml/2006/main" prst="rightArrow">
            <a:avLst/>
          </a:prstGeom>
          <a:solidFill xmlns:a="http://schemas.openxmlformats.org/drawingml/2006/main">
            <a:srgbClr val="5A769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5BFE926-EBDF-42D0-AB30-1D3276BF58D8}"/>
              </a:ext>
            </a:extLst>
          </p:cNvPr>
          <p:cNvSpPr>
            <a:spLocks xmlns:a="http://schemas.openxmlformats.org/drawingml/2006/main" noGrp="1"/>
          </p:cNvSpPr>
          <p:nvPr/>
        </p:nvSpPr>
        <p:spPr>
          <a:xfrm xmlns:a="http://schemas.openxmlformats.org/drawingml/2006/main">
            <a:off x="2876550" y="2790825"/>
            <a:ext cx="5143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294"/>
          </a:bodyPr>
          <a:lstStyle xmlns:a="http://schemas.openxmlformats.org/drawingml/2006/main"/>
          <a:p xmlns:a="http://schemas.openxmlformats.org/drawingml/2006/main">
            <a:pPr algn="l">
              <a:defRPr sz="1275" b="1">
                <a:solidFill>
                  <a:srgbClr val="8FDCD3"/>
                </a:solidFill>
                <a:latin typeface="Helvetica Neue"/>
                <a:ea typeface="Helvetica Neue"/>
                <a:cs typeface="Helvetica Neue"/>
              </a:defRPr>
            </a:pPr>
            <a:r>
              <a:rPr sz="1275" b="1">
                <a:solidFill>
                  <a:srgbClr val="8FDCD3"/>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4447480A-4B5B-48F5-B945-D6B30164E009}"/>
              </a:ext>
            </a:extLst>
          </p:cNvPr>
          <p:cNvSpPr>
            <a:spLocks xmlns:a="http://schemas.openxmlformats.org/drawingml/2006/main" noGrp="1"/>
          </p:cNvSpPr>
          <p:nvPr/>
        </p:nvSpPr>
        <p:spPr>
          <a:xfrm xmlns:a="http://schemas.openxmlformats.org/drawingml/2006/main">
            <a:off x="2876550" y="3190875"/>
            <a:ext cx="1885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Deduplicate</a:t>
            </a:r>
          </a:p>
        </p:txBody>
      </p:sp>
      <p:sp>
        <p:nvSpPr>
          <p:cNvPr id="9" name="">
            <a:extLst xmlns:a="http://schemas.openxmlformats.org/drawingml/2006/main">
              <a:ext uri="{FF2B5EF4-FFF2-40B4-BE49-F238E27FC236}">
                <a16:creationId xmlns:a16="http://schemas.microsoft.com/office/drawing/2014/main" id="{C25C861F-FABC-46A2-B9D2-9790A01DC6ED}"/>
              </a:ext>
            </a:extLst>
          </p:cNvPr>
          <p:cNvSpPr>
            <a:spLocks xmlns:a="http://schemas.openxmlformats.org/drawingml/2006/main" noGrp="1"/>
          </p:cNvSpPr>
          <p:nvPr/>
        </p:nvSpPr>
        <p:spPr>
          <a:xfrm xmlns:a="http://schemas.openxmlformats.org/drawingml/2006/main">
            <a:off x="4533900" y="3305175"/>
            <a:ext cx="342900" cy="171450"/>
          </a:xfrm>
          <a:prstGeom xmlns:a="http://schemas.openxmlformats.org/drawingml/2006/main" prst="rightArrow">
            <a:avLst/>
          </a:prstGeom>
          <a:solidFill xmlns:a="http://schemas.openxmlformats.org/drawingml/2006/main">
            <a:srgbClr val="5A769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311106D-FF09-456E-BDCC-AEE54C6B9FBC}"/>
              </a:ext>
            </a:extLst>
          </p:cNvPr>
          <p:cNvSpPr>
            <a:spLocks xmlns:a="http://schemas.openxmlformats.org/drawingml/2006/main" noGrp="1"/>
          </p:cNvSpPr>
          <p:nvPr/>
        </p:nvSpPr>
        <p:spPr>
          <a:xfrm xmlns:a="http://schemas.openxmlformats.org/drawingml/2006/main">
            <a:off x="5029200" y="2790825"/>
            <a:ext cx="5143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294"/>
          </a:bodyPr>
          <a:lstStyle xmlns:a="http://schemas.openxmlformats.org/drawingml/2006/main"/>
          <a:p xmlns:a="http://schemas.openxmlformats.org/drawingml/2006/main">
            <a:pPr algn="l">
              <a:defRPr sz="1275" b="1">
                <a:solidFill>
                  <a:srgbClr val="8FDCD3"/>
                </a:solidFill>
                <a:latin typeface="Helvetica Neue"/>
                <a:ea typeface="Helvetica Neue"/>
                <a:cs typeface="Helvetica Neue"/>
              </a:defRPr>
            </a:pPr>
            <a:r>
              <a:rPr sz="1275" b="1">
                <a:solidFill>
                  <a:srgbClr val="8FDCD3"/>
                </a:solidFill>
                <a:latin typeface="Helvetica Neue"/>
                <a:ea typeface="Helvetica Neue"/>
                <a:cs typeface="Helvetica Neue"/>
              </a:rPr>
              <a:t>03</a:t>
            </a:r>
          </a:p>
        </p:txBody>
      </p:sp>
      <p:sp>
        <p:nvSpPr>
          <p:cNvPr id="11" name="">
            <a:extLst xmlns:a="http://schemas.openxmlformats.org/drawingml/2006/main">
              <a:ext uri="{FF2B5EF4-FFF2-40B4-BE49-F238E27FC236}">
                <a16:creationId xmlns:a16="http://schemas.microsoft.com/office/drawing/2014/main" id="{F1DB0A6E-1B11-4988-8AD2-D2828FFCE387}"/>
              </a:ext>
            </a:extLst>
          </p:cNvPr>
          <p:cNvSpPr>
            <a:spLocks xmlns:a="http://schemas.openxmlformats.org/drawingml/2006/main" noGrp="1"/>
          </p:cNvSpPr>
          <p:nvPr/>
        </p:nvSpPr>
        <p:spPr>
          <a:xfrm xmlns:a="http://schemas.openxmlformats.org/drawingml/2006/main">
            <a:off x="5029200" y="3190875"/>
            <a:ext cx="1885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Lock + transact</a:t>
            </a:r>
          </a:p>
        </p:txBody>
      </p:sp>
      <p:sp>
        <p:nvSpPr>
          <p:cNvPr id="12" name="">
            <a:extLst xmlns:a="http://schemas.openxmlformats.org/drawingml/2006/main">
              <a:ext uri="{FF2B5EF4-FFF2-40B4-BE49-F238E27FC236}">
                <a16:creationId xmlns:a16="http://schemas.microsoft.com/office/drawing/2014/main" id="{96F27660-C88E-4618-83EF-AF94F696E726}"/>
              </a:ext>
            </a:extLst>
          </p:cNvPr>
          <p:cNvSpPr>
            <a:spLocks xmlns:a="http://schemas.openxmlformats.org/drawingml/2006/main" noGrp="1"/>
          </p:cNvSpPr>
          <p:nvPr/>
        </p:nvSpPr>
        <p:spPr>
          <a:xfrm xmlns:a="http://schemas.openxmlformats.org/drawingml/2006/main">
            <a:off x="6686550" y="3305175"/>
            <a:ext cx="342900" cy="171450"/>
          </a:xfrm>
          <a:prstGeom xmlns:a="http://schemas.openxmlformats.org/drawingml/2006/main" prst="rightArrow">
            <a:avLst/>
          </a:prstGeom>
          <a:solidFill xmlns:a="http://schemas.openxmlformats.org/drawingml/2006/main">
            <a:srgbClr val="5A769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3B452D8-F671-42B3-942D-8D81D49D6733}"/>
              </a:ext>
            </a:extLst>
          </p:cNvPr>
          <p:cNvSpPr>
            <a:spLocks xmlns:a="http://schemas.openxmlformats.org/drawingml/2006/main" noGrp="1"/>
          </p:cNvSpPr>
          <p:nvPr/>
        </p:nvSpPr>
        <p:spPr>
          <a:xfrm xmlns:a="http://schemas.openxmlformats.org/drawingml/2006/main">
            <a:off x="7181850" y="2790825"/>
            <a:ext cx="5143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294"/>
          </a:bodyPr>
          <a:lstStyle xmlns:a="http://schemas.openxmlformats.org/drawingml/2006/main"/>
          <a:p xmlns:a="http://schemas.openxmlformats.org/drawingml/2006/main">
            <a:pPr algn="l">
              <a:defRPr sz="1275" b="1">
                <a:solidFill>
                  <a:srgbClr val="8FDCD3"/>
                </a:solidFill>
                <a:latin typeface="Helvetica Neue"/>
                <a:ea typeface="Helvetica Neue"/>
                <a:cs typeface="Helvetica Neue"/>
              </a:defRPr>
            </a:pPr>
            <a:r>
              <a:rPr sz="1275" b="1">
                <a:solidFill>
                  <a:srgbClr val="8FDCD3"/>
                </a:solidFill>
                <a:latin typeface="Helvetica Neue"/>
                <a:ea typeface="Helvetica Neue"/>
                <a:cs typeface="Helvetica Neue"/>
              </a:rPr>
              <a:t>04</a:t>
            </a:r>
          </a:p>
        </p:txBody>
      </p:sp>
      <p:sp>
        <p:nvSpPr>
          <p:cNvPr id="14" name="">
            <a:extLst xmlns:a="http://schemas.openxmlformats.org/drawingml/2006/main">
              <a:ext uri="{FF2B5EF4-FFF2-40B4-BE49-F238E27FC236}">
                <a16:creationId xmlns:a16="http://schemas.microsoft.com/office/drawing/2014/main" id="{A8422E2A-8596-442C-AC6E-8DF402F9B960}"/>
              </a:ext>
            </a:extLst>
          </p:cNvPr>
          <p:cNvSpPr>
            <a:spLocks xmlns:a="http://schemas.openxmlformats.org/drawingml/2006/main" noGrp="1"/>
          </p:cNvSpPr>
          <p:nvPr/>
        </p:nvSpPr>
        <p:spPr>
          <a:xfrm xmlns:a="http://schemas.openxmlformats.org/drawingml/2006/main">
            <a:off x="7181850" y="3190875"/>
            <a:ext cx="1885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Record outbox</a:t>
            </a:r>
          </a:p>
        </p:txBody>
      </p:sp>
      <p:sp>
        <p:nvSpPr>
          <p:cNvPr id="15" name="">
            <a:extLst xmlns:a="http://schemas.openxmlformats.org/drawingml/2006/main">
              <a:ext uri="{FF2B5EF4-FFF2-40B4-BE49-F238E27FC236}">
                <a16:creationId xmlns:a16="http://schemas.microsoft.com/office/drawing/2014/main" id="{44F08755-97BB-4A51-BD52-E55D8E40C7C1}"/>
              </a:ext>
            </a:extLst>
          </p:cNvPr>
          <p:cNvSpPr>
            <a:spLocks xmlns:a="http://schemas.openxmlformats.org/drawingml/2006/main" noGrp="1"/>
          </p:cNvSpPr>
          <p:nvPr/>
        </p:nvSpPr>
        <p:spPr>
          <a:xfrm xmlns:a="http://schemas.openxmlformats.org/drawingml/2006/main">
            <a:off x="8839200" y="3305175"/>
            <a:ext cx="342900" cy="171450"/>
          </a:xfrm>
          <a:prstGeom xmlns:a="http://schemas.openxmlformats.org/drawingml/2006/main" prst="rightArrow">
            <a:avLst/>
          </a:prstGeom>
          <a:solidFill xmlns:a="http://schemas.openxmlformats.org/drawingml/2006/main">
            <a:srgbClr val="5A769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9715490-5DD3-46A5-9E3A-06510FFAB254}"/>
              </a:ext>
            </a:extLst>
          </p:cNvPr>
          <p:cNvSpPr>
            <a:spLocks xmlns:a="http://schemas.openxmlformats.org/drawingml/2006/main" noGrp="1"/>
          </p:cNvSpPr>
          <p:nvPr/>
        </p:nvSpPr>
        <p:spPr>
          <a:xfrm xmlns:a="http://schemas.openxmlformats.org/drawingml/2006/main">
            <a:off x="9334500" y="2790825"/>
            <a:ext cx="5143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294"/>
          </a:bodyPr>
          <a:lstStyle xmlns:a="http://schemas.openxmlformats.org/drawingml/2006/main"/>
          <a:p xmlns:a="http://schemas.openxmlformats.org/drawingml/2006/main">
            <a:pPr algn="l">
              <a:defRPr sz="1275" b="1">
                <a:solidFill>
                  <a:srgbClr val="8FDCD3"/>
                </a:solidFill>
                <a:latin typeface="Helvetica Neue"/>
                <a:ea typeface="Helvetica Neue"/>
                <a:cs typeface="Helvetica Neue"/>
              </a:defRPr>
            </a:pPr>
            <a:r>
              <a:rPr sz="1275" b="1">
                <a:solidFill>
                  <a:srgbClr val="8FDCD3"/>
                </a:solidFill>
                <a:latin typeface="Helvetica Neue"/>
                <a:ea typeface="Helvetica Neue"/>
                <a:cs typeface="Helvetica Neue"/>
              </a:rPr>
              <a:t>05</a:t>
            </a:r>
          </a:p>
        </p:txBody>
      </p:sp>
      <p:sp>
        <p:nvSpPr>
          <p:cNvPr id="17" name="">
            <a:extLst xmlns:a="http://schemas.openxmlformats.org/drawingml/2006/main">
              <a:ext uri="{FF2B5EF4-FFF2-40B4-BE49-F238E27FC236}">
                <a16:creationId xmlns:a16="http://schemas.microsoft.com/office/drawing/2014/main" id="{B962F515-BB78-4F09-8654-3AB892A94907}"/>
              </a:ext>
            </a:extLst>
          </p:cNvPr>
          <p:cNvSpPr>
            <a:spLocks xmlns:a="http://schemas.openxmlformats.org/drawingml/2006/main" noGrp="1"/>
          </p:cNvSpPr>
          <p:nvPr/>
        </p:nvSpPr>
        <p:spPr>
          <a:xfrm xmlns:a="http://schemas.openxmlformats.org/drawingml/2006/main">
            <a:off x="9334500" y="3190875"/>
            <a:ext cx="1885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Publish safely</a:t>
            </a:r>
          </a:p>
        </p:txBody>
      </p:sp>
      <p:sp>
        <p:nvSpPr>
          <p:cNvPr id="18" name="">
            <a:extLst xmlns:a="http://schemas.openxmlformats.org/drawingml/2006/main">
              <a:ext uri="{FF2B5EF4-FFF2-40B4-BE49-F238E27FC236}">
                <a16:creationId xmlns:a16="http://schemas.microsoft.com/office/drawing/2014/main" id="{35847EF4-1167-4CFE-AD87-2014EC134852}"/>
              </a:ext>
            </a:extLst>
          </p:cNvPr>
          <p:cNvSpPr>
            <a:spLocks xmlns:a="http://schemas.openxmlformats.org/drawingml/2006/main" noGrp="1"/>
          </p:cNvSpPr>
          <p:nvPr/>
        </p:nvSpPr>
        <p:spPr>
          <a:xfrm xmlns:a="http://schemas.openxmlformats.org/drawingml/2006/main" flipH="0" flipV="0">
            <a:off x="723900" y="4048125"/>
            <a:ext cx="10553700" cy="9525"/>
          </a:xfrm>
          <a:prstGeom xmlns:a="http://schemas.openxmlformats.org/drawingml/2006/main" prst="line">
            <a:avLst/>
          </a:prstGeom>
          <a:noFill xmlns:a="http://schemas.openxmlformats.org/drawingml/2006/main"/>
          <a:ln xmlns:a="http://schemas.openxmlformats.org/drawingml/2006/main" w="19050">
            <a:solidFill>
              <a:srgbClr val="40516F"/>
            </a:solidFill>
            <a:prstDash val="solid"/>
          </a:ln>
        </p:spPr>
      </p:sp>
      <p:sp>
        <p:nvSpPr>
          <p:cNvPr id="19" name="">
            <a:extLst xmlns:a="http://schemas.openxmlformats.org/drawingml/2006/main">
              <a:ext uri="{FF2B5EF4-FFF2-40B4-BE49-F238E27FC236}">
                <a16:creationId xmlns:a16="http://schemas.microsoft.com/office/drawing/2014/main" id="{456CFCE9-4076-4671-A8DD-72B2CACA17B2}"/>
              </a:ext>
            </a:extLst>
          </p:cNvPr>
          <p:cNvSpPr>
            <a:spLocks xmlns:a="http://schemas.openxmlformats.org/drawingml/2006/main" noGrp="1"/>
          </p:cNvSpPr>
          <p:nvPr/>
        </p:nvSpPr>
        <p:spPr>
          <a:xfrm xmlns:a="http://schemas.openxmlformats.org/drawingml/2006/main">
            <a:off x="723900" y="4419600"/>
            <a:ext cx="9906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D4DDED"/>
                </a:solidFill>
                <a:latin typeface="Helvetica Neue"/>
                <a:ea typeface="Helvetica Neue"/>
                <a:cs typeface="Helvetica Neue"/>
              </a:defRPr>
            </a:pPr>
            <a:r>
              <a:rPr sz="1800" b="0">
                <a:solidFill>
                  <a:srgbClr val="D4DDED"/>
                </a:solidFill>
                <a:latin typeface="Helvetica Neue"/>
                <a:ea typeface="Helvetica Neue"/>
                <a:cs typeface="Helvetica Neue"/>
              </a:rPr>
              <a:t>Correctness lives in durable state. Retries and event delivery need explicit contracts.</a:t>
            </a:r>
          </a:p>
        </p:txBody>
      </p:sp>
      <p:sp>
        <p:nvSpPr>
          <p:cNvPr id="20" name="">
            <a:extLst xmlns:a="http://schemas.openxmlformats.org/drawingml/2006/main">
              <a:ext uri="{FF2B5EF4-FFF2-40B4-BE49-F238E27FC236}">
                <a16:creationId xmlns:a16="http://schemas.microsoft.com/office/drawing/2014/main" id="{4F8E80AA-7FCB-4AC2-A571-52788BF6DC5D}"/>
              </a:ext>
            </a:extLst>
          </p:cNvPr>
          <p:cNvSpPr>
            <a:spLocks xmlns:a="http://schemas.openxmlformats.org/drawingml/2006/main" noGrp="1"/>
          </p:cNvSpPr>
          <p:nvPr/>
        </p:nvSpPr>
        <p:spPr>
          <a:xfrm xmlns:a="http://schemas.openxmlformats.org/drawingml/2006/main">
            <a:off x="723900" y="5543550"/>
            <a:ext cx="5334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Questions &amp; discussion</a:t>
            </a:r>
          </a:p>
        </p:txBody>
      </p:sp>
      <p:sp>
        <p:nvSpPr>
          <p:cNvPr id="21" name="">
            <a:extLst xmlns:a="http://schemas.openxmlformats.org/drawingml/2006/main">
              <a:ext uri="{FF2B5EF4-FFF2-40B4-BE49-F238E27FC236}">
                <a16:creationId xmlns:a16="http://schemas.microsoft.com/office/drawing/2014/main" id="{5F5767D5-CCDB-4AC1-9A29-87B44072146F}"/>
              </a:ext>
            </a:extLst>
          </p:cNvPr>
          <p:cNvSpPr>
            <a:spLocks xmlns:a="http://schemas.openxmlformats.org/drawingml/2006/main" noGrp="1"/>
          </p:cNvSpPr>
          <p:nvPr/>
        </p:nvSpPr>
        <p:spPr>
          <a:xfrm xmlns:a="http://schemas.openxmlformats.org/drawingml/2006/main">
            <a:off x="11220450" y="64198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1905"/>
          </a:bodyPr>
          <a:lstStyle xmlns:a="http://schemas.openxmlformats.org/drawingml/2006/main"/>
          <a:p xmlns:a="http://schemas.openxmlformats.org/drawingml/2006/main">
            <a:pPr algn="r">
              <a:defRPr sz="1050" b="1">
                <a:solidFill>
                  <a:srgbClr val="B8C6DA"/>
                </a:solidFill>
                <a:latin typeface="Helvetica Neue"/>
                <a:ea typeface="Helvetica Neue"/>
                <a:cs typeface="Helvetica Neue"/>
              </a:defRPr>
            </a:pPr>
            <a:r>
              <a:rPr sz="1050" b="1">
                <a:solidFill>
                  <a:srgbClr val="B8C6DA"/>
                </a:solidFill>
                <a:latin typeface="Helvetica Neue"/>
                <a:ea typeface="Helvetica Neue"/>
                <a:cs typeface="Helvetica Neue"/>
              </a:rPr>
              <a:t>10</a:t>
            </a:r>
          </a:p>
        </p:txBody>
      </p:sp>
    </p:spTree>
    <p:extLst>
      <p:ext uri="{BB962C8B-B14F-4D97-AF65-F5344CB8AC3E}">
        <p14:creationId xmlns:p14="http://schemas.microsoft.com/office/powerpoint/2010/main" val="18251385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2026-10-01T14:32:50.3960000Z</dcterms:created>
  <dcterms:modified xsi:type="dcterms:W3CDTF">2026-10-01T14:32:50.3960000Z</dcterms:modified>
</coreProperties>
</file>