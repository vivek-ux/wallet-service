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e2c1585be54ca8" /><Relationship Type="http://schemas.openxmlformats.org/officeDocument/2006/relationships/extended-properties" Target="/docProps/app.xml" Id="Rb89ee41f79144ef0" /><Relationship Type="http://schemas.openxmlformats.org/officeDocument/2006/relationships/officeDocument" Target="/ppt/presentation.xml" Id="R2a42f3e58f2745d5" /></Relationships>
</file>

<file path=ppt/presentation.xml><?xml version="1.0" encoding="utf-8"?>
<p:presentation xmlns:p="http://schemas.openxmlformats.org/presentationml/2006/main">
  <p:sldMasterIdLst>
    <p:sldMasterId xmlns:r="http://schemas.openxmlformats.org/officeDocument/2006/relationships" id="2147483648" r:id="R1eb926bf4a5641c9"/>
  </p:sldMasterIdLst>
  <p:notesMasterIdLst>
    <p:notesMasterId xmlns:r="http://schemas.openxmlformats.org/officeDocument/2006/relationships" r:id="R8e04bc8eab634cd2"/>
  </p:notesMasterIdLst>
  <p:sldIdLst>
    <p:sldId xmlns:r="http://schemas.openxmlformats.org/officeDocument/2006/relationships" id="256" r:id="R76d69a528b064f5b"/>
    <p:sldId xmlns:r="http://schemas.openxmlformats.org/officeDocument/2006/relationships" id="257" r:id="R0aadfe95b9af4734"/>
    <p:sldId xmlns:r="http://schemas.openxmlformats.org/officeDocument/2006/relationships" id="258" r:id="R5ae6827e3b384762"/>
    <p:sldId xmlns:r="http://schemas.openxmlformats.org/officeDocument/2006/relationships" id="259" r:id="R12b9d2ad1a984b20"/>
    <p:sldId xmlns:r="http://schemas.openxmlformats.org/officeDocument/2006/relationships" id="260" r:id="R6550ee2e3681444b"/>
    <p:sldId xmlns:r="http://schemas.openxmlformats.org/officeDocument/2006/relationships" id="261" r:id="Red23aee6e8b744a0"/>
    <p:sldId xmlns:r="http://schemas.openxmlformats.org/officeDocument/2006/relationships" id="262" r:id="Rdda7cfcc322942d1"/>
    <p:sldId xmlns:r="http://schemas.openxmlformats.org/officeDocument/2006/relationships" id="263" r:id="R5f4e3e908e214d09"/>
    <p:sldId xmlns:r="http://schemas.openxmlformats.org/officeDocument/2006/relationships" id="264" r:id="Rd601ff18044743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07f60f94794f6e" /><Relationship Type="http://schemas.openxmlformats.org/officeDocument/2006/relationships/slideMaster" Target="/ppt/slideMasters/slideMaster1.xml" Id="R1eb926bf4a5641c9" /><Relationship Type="http://schemas.openxmlformats.org/officeDocument/2006/relationships/notesMaster" Target="/ppt/notesMasters/notesMaster1.xml" Id="R8e04bc8eab634cd2" /><Relationship Type="http://schemas.openxmlformats.org/officeDocument/2006/relationships/presProps" Target="/ppt/presProps.xml" Id="R4811a463fbe644e4" /><Relationship Type="http://schemas.openxmlformats.org/officeDocument/2006/relationships/tableStyles" Target="/ppt/tableStyles.xml" Id="Rb31c2efe317642a6" /><Relationship Type="http://schemas.openxmlformats.org/officeDocument/2006/relationships/slide" Target="/ppt/slides/slide1.xml" Id="R76d69a528b064f5b" /><Relationship Type="http://schemas.openxmlformats.org/officeDocument/2006/relationships/slide" Target="/ppt/slides/slide2.xml" Id="R0aadfe95b9af4734" /><Relationship Type="http://schemas.openxmlformats.org/officeDocument/2006/relationships/slide" Target="/ppt/slides/slide3.xml" Id="R5ae6827e3b384762" /><Relationship Type="http://schemas.openxmlformats.org/officeDocument/2006/relationships/slide" Target="/ppt/slides/slide4.xml" Id="R12b9d2ad1a984b20" /><Relationship Type="http://schemas.openxmlformats.org/officeDocument/2006/relationships/slide" Target="/ppt/slides/slide5.xml" Id="R6550ee2e3681444b" /><Relationship Type="http://schemas.openxmlformats.org/officeDocument/2006/relationships/slide" Target="/ppt/slides/slide6.xml" Id="Red23aee6e8b744a0" /><Relationship Type="http://schemas.openxmlformats.org/officeDocument/2006/relationships/slide" Target="/ppt/slides/slide7.xml" Id="Rdda7cfcc322942d1" /><Relationship Type="http://schemas.openxmlformats.org/officeDocument/2006/relationships/slide" Target="/ppt/slides/slide8.xml" Id="R5f4e3e908e214d09" /><Relationship Type="http://schemas.openxmlformats.org/officeDocument/2006/relationships/slide" Target="/ppt/slides/slide9.xml" Id="Rd601ff18044743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a917dd370b46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5f22a3548b43cb" /><Relationship Type="http://schemas.openxmlformats.org/officeDocument/2006/relationships/notesMaster" Target="/ppt/notesMasters/notesMaster1.xml" Id="Re68c562ad0674c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38146486fd4df0" /><Relationship Type="http://schemas.openxmlformats.org/officeDocument/2006/relationships/notesMaster" Target="/ppt/notesMasters/notesMaster1.xml" Id="Rf169c73ea46f48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a71cda05ee4e2d" /><Relationship Type="http://schemas.openxmlformats.org/officeDocument/2006/relationships/notesMaster" Target="/ppt/notesMasters/notesMaster1.xml" Id="Rb56bc92b55a541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da80ca3b434c08" /><Relationship Type="http://schemas.openxmlformats.org/officeDocument/2006/relationships/notesMaster" Target="/ppt/notesMasters/notesMaster1.xml" Id="R295e269fe48b4e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872a67be4f4c33" /><Relationship Type="http://schemas.openxmlformats.org/officeDocument/2006/relationships/notesMaster" Target="/ppt/notesMasters/notesMaster1.xml" Id="Re41beaee6d454f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0fb95fd86f46e5" /><Relationship Type="http://schemas.openxmlformats.org/officeDocument/2006/relationships/notesMaster" Target="/ppt/notesMasters/notesMaster1.xml" Id="R1e924539536c4d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eb1f9ced9443e8" /><Relationship Type="http://schemas.openxmlformats.org/officeDocument/2006/relationships/notesMaster" Target="/ppt/notesMasters/notesMaster1.xml" Id="R80df41951a614a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7f261ad6bf4692" /><Relationship Type="http://schemas.openxmlformats.org/officeDocument/2006/relationships/notesMaster" Target="/ppt/notesMasters/notesMaster1.xml" Id="Re35d1377c25342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2b64baa5954555" /><Relationship Type="http://schemas.openxmlformats.org/officeDocument/2006/relationships/notesMaster" Target="/ppt/notesMasters/notesMaster1.xml" Id="R2ebb9e391e8341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Introduce the task. The input is an image after an AI edit; the output is the original image selected from a gallery. The work is currently preliminary.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Ed Pizzi, Sreya Dutta Roy, Sugosh Nagavara Ravindra, Priya Goyal, and Matthijs Douze. “A Self-Supervised Descriptor for Image Copy Detection.” Proceedings of CVPR, 2022. Official source: https://openaccess.thecvf.com/content/CVPR2022/papers/Pizzi_A_Self-Supervised_Descriptor_for_Image_Copy_Detection_CVPR_2022_paper.pdf</a:t>
            </a:r>
          </a:p>
          <a:p xmlns:a="http://schemas.openxmlformats.org/drawingml/2006/main">
            <a:r>
              <a:t/>
            </a:r>
          </a:p>
          <a:p xmlns:a="http://schemas.openxmlformats.org/drawingml/2006/main">
            <a:r>
              <a:t>The paper adapts self-supervised contrastive learning for copy detection, including GeM pooling and entropy regularization. SSCD in this project is used as a frozen global descriptor and first-stage retriever. This is established prior work, not the proposed contribution.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Wenhao Wang, Yifan Sun, Zongxin Yang, Zhentao Tan, Zhengdong Hu, and Yi Yang. “Origin Identification for Text-Guided Image-to-Image Diffusion Models.” Proceedings of the 42nd International Conference on Machine Learning, PMLR 267, 2025. Official proceedings page: https://proceedings.mlr.press/v267/wang25ct.html</a:t>
            </a:r>
          </a:p>
          <a:p xmlns:a="http://schemas.openxmlformats.org/drawingml/2006/main">
            <a:r>
              <a:t/>
            </a:r>
          </a:p>
          <a:p xmlns:a="http://schemas.openxmlformats.org/drawingml/2006/main">
            <a:r>
              <a:t>The authors define ID², build OriPID, and use pretrained variational autoencoder embeddings with a learned linear transformation. The task is closely related to retrieving an input source after text-guided image-to-image diffusion. The proposed thesis experiment does not replace their method or claim that learned mappings are new.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Wenhao Wang, Yifan Sun, Zhentao Tan, and Yi Yang. “Image Copy Detection for Diffusion Models.” Advances in Neural Information Processing Systems 37, 2024, Main Conference Track. Official source: https://proceedings.neurips.cc/paper_files/paper/2024/hash/1a000ee0f122d0bbd3edb9bf55170ea3-Abstract-Conference.html</a:t>
            </a:r>
          </a:p>
          <a:p xmlns:a="http://schemas.openxmlformats.org/drawingml/2006/main">
            <a:r>
              <a:t/>
            </a:r>
          </a:p>
          <a:p xmlns:a="http://schemas.openxmlformats.org/drawingml/2006/main">
            <a:r>
              <a:t>The paper introduces ICDiff and D-Rep. Its PDF-Embedding method represents ordinal replication labels as probability-density supervision so neighboring levels remain related. This is related to image source matching, but its focus is copy detection and replication degree rather than the exact input-source retrieval task in this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contribution is not SSCD, source retrieval, patch matching, or a fusion network by itself. The testable question is whether the exact global-plus-local reranking setup improves final edited-image retrieval in a controlled MagicBrush protocol. A second question compares multi-stage supervision with first-edit-only supervision while keeping the model architecture the same. The present results do not establish multi-stage benefit or novelty.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implemented version, the frozen SSCD encoder extracts one whole-image descriptor and a 3×3 grid of patch descriptors for each image. SSCD ranks the gallery by cosine similarity and returns the top 20 candidates. For each candidate, the local feature is built by taking each query patch’s best match among the candidate patches, then averaging the top three query-patch matches. The small 2-input MLP receives global cosine similarity and this local score and outputs a reranking score. SSCD is not updated. The current code uses a 2→16→1 MLP with 65 trainable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first-edit model sees only the earliest edit from each training source. The multi-stage model sees all available edit turns from training sessions. For every training query, the target is the first original, and the cross-entropy objective encourages that candidate to score above the other candidates in SSCD’s top-20 shortlist. Validation and testing use only the final edit per session. For example: original → edit 1 changes the sky → edit 2 adds an object → edit 3 changes colors. At test, the model receives only the final image; no earlier images or prompts are supplied. This is the exact distinction between training exposure and test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result from the saved local CPU run. Models were trained on a bounded MagicBrush train sample (500 dataset rows; 257 complete sessions in the run record), with saved weights loaded unchanged for the separate public dev evaluation. The sampled dev rows yielded 156 complete sessions/final queries. Gallery: 156 dev originals plus 257 training source originals = 413. Exact original-image SHA-256 overlap between train and dev was zero. Every method used the same held-out queries and gallery. Global and fixed patch each achieved 155/156 Recall@1; first-edit fusion and multi-stage fusion each achieved 156/156. Recall@5 and Recall@10 were 156/156 for all methods. The one differing query was session 352426, final turn 3: correct source rank 3 with global SSCD, rank 2 with fixed patch, rank 1 with both learned models. The absolute gain is one query (0.64 percentage points), too small to establish a reliable general improvement. MagicBrush dev is a development split, not a hidden official test. Results are preliminary, one seed, bounded sample, and without semantic hard-negative mining. Supporting files: thesis_image_retrieval/RESULTS.md; outputs/external_dev/comparison_table.csv; outputs/external_dev/by_turn.csv; outputs/external_dev/per_query_rankings.csv; outputs/external_dev/run_record.json.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gives a promising lead, not a publication-ready conclusion. The main open issue is test difficulty: nearly all source images already rank in the top five, so harder galleries and more independent examples are needed. The current dev set must not be repeatedly used for tuning. Recommended next confirmation: a larger untouched dataset/split, semantically similar hard negatives, multiple random seeds, an edit-type breakdown, and a fair comparison with the VAE-based Origin Identification method if its data/model setup can be reproduced. If the gain is not consistent, revise or drop the fusion claim; if multi-stage training continues to tie, do not present it as a contribution.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20ec5927dc41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45b801ea8f4aae" /><Relationship Type="http://schemas.openxmlformats.org/officeDocument/2006/relationships/slideLayout" Target="/ppt/slideLayouts/slideLayout1.xml" Id="R8965dc72f95d47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65dc72f95d47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b899b058f2474a" /><Relationship Type="http://schemas.openxmlformats.org/officeDocument/2006/relationships/notesSlide" Target="/ppt/notesSlides/notesSlide1.xml" Id="R702a4919de444f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13b96d2a1d940de" /><Relationship Type="http://schemas.openxmlformats.org/officeDocument/2006/relationships/notesSlide" Target="/ppt/notesSlides/notesSlide2.xml" Id="R95e5187cc4d94f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5e9da803564ab5" /><Relationship Type="http://schemas.openxmlformats.org/officeDocument/2006/relationships/notesSlide" Target="/ppt/notesSlides/notesSlide3.xml" Id="R8f87a2e64ef04a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0f4d08519f4b14" /><Relationship Type="http://schemas.openxmlformats.org/officeDocument/2006/relationships/notesSlide" Target="/ppt/notesSlides/notesSlide4.xml" Id="Ra2c614fe7fa648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bb21006e514830" /><Relationship Type="http://schemas.openxmlformats.org/officeDocument/2006/relationships/notesSlide" Target="/ppt/notesSlides/notesSlide5.xml" Id="R88c9283973cd43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fb36781e6644796" /><Relationship Type="http://schemas.openxmlformats.org/officeDocument/2006/relationships/notesSlide" Target="/ppt/notesSlides/notesSlide6.xml" Id="Ra0fda554bf9f41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c2563aa6f66469e" /><Relationship Type="http://schemas.openxmlformats.org/officeDocument/2006/relationships/notesSlide" Target="/ppt/notesSlides/notesSlide7.xml" Id="Ra2347ab46af24a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bad068591714e2c" /><Relationship Type="http://schemas.openxmlformats.org/officeDocument/2006/relationships/notesSlide" Target="/ppt/notesSlides/notesSlide8.xml" Id="R80146b444dac4b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4477f0fb26446b6" /><Relationship Type="http://schemas.openxmlformats.org/officeDocument/2006/relationships/notesSlide" Target="/ppt/notesSlides/notesSlide9.xml" Id="R732210eea1a948f3" /></Relationships>
</file>

<file path=ppt/slides/slide1.xml><?xml version="1.0" encoding="utf-8"?>
<p:sld xmlns:p="http://schemas.openxmlformats.org/presentationml/2006/main">
  <p:cSld>
    <p:bg>
      <p:bgPr>
        <a:solidFill xmlns:a="http://schemas.openxmlformats.org/drawingml/2006/main">
          <a:srgbClr val="142B3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DADD024-A4A0-4EB1-A28B-E87EBE97F02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AF40DF-0BDC-48FD-88A8-6EACD92C9FAC}"/>
              </a:ext>
            </a:extLst>
          </p:cNvPr>
          <p:cNvSpPr>
            <a:spLocks xmlns:a="http://schemas.openxmlformats.org/drawingml/2006/main" noGrp="1"/>
          </p:cNvSpPr>
          <p:nvPr/>
        </p:nvSpPr>
        <p:spPr>
          <a:xfrm xmlns:a="http://schemas.openxmlformats.org/drawingml/2006/main">
            <a:off x="685800" y="7429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350" b="1">
                <a:solidFill>
                  <a:srgbClr val="9DD9D8"/>
                </a:solidFill>
                <a:latin typeface="Helvetica Neue"/>
                <a:ea typeface="Helvetica Neue"/>
                <a:cs typeface="Helvetica Neue"/>
              </a:defRPr>
            </a:pPr>
            <a:r>
              <a:rPr sz="1350" b="1">
                <a:solidFill>
                  <a:srgbClr val="9DD9D8"/>
                </a:solidFill>
                <a:latin typeface="Helvetica Neue"/>
                <a:ea typeface="Helvetica Neue"/>
                <a:cs typeface="Helvetica Neue"/>
              </a:rPr>
              <a:t>M.Tech CSE • THESIS PROPOSAL</a:t>
            </a:r>
          </a:p>
        </p:txBody>
      </p:sp>
      <p:sp>
        <p:nvSpPr>
          <p:cNvPr id="3" name="">
            <a:extLst xmlns:a="http://schemas.openxmlformats.org/drawingml/2006/main">
              <a:ext uri="{FF2B5EF4-FFF2-40B4-BE49-F238E27FC236}">
                <a16:creationId xmlns:a16="http://schemas.microsoft.com/office/drawing/2014/main" id="{7D9BA131-DF10-4D56-AE01-2A4A30986E0C}"/>
              </a:ext>
            </a:extLst>
          </p:cNvPr>
          <p:cNvSpPr>
            <a:spLocks xmlns:a="http://schemas.openxmlformats.org/drawingml/2006/main" noGrp="1"/>
          </p:cNvSpPr>
          <p:nvPr/>
        </p:nvSpPr>
        <p:spPr>
          <a:xfrm xmlns:a="http://schemas.openxmlformats.org/drawingml/2006/main">
            <a:off x="685800" y="1428750"/>
            <a:ext cx="8382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Finding the original</a:t>
            </a:r>
          </a:p>
          <a:p xmlns:a="http://schemas.openxmlformats.org/drawingml/2006/main">
            <a:pPr algn="l">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behind an AI-edited image</a:t>
            </a:r>
          </a:p>
        </p:txBody>
      </p:sp>
      <p:sp>
        <p:nvSpPr>
          <p:cNvPr id="4" name="">
            <a:extLst xmlns:a="http://schemas.openxmlformats.org/drawingml/2006/main">
              <a:ext uri="{FF2B5EF4-FFF2-40B4-BE49-F238E27FC236}">
                <a16:creationId xmlns:a16="http://schemas.microsoft.com/office/drawing/2014/main" id="{A990F75C-7D05-4604-92A3-56382A927204}"/>
              </a:ext>
            </a:extLst>
          </p:cNvPr>
          <p:cNvSpPr>
            <a:spLocks xmlns:a="http://schemas.openxmlformats.org/drawingml/2006/main" noGrp="1"/>
          </p:cNvSpPr>
          <p:nvPr/>
        </p:nvSpPr>
        <p:spPr>
          <a:xfrm xmlns:a="http://schemas.openxmlformats.org/drawingml/2006/main">
            <a:off x="723900" y="3476625"/>
            <a:ext cx="809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2025" b="0">
                <a:solidFill>
                  <a:srgbClr val="D7E2E7"/>
                </a:solidFill>
                <a:latin typeface="Helvetica Neue"/>
                <a:ea typeface="Helvetica Neue"/>
                <a:cs typeface="Helvetica Neue"/>
              </a:defRPr>
            </a:pPr>
            <a:r>
              <a:rPr sz="2025" b="0">
                <a:solidFill>
                  <a:srgbClr val="D7E2E7"/>
                </a:solidFill>
                <a:latin typeface="Helvetica Neue"/>
                <a:ea typeface="Helvetica Neue"/>
                <a:cs typeface="Helvetica Neue"/>
              </a:rPr>
              <a:t>Frozen SSCD retrieval, local patch evidence, and a small learned reranker</a:t>
            </a:r>
          </a:p>
        </p:txBody>
      </p:sp>
      <p:sp>
        <p:nvSpPr>
          <p:cNvPr id="5" name="">
            <a:extLst xmlns:a="http://schemas.openxmlformats.org/drawingml/2006/main">
              <a:ext uri="{FF2B5EF4-FFF2-40B4-BE49-F238E27FC236}">
                <a16:creationId xmlns:a16="http://schemas.microsoft.com/office/drawing/2014/main" id="{A8ECA3C9-9F84-47AC-9EB9-68A1EE0281B9}"/>
              </a:ext>
            </a:extLst>
          </p:cNvPr>
          <p:cNvSpPr>
            <a:spLocks xmlns:a="http://schemas.openxmlformats.org/drawingml/2006/main" noGrp="1"/>
          </p:cNvSpPr>
          <p:nvPr/>
        </p:nvSpPr>
        <p:spPr>
          <a:xfrm xmlns:a="http://schemas.openxmlformats.org/drawingml/2006/main">
            <a:off x="723900" y="4695825"/>
            <a:ext cx="5715000" cy="0"/>
          </a:xfrm>
          <a:prstGeom xmlns:a="http://schemas.openxmlformats.org/drawingml/2006/main" prst="line">
            <a:avLst/>
          </a:prstGeom>
          <a:noFill xmlns:a="http://schemas.openxmlformats.org/drawingml/2006/main"/>
          <a:ln xmlns:a="http://schemas.openxmlformats.org/drawingml/2006/main" w="19050">
            <a:solidFill>
              <a:srgbClr val="4D6B7A"/>
            </a:solidFill>
          </a:ln>
        </p:spPr>
      </p:sp>
      <p:sp>
        <p:nvSpPr>
          <p:cNvPr id="6" name="">
            <a:extLst xmlns:a="http://schemas.openxmlformats.org/drawingml/2006/main">
              <a:ext uri="{FF2B5EF4-FFF2-40B4-BE49-F238E27FC236}">
                <a16:creationId xmlns:a16="http://schemas.microsoft.com/office/drawing/2014/main" id="{D146C404-368D-473A-BA08-CA625989924D}"/>
              </a:ext>
            </a:extLst>
          </p:cNvPr>
          <p:cNvSpPr>
            <a:spLocks xmlns:a="http://schemas.openxmlformats.org/drawingml/2006/main" noGrp="1"/>
          </p:cNvSpPr>
          <p:nvPr/>
        </p:nvSpPr>
        <p:spPr>
          <a:xfrm xmlns:a="http://schemas.openxmlformats.org/drawingml/2006/main">
            <a:off x="723900" y="501015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275" b="1">
                <a:solidFill>
                  <a:srgbClr val="9DD9D8"/>
                </a:solidFill>
                <a:latin typeface="Helvetica Neue"/>
                <a:ea typeface="Helvetica Neue"/>
                <a:cs typeface="Helvetica Neue"/>
              </a:defRPr>
            </a:pPr>
            <a:r>
              <a:rPr sz="1275" b="1">
                <a:solidFill>
                  <a:srgbClr val="9DD9D8"/>
                </a:solidFill>
                <a:latin typeface="Helvetica Neue"/>
                <a:ea typeface="Helvetica Neue"/>
                <a:cs typeface="Helvetica Neue"/>
              </a:rPr>
              <a:t>Research question</a:t>
            </a:r>
          </a:p>
        </p:txBody>
      </p:sp>
      <p:sp>
        <p:nvSpPr>
          <p:cNvPr id="7" name="">
            <a:extLst xmlns:a="http://schemas.openxmlformats.org/drawingml/2006/main">
              <a:ext uri="{FF2B5EF4-FFF2-40B4-BE49-F238E27FC236}">
                <a16:creationId xmlns:a16="http://schemas.microsoft.com/office/drawing/2014/main" id="{23A6AE73-E6F4-43AC-8076-4F1BF38EDE25}"/>
              </a:ext>
            </a:extLst>
          </p:cNvPr>
          <p:cNvSpPr>
            <a:spLocks xmlns:a="http://schemas.openxmlformats.org/drawingml/2006/main" noGrp="1"/>
          </p:cNvSpPr>
          <p:nvPr/>
        </p:nvSpPr>
        <p:spPr>
          <a:xfrm xmlns:a="http://schemas.openxmlformats.org/drawingml/2006/main">
            <a:off x="723900" y="5314950"/>
            <a:ext cx="809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Can local evidence help rank the true source first?</a:t>
            </a:r>
          </a:p>
        </p:txBody>
      </p:sp>
      <p:sp>
        <p:nvSpPr>
          <p:cNvPr id="8" name="">
            <a:extLst xmlns:a="http://schemas.openxmlformats.org/drawingml/2006/main">
              <a:ext uri="{FF2B5EF4-FFF2-40B4-BE49-F238E27FC236}">
                <a16:creationId xmlns:a16="http://schemas.microsoft.com/office/drawing/2014/main" id="{1868B99D-AF87-4C18-94D4-FF97CA9D51D4}"/>
              </a:ext>
            </a:extLst>
          </p:cNvPr>
          <p:cNvSpPr>
            <a:spLocks xmlns:a="http://schemas.openxmlformats.org/drawingml/2006/main" noGrp="1"/>
          </p:cNvSpPr>
          <p:nvPr/>
        </p:nvSpPr>
        <p:spPr>
          <a:xfrm xmlns:a="http://schemas.openxmlformats.org/drawingml/2006/main">
            <a:off x="723900" y="6286500"/>
            <a:ext cx="838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275" b="0">
                <a:solidFill>
                  <a:srgbClr val="B6C7D0"/>
                </a:solidFill>
                <a:latin typeface="Helvetica Neue"/>
                <a:ea typeface="Helvetica Neue"/>
                <a:cs typeface="Helvetica Neue"/>
              </a:defRPr>
            </a:pPr>
            <a:r>
              <a:rPr sz="1275" b="0">
                <a:solidFill>
                  <a:srgbClr val="B6C7D0"/>
                </a:solidFill>
                <a:latin typeface="Helvetica Neue"/>
                <a:ea typeface="Helvetica Neue"/>
                <a:cs typeface="Helvetica Neue"/>
              </a:rPr>
              <a:t>Vivek Negi  •  National Institute of Technology Meghalaya</a:t>
            </a:r>
          </a:p>
        </p:txBody>
      </p:sp>
    </p:spTree>
    <p:extLst>
      <p:ext uri="{BB962C8B-B14F-4D97-AF65-F5344CB8AC3E}">
        <p14:creationId xmlns:p14="http://schemas.microsoft.com/office/powerpoint/2010/main" val="1265072229"/>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09925BB-356B-4851-A5CC-E6BA34427A1C}"/>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1BD876-2487-4E5C-92F7-0143173304CC}"/>
              </a:ext>
            </a:extLst>
          </p:cNvPr>
          <p:cNvSpPr>
            <a:spLocks xmlns:a="http://schemas.openxmlformats.org/drawingml/2006/main" noGrp="1"/>
          </p:cNvSpPr>
          <p:nvPr/>
        </p:nvSpPr>
        <p:spPr>
          <a:xfrm xmlns:a="http://schemas.openxmlformats.org/drawingml/2006/main">
            <a:off x="685800" y="3238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125" b="1">
                <a:solidFill>
                  <a:srgbClr val="087F8C"/>
                </a:solidFill>
                <a:latin typeface="Helvetica Neue"/>
                <a:ea typeface="Helvetica Neue"/>
                <a:cs typeface="Helvetica Neue"/>
              </a:defRPr>
            </a:pPr>
            <a:r>
              <a:rPr sz="1125" b="1">
                <a:solidFill>
                  <a:srgbClr val="087F8C"/>
                </a:solidFill>
                <a:latin typeface="Helvetica Neue"/>
                <a:ea typeface="Helvetica Neue"/>
                <a:cs typeface="Helvetica Neue"/>
              </a:rPr>
              <a:t>LITERATURE 1 OF 3</a:t>
            </a:r>
          </a:p>
        </p:txBody>
      </p:sp>
      <p:sp>
        <p:nvSpPr>
          <p:cNvPr id="3" name="">
            <a:extLst xmlns:a="http://schemas.openxmlformats.org/drawingml/2006/main">
              <a:ext uri="{FF2B5EF4-FFF2-40B4-BE49-F238E27FC236}">
                <a16:creationId xmlns:a16="http://schemas.microsoft.com/office/drawing/2014/main" id="{3E866B19-D920-4C0B-8520-5680B7EAFFC5}"/>
              </a:ext>
            </a:extLst>
          </p:cNvPr>
          <p:cNvSpPr>
            <a:spLocks xmlns:a="http://schemas.openxmlformats.org/drawingml/2006/main" noGrp="1"/>
          </p:cNvSpPr>
          <p:nvPr/>
        </p:nvSpPr>
        <p:spPr>
          <a:xfrm xmlns:a="http://schemas.openxmlformats.org/drawingml/2006/main">
            <a:off x="685800" y="6000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2925" b="1">
                <a:solidFill>
                  <a:srgbClr val="142B3B"/>
                </a:solidFill>
                <a:latin typeface="Helvetica Neue"/>
                <a:ea typeface="Helvetica Neue"/>
                <a:cs typeface="Helvetica Neue"/>
              </a:defRPr>
            </a:pPr>
            <a:r>
              <a:rPr sz="2925" b="1">
                <a:solidFill>
                  <a:srgbClr val="142B3B"/>
                </a:solidFill>
                <a:latin typeface="Helvetica Neue"/>
                <a:ea typeface="Helvetica Neue"/>
                <a:cs typeface="Helvetica Neue"/>
              </a:rPr>
              <a:t>SSCD: a learned image fingerprint</a:t>
            </a:r>
          </a:p>
        </p:txBody>
      </p:sp>
      <p:sp>
        <p:nvSpPr>
          <p:cNvPr id="4" name="">
            <a:extLst xmlns:a="http://schemas.openxmlformats.org/drawingml/2006/main">
              <a:ext uri="{FF2B5EF4-FFF2-40B4-BE49-F238E27FC236}">
                <a16:creationId xmlns:a16="http://schemas.microsoft.com/office/drawing/2014/main" id="{C0276773-7934-4CB0-913E-EA3313B94CE1}"/>
              </a:ext>
            </a:extLst>
          </p:cNvPr>
          <p:cNvSpPr>
            <a:spLocks xmlns:a="http://schemas.openxmlformats.org/drawingml/2006/main" noGrp="1"/>
          </p:cNvSpPr>
          <p:nvPr/>
        </p:nvSpPr>
        <p:spPr>
          <a:xfrm xmlns:a="http://schemas.openxmlformats.org/drawingml/2006/main">
            <a:off x="685800" y="1266825"/>
            <a:ext cx="10820400" cy="0"/>
          </a:xfrm>
          <a:prstGeom xmlns:a="http://schemas.openxmlformats.org/drawingml/2006/main" prst="line">
            <a:avLst/>
          </a:prstGeom>
          <a:noFill xmlns:a="http://schemas.openxmlformats.org/drawingml/2006/main"/>
          <a:ln xmlns:a="http://schemas.openxmlformats.org/drawingml/2006/main" w="12383">
            <a:solidFill>
              <a:srgbClr val="C9D5DA"/>
            </a:solidFill>
          </a:ln>
        </p:spPr>
      </p:sp>
      <p:sp>
        <p:nvSpPr>
          <p:cNvPr id="5" name="">
            <a:extLst xmlns:a="http://schemas.openxmlformats.org/drawingml/2006/main">
              <a:ext uri="{FF2B5EF4-FFF2-40B4-BE49-F238E27FC236}">
                <a16:creationId xmlns:a16="http://schemas.microsoft.com/office/drawing/2014/main" id="{9B9D1222-EAB1-4127-A7A9-50DBBFDA20DB}"/>
              </a:ext>
            </a:extLst>
          </p:cNvPr>
          <p:cNvSpPr>
            <a:spLocks xmlns:a="http://schemas.openxmlformats.org/drawingml/2006/main" noGrp="1"/>
          </p:cNvSpPr>
          <p:nvPr/>
        </p:nvSpPr>
        <p:spPr>
          <a:xfrm xmlns:a="http://schemas.openxmlformats.org/drawingml/2006/main">
            <a:off x="685800" y="65151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125" b="0">
                <a:solidFill>
                  <a:srgbClr val="52636D"/>
                </a:solidFill>
                <a:latin typeface="Helvetica Neue"/>
                <a:ea typeface="Helvetica Neue"/>
                <a:cs typeface="Helvetica Neue"/>
              </a:defRPr>
            </a:pPr>
            <a:r>
              <a:rPr sz="1125" b="0">
                <a:solidFill>
                  <a:srgbClr val="52636D"/>
                </a:solidFill>
                <a:latin typeface="Helvetica Neue"/>
                <a:ea typeface="Helvetica Neue"/>
                <a:cs typeface="Helvetica Neue"/>
              </a:rPr>
              <a:t>M.Tech CSE • Image source retrieval</a:t>
            </a:r>
          </a:p>
        </p:txBody>
      </p:sp>
      <p:sp>
        <p:nvSpPr>
          <p:cNvPr id="6" name="">
            <a:extLst xmlns:a="http://schemas.openxmlformats.org/drawingml/2006/main">
              <a:ext uri="{FF2B5EF4-FFF2-40B4-BE49-F238E27FC236}">
                <a16:creationId xmlns:a16="http://schemas.microsoft.com/office/drawing/2014/main" id="{4E5DFC3E-FE0F-4F2B-957C-3B8C18E43CA3}"/>
              </a:ext>
            </a:extLst>
          </p:cNvPr>
          <p:cNvSpPr>
            <a:spLocks xmlns:a="http://schemas.openxmlformats.org/drawingml/2006/main" noGrp="1"/>
          </p:cNvSpPr>
          <p:nvPr/>
        </p:nvSpPr>
        <p:spPr>
          <a:xfrm xmlns:a="http://schemas.openxmlformats.org/drawingml/2006/main">
            <a:off x="11087100" y="64960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r">
              <a:defRPr sz="1125" b="0">
                <a:solidFill>
                  <a:srgbClr val="52636D"/>
                </a:solidFill>
                <a:latin typeface="Helvetica Neue"/>
                <a:ea typeface="Helvetica Neue"/>
                <a:cs typeface="Helvetica Neue"/>
              </a:defRPr>
            </a:pPr>
            <a:r>
              <a:rPr sz="1125" b="0">
                <a:solidFill>
                  <a:srgbClr val="52636D"/>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B52B539A-9409-4388-9408-55B22F3F473B}"/>
              </a:ext>
            </a:extLst>
          </p:cNvPr>
          <p:cNvSpPr>
            <a:spLocks xmlns:a="http://schemas.openxmlformats.org/drawingml/2006/main" noGrp="1"/>
          </p:cNvSpPr>
          <p:nvPr/>
        </p:nvSpPr>
        <p:spPr>
          <a:xfrm xmlns:a="http://schemas.openxmlformats.org/drawingml/2006/main">
            <a:off x="685800" y="143827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00" b="1">
                <a:solidFill>
                  <a:srgbClr val="087F8C"/>
                </a:solidFill>
                <a:latin typeface="Helvetica Neue"/>
                <a:ea typeface="Helvetica Neue"/>
                <a:cs typeface="Helvetica Neue"/>
              </a:defRPr>
            </a:pPr>
            <a:r>
              <a:rPr sz="1500" b="1">
                <a:solidFill>
                  <a:srgbClr val="087F8C"/>
                </a:solidFill>
                <a:latin typeface="Helvetica Neue"/>
                <a:ea typeface="Helvetica Neue"/>
                <a:cs typeface="Helvetica Neue"/>
              </a:rPr>
              <a:t>Pizzi et al. • CVPR 2022</a:t>
            </a:r>
          </a:p>
        </p:txBody>
      </p:sp>
      <p:sp>
        <p:nvSpPr>
          <p:cNvPr id="8" name="">
            <a:extLst xmlns:a="http://schemas.openxmlformats.org/drawingml/2006/main">
              <a:ext uri="{FF2B5EF4-FFF2-40B4-BE49-F238E27FC236}">
                <a16:creationId xmlns:a16="http://schemas.microsoft.com/office/drawing/2014/main" id="{447C0F2A-7557-40C7-958A-871CE0D97E21}"/>
              </a:ext>
            </a:extLst>
          </p:cNvPr>
          <p:cNvSpPr>
            <a:spLocks xmlns:a="http://schemas.openxmlformats.org/drawingml/2006/main" noGrp="1"/>
          </p:cNvSpPr>
          <p:nvPr/>
        </p:nvSpPr>
        <p:spPr>
          <a:xfrm xmlns:a="http://schemas.openxmlformats.org/drawingml/2006/main">
            <a:off x="685800" y="19431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3333"/>
          </a:bodyPr>
          <a:lstStyle xmlns:a="http://schemas.openxmlformats.org/drawingml/2006/main"/>
          <a:p xmlns:a="http://schemas.openxmlformats.org/drawingml/2006/main">
            <a:pPr algn="l">
              <a:defRPr sz="1875" b="1">
                <a:solidFill>
                  <a:srgbClr val="142B3B"/>
                </a:solidFill>
                <a:latin typeface="Helvetica Neue"/>
                <a:ea typeface="Helvetica Neue"/>
                <a:cs typeface="Helvetica Neue"/>
              </a:defRPr>
            </a:pPr>
            <a:r>
              <a:rPr sz="1875" b="1">
                <a:solidFill>
                  <a:srgbClr val="142B3B"/>
                </a:solidFill>
                <a:latin typeface="Helvetica Neue"/>
                <a:ea typeface="Helvetica Neue"/>
                <a:cs typeface="Helvetica Neue"/>
              </a:rPr>
              <a:t>What it does</a:t>
            </a:r>
          </a:p>
        </p:txBody>
      </p:sp>
      <p:sp>
        <p:nvSpPr>
          <p:cNvPr id="9" name="">
            <a:extLst xmlns:a="http://schemas.openxmlformats.org/drawingml/2006/main">
              <a:ext uri="{FF2B5EF4-FFF2-40B4-BE49-F238E27FC236}">
                <a16:creationId xmlns:a16="http://schemas.microsoft.com/office/drawing/2014/main" id="{0A413912-CF66-4473-ADC9-A7C713D370B2}"/>
              </a:ext>
            </a:extLst>
          </p:cNvPr>
          <p:cNvSpPr>
            <a:spLocks xmlns:a="http://schemas.openxmlformats.org/drawingml/2006/main" noGrp="1"/>
          </p:cNvSpPr>
          <p:nvPr/>
        </p:nvSpPr>
        <p:spPr>
          <a:xfrm xmlns:a="http://schemas.openxmlformats.org/drawingml/2006/main">
            <a:off x="685800" y="2466975"/>
            <a:ext cx="95250" cy="952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43D7364-23FE-4C22-B996-FEB615684EF4}"/>
              </a:ext>
            </a:extLst>
          </p:cNvPr>
          <p:cNvSpPr>
            <a:spLocks xmlns:a="http://schemas.openxmlformats.org/drawingml/2006/main" noGrp="1"/>
          </p:cNvSpPr>
          <p:nvPr/>
        </p:nvSpPr>
        <p:spPr>
          <a:xfrm xmlns:a="http://schemas.openxmlformats.org/drawingml/2006/main">
            <a:off x="914400" y="2381250"/>
            <a:ext cx="62007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725" b="0">
                <a:solidFill>
                  <a:srgbClr val="192B36"/>
                </a:solidFill>
                <a:latin typeface="Helvetica Neue"/>
                <a:ea typeface="Helvetica Neue"/>
                <a:cs typeface="Helvetica Neue"/>
              </a:defRPr>
            </a:pPr>
            <a:r>
              <a:rPr sz="1725" b="0">
                <a:solidFill>
                  <a:srgbClr val="192B36"/>
                </a:solidFill>
                <a:latin typeface="Helvetica Neue"/>
                <a:ea typeface="Helvetica Neue"/>
                <a:cs typeface="Helvetica Neue"/>
              </a:rPr>
              <a:t>Trains an image encoder to give similar “fingerprints” to copies of the same image.</a:t>
            </a:r>
          </a:p>
        </p:txBody>
      </p:sp>
      <p:sp>
        <p:nvSpPr>
          <p:cNvPr id="11" name="">
            <a:extLst xmlns:a="http://schemas.openxmlformats.org/drawingml/2006/main">
              <a:ext uri="{FF2B5EF4-FFF2-40B4-BE49-F238E27FC236}">
                <a16:creationId xmlns:a16="http://schemas.microsoft.com/office/drawing/2014/main" id="{7B4CB948-CB34-4A95-81FF-9D8E8DE0D60A}"/>
              </a:ext>
            </a:extLst>
          </p:cNvPr>
          <p:cNvSpPr>
            <a:spLocks xmlns:a="http://schemas.openxmlformats.org/drawingml/2006/main" noGrp="1"/>
          </p:cNvSpPr>
          <p:nvPr/>
        </p:nvSpPr>
        <p:spPr>
          <a:xfrm xmlns:a="http://schemas.openxmlformats.org/drawingml/2006/main">
            <a:off x="685800" y="3295650"/>
            <a:ext cx="95250" cy="952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78BAB5C-575D-42EA-9893-B11AA4067F0D}"/>
              </a:ext>
            </a:extLst>
          </p:cNvPr>
          <p:cNvSpPr>
            <a:spLocks xmlns:a="http://schemas.openxmlformats.org/drawingml/2006/main" noGrp="1"/>
          </p:cNvSpPr>
          <p:nvPr/>
        </p:nvSpPr>
        <p:spPr>
          <a:xfrm xmlns:a="http://schemas.openxmlformats.org/drawingml/2006/main">
            <a:off x="914400" y="3209925"/>
            <a:ext cx="62007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725" b="0">
                <a:solidFill>
                  <a:srgbClr val="192B36"/>
                </a:solidFill>
                <a:latin typeface="Helvetica Neue"/>
                <a:ea typeface="Helvetica Neue"/>
                <a:cs typeface="Helvetica Neue"/>
              </a:defRPr>
            </a:pPr>
            <a:r>
              <a:rPr sz="1725" b="0">
                <a:solidFill>
                  <a:srgbClr val="192B36"/>
                </a:solidFill>
                <a:latin typeface="Helvetica Neue"/>
                <a:ea typeface="Helvetica Neue"/>
                <a:cs typeface="Helvetica Neue"/>
              </a:rPr>
              <a:t>Compares fingerprints to find likely copies in a large gallery.</a:t>
            </a:r>
          </a:p>
        </p:txBody>
      </p:sp>
      <p:sp>
        <p:nvSpPr>
          <p:cNvPr id="13" name="">
            <a:extLst xmlns:a="http://schemas.openxmlformats.org/drawingml/2006/main">
              <a:ext uri="{FF2B5EF4-FFF2-40B4-BE49-F238E27FC236}">
                <a16:creationId xmlns:a16="http://schemas.microsoft.com/office/drawing/2014/main" id="{D72E8237-44F1-4FD5-A7A0-813FF8348776}"/>
              </a:ext>
            </a:extLst>
          </p:cNvPr>
          <p:cNvSpPr>
            <a:spLocks xmlns:a="http://schemas.openxmlformats.org/drawingml/2006/main" noGrp="1"/>
          </p:cNvSpPr>
          <p:nvPr/>
        </p:nvSpPr>
        <p:spPr>
          <a:xfrm xmlns:a="http://schemas.openxmlformats.org/drawingml/2006/main">
            <a:off x="685800" y="4124325"/>
            <a:ext cx="95250" cy="952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85C1721-5582-4FDE-BCB8-0D7587E7F691}"/>
              </a:ext>
            </a:extLst>
          </p:cNvPr>
          <p:cNvSpPr>
            <a:spLocks xmlns:a="http://schemas.openxmlformats.org/drawingml/2006/main" noGrp="1"/>
          </p:cNvSpPr>
          <p:nvPr/>
        </p:nvSpPr>
        <p:spPr>
          <a:xfrm xmlns:a="http://schemas.openxmlformats.org/drawingml/2006/main">
            <a:off x="914400" y="4038600"/>
            <a:ext cx="62007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725" b="0">
                <a:solidFill>
                  <a:srgbClr val="192B36"/>
                </a:solidFill>
                <a:latin typeface="Helvetica Neue"/>
                <a:ea typeface="Helvetica Neue"/>
                <a:cs typeface="Helvetica Neue"/>
              </a:defRPr>
            </a:pPr>
            <a:r>
              <a:rPr sz="1725" b="0">
                <a:solidFill>
                  <a:srgbClr val="192B36"/>
                </a:solidFill>
                <a:latin typeface="Helvetica Neue"/>
                <a:ea typeface="Helvetica Neue"/>
                <a:cs typeface="Helvetica Neue"/>
              </a:rPr>
              <a:t>Designed for image copy detection, including common visual changes.</a:t>
            </a:r>
          </a:p>
        </p:txBody>
      </p:sp>
      <p:sp>
        <p:nvSpPr>
          <p:cNvPr id="15" name="">
            <a:extLst xmlns:a="http://schemas.openxmlformats.org/drawingml/2006/main">
              <a:ext uri="{FF2B5EF4-FFF2-40B4-BE49-F238E27FC236}">
                <a16:creationId xmlns:a16="http://schemas.microsoft.com/office/drawing/2014/main" id="{C5938484-7C07-4778-8603-48CAACA1BDD5}"/>
              </a:ext>
            </a:extLst>
          </p:cNvPr>
          <p:cNvSpPr>
            <a:spLocks xmlns:a="http://schemas.openxmlformats.org/drawingml/2006/main" noGrp="1"/>
          </p:cNvSpPr>
          <p:nvPr/>
        </p:nvSpPr>
        <p:spPr>
          <a:xfrm xmlns:a="http://schemas.openxmlformats.org/drawingml/2006/main">
            <a:off x="7810500" y="1895475"/>
            <a:ext cx="3333750" cy="3295650"/>
          </a:xfrm>
          <a:prstGeom xmlns:a="http://schemas.openxmlformats.org/drawingml/2006/main" prst="roundRect">
            <a:avLst>
              <a:gd name="adj" fmla="val 2312"/>
            </a:avLst>
          </a:prstGeom>
          <a:solidFill xmlns:a="http://schemas.openxmlformats.org/drawingml/2006/main">
            <a:srgbClr val="E6F4F3"/>
          </a:solidFill>
          <a:ln xmlns:a="http://schemas.openxmlformats.org/drawingml/2006/main" w="14288">
            <a:solidFill>
              <a:srgbClr val="A7D6D4"/>
            </a:solidFill>
          </a:ln>
        </p:spPr>
      </p:sp>
      <p:sp>
        <p:nvSpPr>
          <p:cNvPr id="16" name="">
            <a:extLst xmlns:a="http://schemas.openxmlformats.org/drawingml/2006/main">
              <a:ext uri="{FF2B5EF4-FFF2-40B4-BE49-F238E27FC236}">
                <a16:creationId xmlns:a16="http://schemas.microsoft.com/office/drawing/2014/main" id="{49615074-B45F-4F2F-BC03-7992630FAA28}"/>
              </a:ext>
            </a:extLst>
          </p:cNvPr>
          <p:cNvSpPr>
            <a:spLocks xmlns:a="http://schemas.openxmlformats.org/drawingml/2006/main" noGrp="1"/>
          </p:cNvSpPr>
          <p:nvPr/>
        </p:nvSpPr>
        <p:spPr>
          <a:xfrm xmlns:a="http://schemas.openxmlformats.org/drawingml/2006/main">
            <a:off x="8115300" y="217170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875" b="1">
                <a:solidFill>
                  <a:srgbClr val="142B3B"/>
                </a:solidFill>
                <a:latin typeface="Helvetica Neue"/>
                <a:ea typeface="Helvetica Neue"/>
                <a:cs typeface="Helvetica Neue"/>
              </a:defRPr>
            </a:pPr>
            <a:r>
              <a:rPr sz="1875" b="1">
                <a:solidFill>
                  <a:srgbClr val="142B3B"/>
                </a:solidFill>
                <a:latin typeface="Helvetica Neue"/>
                <a:ea typeface="Helvetica Neue"/>
                <a:cs typeface="Helvetica Neue"/>
              </a:rPr>
              <a:t>Why it matters here</a:t>
            </a:r>
          </a:p>
        </p:txBody>
      </p:sp>
      <p:sp>
        <p:nvSpPr>
          <p:cNvPr id="17" name="">
            <a:extLst xmlns:a="http://schemas.openxmlformats.org/drawingml/2006/main">
              <a:ext uri="{FF2B5EF4-FFF2-40B4-BE49-F238E27FC236}">
                <a16:creationId xmlns:a16="http://schemas.microsoft.com/office/drawing/2014/main" id="{EC2A5D4C-4A7F-43EC-8F16-CC906BE6CD9E}"/>
              </a:ext>
            </a:extLst>
          </p:cNvPr>
          <p:cNvSpPr>
            <a:spLocks xmlns:a="http://schemas.openxmlformats.org/drawingml/2006/main" noGrp="1"/>
          </p:cNvSpPr>
          <p:nvPr/>
        </p:nvSpPr>
        <p:spPr>
          <a:xfrm xmlns:a="http://schemas.openxmlformats.org/drawingml/2006/main">
            <a:off x="8115300" y="2686050"/>
            <a:ext cx="2714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800" b="0">
                <a:solidFill>
                  <a:srgbClr val="192B36"/>
                </a:solidFill>
                <a:latin typeface="Helvetica Neue"/>
                <a:ea typeface="Helvetica Neue"/>
                <a:cs typeface="Helvetica Neue"/>
              </a:defRPr>
            </a:pPr>
            <a:r>
              <a:rPr sz="1800" b="0">
                <a:solidFill>
                  <a:srgbClr val="192B36"/>
                </a:solidFill>
                <a:latin typeface="Helvetica Neue"/>
                <a:ea typeface="Helvetica Neue"/>
                <a:cs typeface="Helvetica Neue"/>
              </a:rPr>
              <a:t>SSCD is our frozen first-stage search tool. It produces a shortlist of possible originals.</a:t>
            </a:r>
          </a:p>
        </p:txBody>
      </p:sp>
      <p:sp>
        <p:nvSpPr>
          <p:cNvPr id="18" name="">
            <a:extLst xmlns:a="http://schemas.openxmlformats.org/drawingml/2006/main">
              <a:ext uri="{FF2B5EF4-FFF2-40B4-BE49-F238E27FC236}">
                <a16:creationId xmlns:a16="http://schemas.microsoft.com/office/drawing/2014/main" id="{8D226C3E-5CCA-49CA-BCCA-8510AC07C93B}"/>
              </a:ext>
            </a:extLst>
          </p:cNvPr>
          <p:cNvSpPr>
            <a:spLocks xmlns:a="http://schemas.openxmlformats.org/drawingml/2006/main" noGrp="1"/>
          </p:cNvSpPr>
          <p:nvPr/>
        </p:nvSpPr>
        <p:spPr>
          <a:xfrm xmlns:a="http://schemas.openxmlformats.org/drawingml/2006/main">
            <a:off x="8115300" y="4038600"/>
            <a:ext cx="2724150" cy="0"/>
          </a:xfrm>
          <a:prstGeom xmlns:a="http://schemas.openxmlformats.org/drawingml/2006/main" prst="line">
            <a:avLst/>
          </a:prstGeom>
          <a:noFill xmlns:a="http://schemas.openxmlformats.org/drawingml/2006/main"/>
          <a:ln xmlns:a="http://schemas.openxmlformats.org/drawingml/2006/main" w="14288">
            <a:solidFill>
              <a:srgbClr val="A7D6D4"/>
            </a:solidFill>
          </a:ln>
        </p:spPr>
      </p:sp>
      <p:sp>
        <p:nvSpPr>
          <p:cNvPr id="19" name="">
            <a:extLst xmlns:a="http://schemas.openxmlformats.org/drawingml/2006/main">
              <a:ext uri="{FF2B5EF4-FFF2-40B4-BE49-F238E27FC236}">
                <a16:creationId xmlns:a16="http://schemas.microsoft.com/office/drawing/2014/main" id="{D500FC20-6EF3-4DF6-9353-4E1C3DF61374}"/>
              </a:ext>
            </a:extLst>
          </p:cNvPr>
          <p:cNvSpPr>
            <a:spLocks xmlns:a="http://schemas.openxmlformats.org/drawingml/2006/main" noGrp="1"/>
          </p:cNvSpPr>
          <p:nvPr/>
        </p:nvSpPr>
        <p:spPr>
          <a:xfrm xmlns:a="http://schemas.openxmlformats.org/drawingml/2006/main">
            <a:off x="8115300" y="42672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350" b="1">
                <a:solidFill>
                  <a:srgbClr val="087F8C"/>
                </a:solidFill>
                <a:latin typeface="Helvetica Neue"/>
                <a:ea typeface="Helvetica Neue"/>
                <a:cs typeface="Helvetica Neue"/>
              </a:defRPr>
            </a:pPr>
            <a:r>
              <a:rPr sz="1350" b="1">
                <a:solidFill>
                  <a:srgbClr val="087F8C"/>
                </a:solidFill>
                <a:latin typeface="Helvetica Neue"/>
                <a:ea typeface="Helvetica Neue"/>
                <a:cs typeface="Helvetica Neue"/>
              </a:rPr>
              <a:t>Open question</a:t>
            </a:r>
          </a:p>
        </p:txBody>
      </p:sp>
      <p:sp>
        <p:nvSpPr>
          <p:cNvPr id="20" name="">
            <a:extLst xmlns:a="http://schemas.openxmlformats.org/drawingml/2006/main">
              <a:ext uri="{FF2B5EF4-FFF2-40B4-BE49-F238E27FC236}">
                <a16:creationId xmlns:a16="http://schemas.microsoft.com/office/drawing/2014/main" id="{6A13F570-B8F1-4FD3-829B-C07BF86A65A6}"/>
              </a:ext>
            </a:extLst>
          </p:cNvPr>
          <p:cNvSpPr>
            <a:spLocks xmlns:a="http://schemas.openxmlformats.org/drawingml/2006/main" noGrp="1"/>
          </p:cNvSpPr>
          <p:nvPr/>
        </p:nvSpPr>
        <p:spPr>
          <a:xfrm xmlns:a="http://schemas.openxmlformats.org/drawingml/2006/main">
            <a:off x="8115300" y="4581525"/>
            <a:ext cx="266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3915"/>
          </a:bodyPr>
          <a:lstStyle xmlns:a="http://schemas.openxmlformats.org/drawingml/2006/main"/>
          <a:p xmlns:a="http://schemas.openxmlformats.org/drawingml/2006/main">
            <a:pPr algn="l">
              <a:defRPr sz="1575" b="0">
                <a:solidFill>
                  <a:srgbClr val="192B36"/>
                </a:solidFill>
                <a:latin typeface="Helvetica Neue"/>
                <a:ea typeface="Helvetica Neue"/>
                <a:cs typeface="Helvetica Neue"/>
              </a:defRPr>
            </a:pPr>
            <a:r>
              <a:rPr sz="1575" b="0">
                <a:solidFill>
                  <a:srgbClr val="192B36"/>
                </a:solidFill>
                <a:latin typeface="Helvetica Neue"/>
                <a:ea typeface="Helvetica Neue"/>
                <a:cs typeface="Helvetica Neue"/>
              </a:rPr>
              <a:t>Can local evidence rescue a source that global similarity ranks lower?</a:t>
            </a:r>
          </a:p>
        </p:txBody>
      </p:sp>
      <p:sp>
        <p:nvSpPr>
          <p:cNvPr id="21" name="">
            <a:extLst xmlns:a="http://schemas.openxmlformats.org/drawingml/2006/main">
              <a:ext uri="{FF2B5EF4-FFF2-40B4-BE49-F238E27FC236}">
                <a16:creationId xmlns:a16="http://schemas.microsoft.com/office/drawing/2014/main" id="{2C4BD0C3-A1DF-44ED-AFE3-F6E52EA717E3}"/>
              </a:ext>
            </a:extLst>
          </p:cNvPr>
          <p:cNvSpPr>
            <a:spLocks xmlns:a="http://schemas.openxmlformats.org/drawingml/2006/main" noGrp="1"/>
          </p:cNvSpPr>
          <p:nvPr/>
        </p:nvSpPr>
        <p:spPr>
          <a:xfrm xmlns:a="http://schemas.openxmlformats.org/drawingml/2006/main">
            <a:off x="685800" y="59531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200" b="0">
                <a:solidFill>
                  <a:srgbClr val="52636D"/>
                </a:solidFill>
                <a:latin typeface="Helvetica Neue"/>
                <a:ea typeface="Helvetica Neue"/>
                <a:cs typeface="Helvetica Neue"/>
              </a:defRPr>
            </a:pPr>
            <a:r>
              <a:rPr sz="1200" b="0">
                <a:solidFill>
                  <a:srgbClr val="52636D"/>
                </a:solidFill>
                <a:latin typeface="Helvetica Neue"/>
                <a:ea typeface="Helvetica Neue"/>
                <a:cs typeface="Helvetica Neue"/>
              </a:rPr>
              <a:t>Source: Pizzi et al., CVPR 2022</a:t>
            </a:r>
          </a:p>
        </p:txBody>
      </p:sp>
    </p:spTree>
    <p:extLst>
      <p:ext uri="{BB962C8B-B14F-4D97-AF65-F5344CB8AC3E}">
        <p14:creationId xmlns:p14="http://schemas.microsoft.com/office/powerpoint/2010/main" val="1781548631"/>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BBEFDCD-2E75-4B08-889B-105FB1A1C72D}"/>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259FFC-C150-4CEA-AC64-EAE1A73094D6}"/>
              </a:ext>
            </a:extLst>
          </p:cNvPr>
          <p:cNvSpPr>
            <a:spLocks xmlns:a="http://schemas.openxmlformats.org/drawingml/2006/main" noGrp="1"/>
          </p:cNvSpPr>
          <p:nvPr/>
        </p:nvSpPr>
        <p:spPr>
          <a:xfrm xmlns:a="http://schemas.openxmlformats.org/drawingml/2006/main">
            <a:off x="685800" y="3238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125" b="1">
                <a:solidFill>
                  <a:srgbClr val="087F8C"/>
                </a:solidFill>
                <a:latin typeface="Helvetica Neue"/>
                <a:ea typeface="Helvetica Neue"/>
                <a:cs typeface="Helvetica Neue"/>
              </a:defRPr>
            </a:pPr>
            <a:r>
              <a:rPr sz="1125" b="1">
                <a:solidFill>
                  <a:srgbClr val="087F8C"/>
                </a:solidFill>
                <a:latin typeface="Helvetica Neue"/>
                <a:ea typeface="Helvetica Neue"/>
                <a:cs typeface="Helvetica Neue"/>
              </a:rPr>
              <a:t>LITERATURE 2 OF 3</a:t>
            </a:r>
          </a:p>
        </p:txBody>
      </p:sp>
      <p:sp>
        <p:nvSpPr>
          <p:cNvPr id="3" name="">
            <a:extLst xmlns:a="http://schemas.openxmlformats.org/drawingml/2006/main">
              <a:ext uri="{FF2B5EF4-FFF2-40B4-BE49-F238E27FC236}">
                <a16:creationId xmlns:a16="http://schemas.microsoft.com/office/drawing/2014/main" id="{28F381D5-3C02-4EC6-BB7A-41446F1F166F}"/>
              </a:ext>
            </a:extLst>
          </p:cNvPr>
          <p:cNvSpPr>
            <a:spLocks xmlns:a="http://schemas.openxmlformats.org/drawingml/2006/main" noGrp="1"/>
          </p:cNvSpPr>
          <p:nvPr/>
        </p:nvSpPr>
        <p:spPr>
          <a:xfrm xmlns:a="http://schemas.openxmlformats.org/drawingml/2006/main">
            <a:off x="685800" y="6000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2925" b="1">
                <a:solidFill>
                  <a:srgbClr val="142B3B"/>
                </a:solidFill>
                <a:latin typeface="Helvetica Neue"/>
                <a:ea typeface="Helvetica Neue"/>
                <a:cs typeface="Helvetica Neue"/>
              </a:defRPr>
            </a:pPr>
            <a:r>
              <a:rPr sz="2925" b="1">
                <a:solidFill>
                  <a:srgbClr val="142B3B"/>
                </a:solidFill>
                <a:latin typeface="Helvetica Neue"/>
                <a:ea typeface="Helvetica Neue"/>
                <a:cs typeface="Helvetica Neue"/>
              </a:rPr>
              <a:t>Origin Identification: mapping VAE features</a:t>
            </a:r>
          </a:p>
        </p:txBody>
      </p:sp>
      <p:sp>
        <p:nvSpPr>
          <p:cNvPr id="4" name="">
            <a:extLst xmlns:a="http://schemas.openxmlformats.org/drawingml/2006/main">
              <a:ext uri="{FF2B5EF4-FFF2-40B4-BE49-F238E27FC236}">
                <a16:creationId xmlns:a16="http://schemas.microsoft.com/office/drawing/2014/main" id="{B6536EA7-3807-4FFD-8867-EBE02220003C}"/>
              </a:ext>
            </a:extLst>
          </p:cNvPr>
          <p:cNvSpPr>
            <a:spLocks xmlns:a="http://schemas.openxmlformats.org/drawingml/2006/main" noGrp="1"/>
          </p:cNvSpPr>
          <p:nvPr/>
        </p:nvSpPr>
        <p:spPr>
          <a:xfrm xmlns:a="http://schemas.openxmlformats.org/drawingml/2006/main">
            <a:off x="685800" y="1266825"/>
            <a:ext cx="10820400" cy="0"/>
          </a:xfrm>
          <a:prstGeom xmlns:a="http://schemas.openxmlformats.org/drawingml/2006/main" prst="line">
            <a:avLst/>
          </a:prstGeom>
          <a:noFill xmlns:a="http://schemas.openxmlformats.org/drawingml/2006/main"/>
          <a:ln xmlns:a="http://schemas.openxmlformats.org/drawingml/2006/main" w="12383">
            <a:solidFill>
              <a:srgbClr val="C9D5DA"/>
            </a:solidFill>
          </a:ln>
        </p:spPr>
      </p:sp>
      <p:sp>
        <p:nvSpPr>
          <p:cNvPr id="5" name="">
            <a:extLst xmlns:a="http://schemas.openxmlformats.org/drawingml/2006/main">
              <a:ext uri="{FF2B5EF4-FFF2-40B4-BE49-F238E27FC236}">
                <a16:creationId xmlns:a16="http://schemas.microsoft.com/office/drawing/2014/main" id="{445A83A5-429B-4414-BDC4-B9C57F0CEFE3}"/>
              </a:ext>
            </a:extLst>
          </p:cNvPr>
          <p:cNvSpPr>
            <a:spLocks xmlns:a="http://schemas.openxmlformats.org/drawingml/2006/main" noGrp="1"/>
          </p:cNvSpPr>
          <p:nvPr/>
        </p:nvSpPr>
        <p:spPr>
          <a:xfrm xmlns:a="http://schemas.openxmlformats.org/drawingml/2006/main">
            <a:off x="685800" y="65151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125" b="0">
                <a:solidFill>
                  <a:srgbClr val="52636D"/>
                </a:solidFill>
                <a:latin typeface="Helvetica Neue"/>
                <a:ea typeface="Helvetica Neue"/>
                <a:cs typeface="Helvetica Neue"/>
              </a:defRPr>
            </a:pPr>
            <a:r>
              <a:rPr sz="1125" b="0">
                <a:solidFill>
                  <a:srgbClr val="52636D"/>
                </a:solidFill>
                <a:latin typeface="Helvetica Neue"/>
                <a:ea typeface="Helvetica Neue"/>
                <a:cs typeface="Helvetica Neue"/>
              </a:rPr>
              <a:t>M.Tech CSE • Image source retrieval</a:t>
            </a:r>
          </a:p>
        </p:txBody>
      </p:sp>
      <p:sp>
        <p:nvSpPr>
          <p:cNvPr id="6" name="">
            <a:extLst xmlns:a="http://schemas.openxmlformats.org/drawingml/2006/main">
              <a:ext uri="{FF2B5EF4-FFF2-40B4-BE49-F238E27FC236}">
                <a16:creationId xmlns:a16="http://schemas.microsoft.com/office/drawing/2014/main" id="{18391AB6-AE07-4A3D-BE85-1EFC976B0277}"/>
              </a:ext>
            </a:extLst>
          </p:cNvPr>
          <p:cNvSpPr>
            <a:spLocks xmlns:a="http://schemas.openxmlformats.org/drawingml/2006/main" noGrp="1"/>
          </p:cNvSpPr>
          <p:nvPr/>
        </p:nvSpPr>
        <p:spPr>
          <a:xfrm xmlns:a="http://schemas.openxmlformats.org/drawingml/2006/main">
            <a:off x="11087100" y="64960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r">
              <a:defRPr sz="1125" b="0">
                <a:solidFill>
                  <a:srgbClr val="52636D"/>
                </a:solidFill>
                <a:latin typeface="Helvetica Neue"/>
                <a:ea typeface="Helvetica Neue"/>
                <a:cs typeface="Helvetica Neue"/>
              </a:defRPr>
            </a:pPr>
            <a:r>
              <a:rPr sz="1125" b="0">
                <a:solidFill>
                  <a:srgbClr val="52636D"/>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39627FA1-225B-4259-A32A-ACC504201CE8}"/>
              </a:ext>
            </a:extLst>
          </p:cNvPr>
          <p:cNvSpPr>
            <a:spLocks xmlns:a="http://schemas.openxmlformats.org/drawingml/2006/main" noGrp="1"/>
          </p:cNvSpPr>
          <p:nvPr/>
        </p:nvSpPr>
        <p:spPr>
          <a:xfrm xmlns:a="http://schemas.openxmlformats.org/drawingml/2006/main">
            <a:off x="685800" y="143827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00" b="1">
                <a:solidFill>
                  <a:srgbClr val="087F8C"/>
                </a:solidFill>
                <a:latin typeface="Helvetica Neue"/>
                <a:ea typeface="Helvetica Neue"/>
                <a:cs typeface="Helvetica Neue"/>
              </a:defRPr>
            </a:pPr>
            <a:r>
              <a:rPr sz="1500" b="1">
                <a:solidFill>
                  <a:srgbClr val="087F8C"/>
                </a:solidFill>
                <a:latin typeface="Helvetica Neue"/>
                <a:ea typeface="Helvetica Neue"/>
                <a:cs typeface="Helvetica Neue"/>
              </a:rPr>
              <a:t>Wang et al. • ICML 2025</a:t>
            </a:r>
          </a:p>
        </p:txBody>
      </p:sp>
      <p:sp>
        <p:nvSpPr>
          <p:cNvPr id="8" name="">
            <a:extLst xmlns:a="http://schemas.openxmlformats.org/drawingml/2006/main">
              <a:ext uri="{FF2B5EF4-FFF2-40B4-BE49-F238E27FC236}">
                <a16:creationId xmlns:a16="http://schemas.microsoft.com/office/drawing/2014/main" id="{658E4B1C-1F42-43AA-A74B-69E09CD447C1}"/>
              </a:ext>
            </a:extLst>
          </p:cNvPr>
          <p:cNvSpPr>
            <a:spLocks xmlns:a="http://schemas.openxmlformats.org/drawingml/2006/main" noGrp="1"/>
          </p:cNvSpPr>
          <p:nvPr/>
        </p:nvSpPr>
        <p:spPr>
          <a:xfrm xmlns:a="http://schemas.openxmlformats.org/drawingml/2006/main">
            <a:off x="685800" y="19431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3333"/>
          </a:bodyPr>
          <a:lstStyle xmlns:a="http://schemas.openxmlformats.org/drawingml/2006/main"/>
          <a:p xmlns:a="http://schemas.openxmlformats.org/drawingml/2006/main">
            <a:pPr algn="l">
              <a:defRPr sz="1875" b="1">
                <a:solidFill>
                  <a:srgbClr val="142B3B"/>
                </a:solidFill>
                <a:latin typeface="Helvetica Neue"/>
                <a:ea typeface="Helvetica Neue"/>
                <a:cs typeface="Helvetica Neue"/>
              </a:defRPr>
            </a:pPr>
            <a:r>
              <a:rPr sz="1875" b="1">
                <a:solidFill>
                  <a:srgbClr val="142B3B"/>
                </a:solidFill>
                <a:latin typeface="Helvetica Neue"/>
                <a:ea typeface="Helvetica Neue"/>
                <a:cs typeface="Helvetica Neue"/>
              </a:rPr>
              <a:t>The problem</a:t>
            </a:r>
          </a:p>
        </p:txBody>
      </p:sp>
      <p:sp>
        <p:nvSpPr>
          <p:cNvPr id="9" name="">
            <a:extLst xmlns:a="http://schemas.openxmlformats.org/drawingml/2006/main">
              <a:ext uri="{FF2B5EF4-FFF2-40B4-BE49-F238E27FC236}">
                <a16:creationId xmlns:a16="http://schemas.microsoft.com/office/drawing/2014/main" id="{BD2CC9CB-33FF-468B-B7A8-23573C63E1E6}"/>
              </a:ext>
            </a:extLst>
          </p:cNvPr>
          <p:cNvSpPr>
            <a:spLocks xmlns:a="http://schemas.openxmlformats.org/drawingml/2006/main" noGrp="1"/>
          </p:cNvSpPr>
          <p:nvPr/>
        </p:nvSpPr>
        <p:spPr>
          <a:xfrm xmlns:a="http://schemas.openxmlformats.org/drawingml/2006/main">
            <a:off x="685800" y="2343150"/>
            <a:ext cx="48101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2025" b="0">
                <a:solidFill>
                  <a:srgbClr val="192B36"/>
                </a:solidFill>
                <a:latin typeface="Helvetica Neue"/>
                <a:ea typeface="Helvetica Neue"/>
                <a:cs typeface="Helvetica Neue"/>
              </a:defRPr>
            </a:pPr>
            <a:r>
              <a:rPr sz="2025" b="0">
                <a:solidFill>
                  <a:srgbClr val="192B36"/>
                </a:solidFill>
                <a:latin typeface="Helvetica Neue"/>
                <a:ea typeface="Helvetica Neue"/>
                <a:cs typeface="Helvetica Neue"/>
              </a:rPr>
              <a:t>A text-guided diffusion edit changes an input image. The goal is to retrieve that input image again.</a:t>
            </a:r>
          </a:p>
        </p:txBody>
      </p:sp>
      <p:sp>
        <p:nvSpPr>
          <p:cNvPr id="10" name="">
            <a:extLst xmlns:a="http://schemas.openxmlformats.org/drawingml/2006/main">
              <a:ext uri="{FF2B5EF4-FFF2-40B4-BE49-F238E27FC236}">
                <a16:creationId xmlns:a16="http://schemas.microsoft.com/office/drawing/2014/main" id="{8F74C38A-8DDB-49D6-B531-8A619199B892}"/>
              </a:ext>
            </a:extLst>
          </p:cNvPr>
          <p:cNvSpPr>
            <a:spLocks xmlns:a="http://schemas.openxmlformats.org/drawingml/2006/main" noGrp="1"/>
          </p:cNvSpPr>
          <p:nvPr/>
        </p:nvSpPr>
        <p:spPr>
          <a:xfrm xmlns:a="http://schemas.openxmlformats.org/drawingml/2006/main">
            <a:off x="685800" y="37719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3333"/>
          </a:bodyPr>
          <a:lstStyle xmlns:a="http://schemas.openxmlformats.org/drawingml/2006/main"/>
          <a:p xmlns:a="http://schemas.openxmlformats.org/drawingml/2006/main">
            <a:pPr algn="l">
              <a:defRPr sz="1875" b="1">
                <a:solidFill>
                  <a:srgbClr val="142B3B"/>
                </a:solidFill>
                <a:latin typeface="Helvetica Neue"/>
                <a:ea typeface="Helvetica Neue"/>
                <a:cs typeface="Helvetica Neue"/>
              </a:defRPr>
            </a:pPr>
            <a:r>
              <a:rPr sz="1875" b="1">
                <a:solidFill>
                  <a:srgbClr val="142B3B"/>
                </a:solidFill>
                <a:latin typeface="Helvetica Neue"/>
                <a:ea typeface="Helvetica Neue"/>
                <a:cs typeface="Helvetica Neue"/>
              </a:rPr>
              <a:t>Their method</a:t>
            </a:r>
          </a:p>
        </p:txBody>
      </p:sp>
      <p:sp>
        <p:nvSpPr>
          <p:cNvPr id="11" name="">
            <a:extLst xmlns:a="http://schemas.openxmlformats.org/drawingml/2006/main">
              <a:ext uri="{FF2B5EF4-FFF2-40B4-BE49-F238E27FC236}">
                <a16:creationId xmlns:a16="http://schemas.microsoft.com/office/drawing/2014/main" id="{4F133721-D402-4112-B88C-28C36E728B0B}"/>
              </a:ext>
            </a:extLst>
          </p:cNvPr>
          <p:cNvSpPr>
            <a:spLocks xmlns:a="http://schemas.openxmlformats.org/drawingml/2006/main" noGrp="1"/>
          </p:cNvSpPr>
          <p:nvPr/>
        </p:nvSpPr>
        <p:spPr>
          <a:xfrm xmlns:a="http://schemas.openxmlformats.org/drawingml/2006/main">
            <a:off x="685800" y="4200525"/>
            <a:ext cx="95250" cy="952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C8C4A8F-B516-4517-B8AD-2CF2766A91DE}"/>
              </a:ext>
            </a:extLst>
          </p:cNvPr>
          <p:cNvSpPr>
            <a:spLocks xmlns:a="http://schemas.openxmlformats.org/drawingml/2006/main" noGrp="1"/>
          </p:cNvSpPr>
          <p:nvPr/>
        </p:nvSpPr>
        <p:spPr>
          <a:xfrm xmlns:a="http://schemas.openxmlformats.org/drawingml/2006/main">
            <a:off x="914400" y="4114800"/>
            <a:ext cx="5181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75" b="0">
                <a:solidFill>
                  <a:srgbClr val="192B36"/>
                </a:solidFill>
                <a:latin typeface="Helvetica Neue"/>
                <a:ea typeface="Helvetica Neue"/>
                <a:cs typeface="Helvetica Neue"/>
              </a:defRPr>
            </a:pPr>
            <a:r>
              <a:rPr sz="1575" b="0">
                <a:solidFill>
                  <a:srgbClr val="192B36"/>
                </a:solidFill>
                <a:latin typeface="Helvetica Neue"/>
                <a:ea typeface="Helvetica Neue"/>
                <a:cs typeface="Helvetica Neue"/>
              </a:rPr>
              <a:t>Extracts features using a pretrained VAE.</a:t>
            </a:r>
          </a:p>
        </p:txBody>
      </p:sp>
      <p:sp>
        <p:nvSpPr>
          <p:cNvPr id="13" name="">
            <a:extLst xmlns:a="http://schemas.openxmlformats.org/drawingml/2006/main">
              <a:ext uri="{FF2B5EF4-FFF2-40B4-BE49-F238E27FC236}">
                <a16:creationId xmlns:a16="http://schemas.microsoft.com/office/drawing/2014/main" id="{5CD8ACE7-1475-472A-946A-8814580A38DC}"/>
              </a:ext>
            </a:extLst>
          </p:cNvPr>
          <p:cNvSpPr>
            <a:spLocks xmlns:a="http://schemas.openxmlformats.org/drawingml/2006/main" noGrp="1"/>
          </p:cNvSpPr>
          <p:nvPr/>
        </p:nvSpPr>
        <p:spPr>
          <a:xfrm xmlns:a="http://schemas.openxmlformats.org/drawingml/2006/main">
            <a:off x="685800" y="4781550"/>
            <a:ext cx="95250" cy="952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14EF0F5-8E9A-4897-9078-38706A8773B1}"/>
              </a:ext>
            </a:extLst>
          </p:cNvPr>
          <p:cNvSpPr>
            <a:spLocks xmlns:a="http://schemas.openxmlformats.org/drawingml/2006/main" noGrp="1"/>
          </p:cNvSpPr>
          <p:nvPr/>
        </p:nvSpPr>
        <p:spPr>
          <a:xfrm xmlns:a="http://schemas.openxmlformats.org/drawingml/2006/main">
            <a:off x="914400" y="4695825"/>
            <a:ext cx="5181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75" b="0">
                <a:solidFill>
                  <a:srgbClr val="192B36"/>
                </a:solidFill>
                <a:latin typeface="Helvetica Neue"/>
                <a:ea typeface="Helvetica Neue"/>
                <a:cs typeface="Helvetica Neue"/>
              </a:defRPr>
            </a:pPr>
            <a:r>
              <a:rPr sz="1575" b="0">
                <a:solidFill>
                  <a:srgbClr val="192B36"/>
                </a:solidFill>
                <a:latin typeface="Helvetica Neue"/>
                <a:ea typeface="Helvetica Neue"/>
                <a:cs typeface="Helvetica Neue"/>
              </a:rPr>
              <a:t>Learns a linear mapping that brings edited-image features closer to the source.</a:t>
            </a:r>
          </a:p>
        </p:txBody>
      </p:sp>
      <p:sp>
        <p:nvSpPr>
          <p:cNvPr id="15" name="">
            <a:extLst xmlns:a="http://schemas.openxmlformats.org/drawingml/2006/main">
              <a:ext uri="{FF2B5EF4-FFF2-40B4-BE49-F238E27FC236}">
                <a16:creationId xmlns:a16="http://schemas.microsoft.com/office/drawing/2014/main" id="{9E271275-CC8A-4951-AAD6-1D2792206653}"/>
              </a:ext>
            </a:extLst>
          </p:cNvPr>
          <p:cNvSpPr>
            <a:spLocks xmlns:a="http://schemas.openxmlformats.org/drawingml/2006/main" noGrp="1"/>
          </p:cNvSpPr>
          <p:nvPr/>
        </p:nvSpPr>
        <p:spPr>
          <a:xfrm xmlns:a="http://schemas.openxmlformats.org/drawingml/2006/main">
            <a:off x="685800" y="5362575"/>
            <a:ext cx="95250" cy="952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75EFE15-61F0-4967-997A-CC10D88D5036}"/>
              </a:ext>
            </a:extLst>
          </p:cNvPr>
          <p:cNvSpPr>
            <a:spLocks xmlns:a="http://schemas.openxmlformats.org/drawingml/2006/main" noGrp="1"/>
          </p:cNvSpPr>
          <p:nvPr/>
        </p:nvSpPr>
        <p:spPr>
          <a:xfrm xmlns:a="http://schemas.openxmlformats.org/drawingml/2006/main">
            <a:off x="914400" y="5276850"/>
            <a:ext cx="5181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75" b="0">
                <a:solidFill>
                  <a:srgbClr val="192B36"/>
                </a:solidFill>
                <a:latin typeface="Helvetica Neue"/>
                <a:ea typeface="Helvetica Neue"/>
                <a:cs typeface="Helvetica Neue"/>
              </a:defRPr>
            </a:pPr>
            <a:r>
              <a:rPr sz="1575" b="0">
                <a:solidFill>
                  <a:srgbClr val="192B36"/>
                </a:solidFill>
                <a:latin typeface="Helvetica Neue"/>
                <a:ea typeface="Helvetica Neue"/>
                <a:cs typeface="Helvetica Neue"/>
              </a:rPr>
              <a:t>Tests whether the mapping transfers across diffusion models.</a:t>
            </a:r>
          </a:p>
        </p:txBody>
      </p:sp>
      <p:sp>
        <p:nvSpPr>
          <p:cNvPr id="17" name="">
            <a:extLst xmlns:a="http://schemas.openxmlformats.org/drawingml/2006/main">
              <a:ext uri="{FF2B5EF4-FFF2-40B4-BE49-F238E27FC236}">
                <a16:creationId xmlns:a16="http://schemas.microsoft.com/office/drawing/2014/main" id="{CACC4AB2-C4D4-401E-A92E-16A07709F717}"/>
              </a:ext>
            </a:extLst>
          </p:cNvPr>
          <p:cNvSpPr>
            <a:spLocks xmlns:a="http://schemas.openxmlformats.org/drawingml/2006/main" noGrp="1"/>
          </p:cNvSpPr>
          <p:nvPr/>
        </p:nvSpPr>
        <p:spPr>
          <a:xfrm xmlns:a="http://schemas.openxmlformats.org/drawingml/2006/main">
            <a:off x="6572250" y="1809750"/>
            <a:ext cx="0" cy="3714750"/>
          </a:xfrm>
          <a:prstGeom xmlns:a="http://schemas.openxmlformats.org/drawingml/2006/main" prst="line">
            <a:avLst/>
          </a:prstGeom>
          <a:noFill xmlns:a="http://schemas.openxmlformats.org/drawingml/2006/main"/>
          <a:ln xmlns:a="http://schemas.openxmlformats.org/drawingml/2006/main" w="19050">
            <a:solidFill>
              <a:srgbClr val="C9D5DA"/>
            </a:solidFill>
          </a:ln>
        </p:spPr>
      </p:sp>
      <p:sp>
        <p:nvSpPr>
          <p:cNvPr id="18" name="">
            <a:extLst xmlns:a="http://schemas.openxmlformats.org/drawingml/2006/main">
              <a:ext uri="{FF2B5EF4-FFF2-40B4-BE49-F238E27FC236}">
                <a16:creationId xmlns:a16="http://schemas.microsoft.com/office/drawing/2014/main" id="{4ED12D4D-4FC5-4755-AA88-94979644BD0A}"/>
              </a:ext>
            </a:extLst>
          </p:cNvPr>
          <p:cNvSpPr>
            <a:spLocks xmlns:a="http://schemas.openxmlformats.org/drawingml/2006/main" noGrp="1"/>
          </p:cNvSpPr>
          <p:nvPr/>
        </p:nvSpPr>
        <p:spPr>
          <a:xfrm xmlns:a="http://schemas.openxmlformats.org/drawingml/2006/main">
            <a:off x="7048500" y="194310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3333"/>
          </a:bodyPr>
          <a:lstStyle xmlns:a="http://schemas.openxmlformats.org/drawingml/2006/main"/>
          <a:p xmlns:a="http://schemas.openxmlformats.org/drawingml/2006/main">
            <a:pPr algn="l">
              <a:defRPr sz="1875" b="1">
                <a:solidFill>
                  <a:srgbClr val="142B3B"/>
                </a:solidFill>
                <a:latin typeface="Helvetica Neue"/>
                <a:ea typeface="Helvetica Neue"/>
                <a:cs typeface="Helvetica Neue"/>
              </a:defRPr>
            </a:pPr>
            <a:r>
              <a:rPr sz="1875" b="1">
                <a:solidFill>
                  <a:srgbClr val="142B3B"/>
                </a:solidFill>
                <a:latin typeface="Helvetica Neue"/>
                <a:ea typeface="Helvetica Neue"/>
                <a:cs typeface="Helvetica Neue"/>
              </a:rPr>
              <a:t>Connection to this thesis</a:t>
            </a:r>
          </a:p>
        </p:txBody>
      </p:sp>
      <p:sp>
        <p:nvSpPr>
          <p:cNvPr id="19" name="">
            <a:extLst xmlns:a="http://schemas.openxmlformats.org/drawingml/2006/main">
              <a:ext uri="{FF2B5EF4-FFF2-40B4-BE49-F238E27FC236}">
                <a16:creationId xmlns:a16="http://schemas.microsoft.com/office/drawing/2014/main" id="{782239BF-03FE-4D74-8C8E-F3AE127ADD5F}"/>
              </a:ext>
            </a:extLst>
          </p:cNvPr>
          <p:cNvSpPr>
            <a:spLocks xmlns:a="http://schemas.openxmlformats.org/drawingml/2006/main" noGrp="1"/>
          </p:cNvSpPr>
          <p:nvPr/>
        </p:nvSpPr>
        <p:spPr>
          <a:xfrm xmlns:a="http://schemas.openxmlformats.org/drawingml/2006/main">
            <a:off x="7048500" y="2476500"/>
            <a:ext cx="4095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950" b="0">
                <a:solidFill>
                  <a:srgbClr val="192B36"/>
                </a:solidFill>
                <a:latin typeface="Helvetica Neue"/>
                <a:ea typeface="Helvetica Neue"/>
                <a:cs typeface="Helvetica Neue"/>
              </a:defRPr>
            </a:pPr>
            <a:r>
              <a:rPr sz="1950" b="0">
                <a:solidFill>
                  <a:srgbClr val="192B36"/>
                </a:solidFill>
                <a:latin typeface="Helvetica Neue"/>
                <a:ea typeface="Helvetica Neue"/>
                <a:cs typeface="Helvetica Neue"/>
              </a:rPr>
              <a:t>This paper already studies source retrieval after AI editing. Our experiment asks a different, narrow question: does combining SSCD’s global score with local patch evidence help on our benchmark?</a:t>
            </a:r>
          </a:p>
        </p:txBody>
      </p:sp>
      <p:sp>
        <p:nvSpPr>
          <p:cNvPr id="20" name="">
            <a:extLst xmlns:a="http://schemas.openxmlformats.org/drawingml/2006/main">
              <a:ext uri="{FF2B5EF4-FFF2-40B4-BE49-F238E27FC236}">
                <a16:creationId xmlns:a16="http://schemas.microsoft.com/office/drawing/2014/main" id="{AE407E1E-744D-44A0-B71D-7FD235285260}"/>
              </a:ext>
            </a:extLst>
          </p:cNvPr>
          <p:cNvSpPr>
            <a:spLocks xmlns:a="http://schemas.openxmlformats.org/drawingml/2006/main" noGrp="1"/>
          </p:cNvSpPr>
          <p:nvPr/>
        </p:nvSpPr>
        <p:spPr>
          <a:xfrm xmlns:a="http://schemas.openxmlformats.org/drawingml/2006/main">
            <a:off x="7048500" y="463867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00" b="1">
                <a:solidFill>
                  <a:srgbClr val="A34738"/>
                </a:solidFill>
                <a:latin typeface="Helvetica Neue"/>
                <a:ea typeface="Helvetica Neue"/>
                <a:cs typeface="Helvetica Neue"/>
              </a:defRPr>
            </a:pPr>
            <a:r>
              <a:rPr sz="1500" b="1">
                <a:solidFill>
                  <a:srgbClr val="A34738"/>
                </a:solidFill>
                <a:latin typeface="Helvetica Neue"/>
                <a:ea typeface="Helvetica Neue"/>
                <a:cs typeface="Helvetica Neue"/>
              </a:rPr>
              <a:t>Not a claim that source retrieval or learned feature mapping is new.</a:t>
            </a:r>
          </a:p>
        </p:txBody>
      </p:sp>
      <p:sp>
        <p:nvSpPr>
          <p:cNvPr id="21" name="">
            <a:extLst xmlns:a="http://schemas.openxmlformats.org/drawingml/2006/main">
              <a:ext uri="{FF2B5EF4-FFF2-40B4-BE49-F238E27FC236}">
                <a16:creationId xmlns:a16="http://schemas.microsoft.com/office/drawing/2014/main" id="{BBD8AF04-883C-47A1-973B-C103B681BDCE}"/>
              </a:ext>
            </a:extLst>
          </p:cNvPr>
          <p:cNvSpPr>
            <a:spLocks xmlns:a="http://schemas.openxmlformats.org/drawingml/2006/main" noGrp="1"/>
          </p:cNvSpPr>
          <p:nvPr/>
        </p:nvSpPr>
        <p:spPr>
          <a:xfrm xmlns:a="http://schemas.openxmlformats.org/drawingml/2006/main">
            <a:off x="685800" y="59531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200" b="0">
                <a:solidFill>
                  <a:srgbClr val="52636D"/>
                </a:solidFill>
                <a:latin typeface="Helvetica Neue"/>
                <a:ea typeface="Helvetica Neue"/>
                <a:cs typeface="Helvetica Neue"/>
              </a:defRPr>
            </a:pPr>
            <a:r>
              <a:rPr sz="1200" b="0">
                <a:solidFill>
                  <a:srgbClr val="52636D"/>
                </a:solidFill>
                <a:latin typeface="Helvetica Neue"/>
                <a:ea typeface="Helvetica Neue"/>
                <a:cs typeface="Helvetica Neue"/>
              </a:rPr>
              <a:t>Source: Wang et al., ICML 2025</a:t>
            </a:r>
          </a:p>
        </p:txBody>
      </p:sp>
    </p:spTree>
    <p:extLst>
      <p:ext uri="{BB962C8B-B14F-4D97-AF65-F5344CB8AC3E}">
        <p14:creationId xmlns:p14="http://schemas.microsoft.com/office/powerpoint/2010/main" val="746979099"/>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F3B3F71-CB9A-4235-851D-ED57B88B5DFA}"/>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31E50B-954B-4993-80E9-1763D0B3B5DE}"/>
              </a:ext>
            </a:extLst>
          </p:cNvPr>
          <p:cNvSpPr>
            <a:spLocks xmlns:a="http://schemas.openxmlformats.org/drawingml/2006/main" noGrp="1"/>
          </p:cNvSpPr>
          <p:nvPr/>
        </p:nvSpPr>
        <p:spPr>
          <a:xfrm xmlns:a="http://schemas.openxmlformats.org/drawingml/2006/main">
            <a:off x="685800" y="3238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125" b="1">
                <a:solidFill>
                  <a:srgbClr val="087F8C"/>
                </a:solidFill>
                <a:latin typeface="Helvetica Neue"/>
                <a:ea typeface="Helvetica Neue"/>
                <a:cs typeface="Helvetica Neue"/>
              </a:defRPr>
            </a:pPr>
            <a:r>
              <a:rPr sz="1125" b="1">
                <a:solidFill>
                  <a:srgbClr val="087F8C"/>
                </a:solidFill>
                <a:latin typeface="Helvetica Neue"/>
                <a:ea typeface="Helvetica Neue"/>
                <a:cs typeface="Helvetica Neue"/>
              </a:rPr>
              <a:t>LITERATURE 3 OF 3</a:t>
            </a:r>
          </a:p>
        </p:txBody>
      </p:sp>
      <p:sp>
        <p:nvSpPr>
          <p:cNvPr id="3" name="">
            <a:extLst xmlns:a="http://schemas.openxmlformats.org/drawingml/2006/main">
              <a:ext uri="{FF2B5EF4-FFF2-40B4-BE49-F238E27FC236}">
                <a16:creationId xmlns:a16="http://schemas.microsoft.com/office/drawing/2014/main" id="{BCFCA503-CE88-40A8-BC46-A834AB2A8E44}"/>
              </a:ext>
            </a:extLst>
          </p:cNvPr>
          <p:cNvSpPr>
            <a:spLocks xmlns:a="http://schemas.openxmlformats.org/drawingml/2006/main" noGrp="1"/>
          </p:cNvSpPr>
          <p:nvPr/>
        </p:nvSpPr>
        <p:spPr>
          <a:xfrm xmlns:a="http://schemas.openxmlformats.org/drawingml/2006/main">
            <a:off x="685800" y="6000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2925" b="1">
                <a:solidFill>
                  <a:srgbClr val="142B3B"/>
                </a:solidFill>
                <a:latin typeface="Helvetica Neue"/>
                <a:ea typeface="Helvetica Neue"/>
                <a:cs typeface="Helvetica Neue"/>
              </a:defRPr>
            </a:pPr>
            <a:r>
              <a:rPr sz="2925" b="1">
                <a:solidFill>
                  <a:srgbClr val="142B3B"/>
                </a:solidFill>
                <a:latin typeface="Helvetica Neue"/>
                <a:ea typeface="Helvetica Neue"/>
                <a:cs typeface="Helvetica Neue"/>
              </a:rPr>
              <a:t>ICDiff: measuring image copying by diffusion models</a:t>
            </a:r>
          </a:p>
        </p:txBody>
      </p:sp>
      <p:sp>
        <p:nvSpPr>
          <p:cNvPr id="4" name="">
            <a:extLst xmlns:a="http://schemas.openxmlformats.org/drawingml/2006/main">
              <a:ext uri="{FF2B5EF4-FFF2-40B4-BE49-F238E27FC236}">
                <a16:creationId xmlns:a16="http://schemas.microsoft.com/office/drawing/2014/main" id="{58070815-BE08-4D9D-8A9E-99FE60EEFD86}"/>
              </a:ext>
            </a:extLst>
          </p:cNvPr>
          <p:cNvSpPr>
            <a:spLocks xmlns:a="http://schemas.openxmlformats.org/drawingml/2006/main" noGrp="1"/>
          </p:cNvSpPr>
          <p:nvPr/>
        </p:nvSpPr>
        <p:spPr>
          <a:xfrm xmlns:a="http://schemas.openxmlformats.org/drawingml/2006/main">
            <a:off x="685800" y="1266825"/>
            <a:ext cx="10820400" cy="0"/>
          </a:xfrm>
          <a:prstGeom xmlns:a="http://schemas.openxmlformats.org/drawingml/2006/main" prst="line">
            <a:avLst/>
          </a:prstGeom>
          <a:noFill xmlns:a="http://schemas.openxmlformats.org/drawingml/2006/main"/>
          <a:ln xmlns:a="http://schemas.openxmlformats.org/drawingml/2006/main" w="12383">
            <a:solidFill>
              <a:srgbClr val="C9D5DA"/>
            </a:solidFill>
          </a:ln>
        </p:spPr>
      </p:sp>
      <p:sp>
        <p:nvSpPr>
          <p:cNvPr id="5" name="">
            <a:extLst xmlns:a="http://schemas.openxmlformats.org/drawingml/2006/main">
              <a:ext uri="{FF2B5EF4-FFF2-40B4-BE49-F238E27FC236}">
                <a16:creationId xmlns:a16="http://schemas.microsoft.com/office/drawing/2014/main" id="{F610E100-F664-48E6-8324-6FE5659933C9}"/>
              </a:ext>
            </a:extLst>
          </p:cNvPr>
          <p:cNvSpPr>
            <a:spLocks xmlns:a="http://schemas.openxmlformats.org/drawingml/2006/main" noGrp="1"/>
          </p:cNvSpPr>
          <p:nvPr/>
        </p:nvSpPr>
        <p:spPr>
          <a:xfrm xmlns:a="http://schemas.openxmlformats.org/drawingml/2006/main">
            <a:off x="685800" y="65151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125" b="0">
                <a:solidFill>
                  <a:srgbClr val="52636D"/>
                </a:solidFill>
                <a:latin typeface="Helvetica Neue"/>
                <a:ea typeface="Helvetica Neue"/>
                <a:cs typeface="Helvetica Neue"/>
              </a:defRPr>
            </a:pPr>
            <a:r>
              <a:rPr sz="1125" b="0">
                <a:solidFill>
                  <a:srgbClr val="52636D"/>
                </a:solidFill>
                <a:latin typeface="Helvetica Neue"/>
                <a:ea typeface="Helvetica Neue"/>
                <a:cs typeface="Helvetica Neue"/>
              </a:rPr>
              <a:t>M.Tech CSE • Image source retrieval</a:t>
            </a:r>
          </a:p>
        </p:txBody>
      </p:sp>
      <p:sp>
        <p:nvSpPr>
          <p:cNvPr id="6" name="">
            <a:extLst xmlns:a="http://schemas.openxmlformats.org/drawingml/2006/main">
              <a:ext uri="{FF2B5EF4-FFF2-40B4-BE49-F238E27FC236}">
                <a16:creationId xmlns:a16="http://schemas.microsoft.com/office/drawing/2014/main" id="{2BC5F7BE-5999-4EE3-B424-5D372E1C8FD2}"/>
              </a:ext>
            </a:extLst>
          </p:cNvPr>
          <p:cNvSpPr>
            <a:spLocks xmlns:a="http://schemas.openxmlformats.org/drawingml/2006/main" noGrp="1"/>
          </p:cNvSpPr>
          <p:nvPr/>
        </p:nvSpPr>
        <p:spPr>
          <a:xfrm xmlns:a="http://schemas.openxmlformats.org/drawingml/2006/main">
            <a:off x="11087100" y="64960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r">
              <a:defRPr sz="1125" b="0">
                <a:solidFill>
                  <a:srgbClr val="52636D"/>
                </a:solidFill>
                <a:latin typeface="Helvetica Neue"/>
                <a:ea typeface="Helvetica Neue"/>
                <a:cs typeface="Helvetica Neue"/>
              </a:defRPr>
            </a:pPr>
            <a:r>
              <a:rPr sz="1125" b="0">
                <a:solidFill>
                  <a:srgbClr val="52636D"/>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B3963903-A7DE-4BCF-BDA2-3B972ABA3ACB}"/>
              </a:ext>
            </a:extLst>
          </p:cNvPr>
          <p:cNvSpPr>
            <a:spLocks xmlns:a="http://schemas.openxmlformats.org/drawingml/2006/main" noGrp="1"/>
          </p:cNvSpPr>
          <p:nvPr/>
        </p:nvSpPr>
        <p:spPr>
          <a:xfrm xmlns:a="http://schemas.openxmlformats.org/drawingml/2006/main">
            <a:off x="685800" y="143827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00" b="1">
                <a:solidFill>
                  <a:srgbClr val="087F8C"/>
                </a:solidFill>
                <a:latin typeface="Helvetica Neue"/>
                <a:ea typeface="Helvetica Neue"/>
                <a:cs typeface="Helvetica Neue"/>
              </a:defRPr>
            </a:pPr>
            <a:r>
              <a:rPr sz="1500" b="1">
                <a:solidFill>
                  <a:srgbClr val="087F8C"/>
                </a:solidFill>
                <a:latin typeface="Helvetica Neue"/>
                <a:ea typeface="Helvetica Neue"/>
                <a:cs typeface="Helvetica Neue"/>
              </a:rPr>
              <a:t>Wang et al. • NeurIPS 2024</a:t>
            </a:r>
          </a:p>
        </p:txBody>
      </p:sp>
      <p:sp>
        <p:nvSpPr>
          <p:cNvPr id="8" name="">
            <a:extLst xmlns:a="http://schemas.openxmlformats.org/drawingml/2006/main">
              <a:ext uri="{FF2B5EF4-FFF2-40B4-BE49-F238E27FC236}">
                <a16:creationId xmlns:a16="http://schemas.microsoft.com/office/drawing/2014/main" id="{2118B821-07E5-4759-B850-114C35B8BA43}"/>
              </a:ext>
            </a:extLst>
          </p:cNvPr>
          <p:cNvSpPr>
            <a:spLocks xmlns:a="http://schemas.openxmlformats.org/drawingml/2006/main" noGrp="1"/>
          </p:cNvSpPr>
          <p:nvPr/>
        </p:nvSpPr>
        <p:spPr>
          <a:xfrm xmlns:a="http://schemas.openxmlformats.org/drawingml/2006/main">
            <a:off x="685800" y="1943100"/>
            <a:ext cx="438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3333"/>
          </a:bodyPr>
          <a:lstStyle xmlns:a="http://schemas.openxmlformats.org/drawingml/2006/main"/>
          <a:p xmlns:a="http://schemas.openxmlformats.org/drawingml/2006/main">
            <a:pPr algn="l">
              <a:defRPr sz="1875" b="1">
                <a:solidFill>
                  <a:srgbClr val="142B3B"/>
                </a:solidFill>
                <a:latin typeface="Helvetica Neue"/>
                <a:ea typeface="Helvetica Neue"/>
                <a:cs typeface="Helvetica Neue"/>
              </a:defRPr>
            </a:pPr>
            <a:r>
              <a:rPr sz="1875" b="1">
                <a:solidFill>
                  <a:srgbClr val="142B3B"/>
                </a:solidFill>
                <a:latin typeface="Helvetica Neue"/>
                <a:ea typeface="Helvetica Neue"/>
                <a:cs typeface="Helvetica Neue"/>
              </a:rPr>
              <a:t>What the paper studies</a:t>
            </a:r>
          </a:p>
        </p:txBody>
      </p:sp>
      <p:sp>
        <p:nvSpPr>
          <p:cNvPr id="9" name="">
            <a:extLst xmlns:a="http://schemas.openxmlformats.org/drawingml/2006/main">
              <a:ext uri="{FF2B5EF4-FFF2-40B4-BE49-F238E27FC236}">
                <a16:creationId xmlns:a16="http://schemas.microsoft.com/office/drawing/2014/main" id="{5E569CA0-C7E6-4E68-BE1C-71F4878301E5}"/>
              </a:ext>
            </a:extLst>
          </p:cNvPr>
          <p:cNvSpPr>
            <a:spLocks xmlns:a="http://schemas.openxmlformats.org/drawingml/2006/main" noGrp="1"/>
          </p:cNvSpPr>
          <p:nvPr/>
        </p:nvSpPr>
        <p:spPr>
          <a:xfrm xmlns:a="http://schemas.openxmlformats.org/drawingml/2006/main">
            <a:off x="685800" y="2505075"/>
            <a:ext cx="95250" cy="952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54FBFCD-9CF3-41C1-A808-5FFBE2D1B47B}"/>
              </a:ext>
            </a:extLst>
          </p:cNvPr>
          <p:cNvSpPr>
            <a:spLocks xmlns:a="http://schemas.openxmlformats.org/drawingml/2006/main" noGrp="1"/>
          </p:cNvSpPr>
          <p:nvPr/>
        </p:nvSpPr>
        <p:spPr>
          <a:xfrm xmlns:a="http://schemas.openxmlformats.org/drawingml/2006/main">
            <a:off x="914400" y="2419350"/>
            <a:ext cx="6248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800" b="0">
                <a:solidFill>
                  <a:srgbClr val="192B36"/>
                </a:solidFill>
                <a:latin typeface="Helvetica Neue"/>
                <a:ea typeface="Helvetica Neue"/>
                <a:cs typeface="Helvetica Neue"/>
              </a:defRPr>
            </a:pPr>
            <a:r>
              <a:rPr sz="1800" b="0">
                <a:solidFill>
                  <a:srgbClr val="192B36"/>
                </a:solidFill>
                <a:latin typeface="Helvetica Neue"/>
                <a:ea typeface="Helvetica Neue"/>
                <a:cs typeface="Helvetica Neue"/>
              </a:rPr>
              <a:t>Whether diffusion-generated images reproduce content from existing images.</a:t>
            </a:r>
          </a:p>
        </p:txBody>
      </p:sp>
      <p:sp>
        <p:nvSpPr>
          <p:cNvPr id="11" name="">
            <a:extLst xmlns:a="http://schemas.openxmlformats.org/drawingml/2006/main">
              <a:ext uri="{FF2B5EF4-FFF2-40B4-BE49-F238E27FC236}">
                <a16:creationId xmlns:a16="http://schemas.microsoft.com/office/drawing/2014/main" id="{8E071E0A-4CC6-4C33-A5A2-AAD8829BC070}"/>
              </a:ext>
            </a:extLst>
          </p:cNvPr>
          <p:cNvSpPr>
            <a:spLocks xmlns:a="http://schemas.openxmlformats.org/drawingml/2006/main" noGrp="1"/>
          </p:cNvSpPr>
          <p:nvPr/>
        </p:nvSpPr>
        <p:spPr>
          <a:xfrm xmlns:a="http://schemas.openxmlformats.org/drawingml/2006/main">
            <a:off x="685800" y="3362325"/>
            <a:ext cx="95250" cy="952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BBBE59C-4419-46D8-8D7C-148B940D609C}"/>
              </a:ext>
            </a:extLst>
          </p:cNvPr>
          <p:cNvSpPr>
            <a:spLocks xmlns:a="http://schemas.openxmlformats.org/drawingml/2006/main" noGrp="1"/>
          </p:cNvSpPr>
          <p:nvPr/>
        </p:nvSpPr>
        <p:spPr>
          <a:xfrm xmlns:a="http://schemas.openxmlformats.org/drawingml/2006/main">
            <a:off x="914400" y="3276600"/>
            <a:ext cx="6248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800" b="0">
                <a:solidFill>
                  <a:srgbClr val="192B36"/>
                </a:solidFill>
                <a:latin typeface="Helvetica Neue"/>
                <a:ea typeface="Helvetica Neue"/>
                <a:cs typeface="Helvetica Neue"/>
              </a:defRPr>
            </a:pPr>
            <a:r>
              <a:rPr sz="1800" b="0">
                <a:solidFill>
                  <a:srgbClr val="192B36"/>
                </a:solidFill>
                <a:latin typeface="Helvetica Neue"/>
                <a:ea typeface="Helvetica Neue"/>
                <a:cs typeface="Helvetica Neue"/>
              </a:rPr>
              <a:t>D-Rep: 40,000 generated image–replica pairs, labelled from no copying to full copying.</a:t>
            </a:r>
          </a:p>
        </p:txBody>
      </p:sp>
      <p:sp>
        <p:nvSpPr>
          <p:cNvPr id="13" name="">
            <a:extLst xmlns:a="http://schemas.openxmlformats.org/drawingml/2006/main">
              <a:ext uri="{FF2B5EF4-FFF2-40B4-BE49-F238E27FC236}">
                <a16:creationId xmlns:a16="http://schemas.microsoft.com/office/drawing/2014/main" id="{DF15FF4B-929D-43B8-BAB6-973241879966}"/>
              </a:ext>
            </a:extLst>
          </p:cNvPr>
          <p:cNvSpPr>
            <a:spLocks xmlns:a="http://schemas.openxmlformats.org/drawingml/2006/main" noGrp="1"/>
          </p:cNvSpPr>
          <p:nvPr/>
        </p:nvSpPr>
        <p:spPr>
          <a:xfrm xmlns:a="http://schemas.openxmlformats.org/drawingml/2006/main">
            <a:off x="685800" y="4219575"/>
            <a:ext cx="95250" cy="952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FB8DEB8-964C-43CB-B47D-0A908F11970E}"/>
              </a:ext>
            </a:extLst>
          </p:cNvPr>
          <p:cNvSpPr>
            <a:spLocks xmlns:a="http://schemas.openxmlformats.org/drawingml/2006/main" noGrp="1"/>
          </p:cNvSpPr>
          <p:nvPr/>
        </p:nvSpPr>
        <p:spPr>
          <a:xfrm xmlns:a="http://schemas.openxmlformats.org/drawingml/2006/main">
            <a:off x="914400" y="4133850"/>
            <a:ext cx="6248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800" b="0">
                <a:solidFill>
                  <a:srgbClr val="192B36"/>
                </a:solidFill>
                <a:latin typeface="Helvetica Neue"/>
                <a:ea typeface="Helvetica Neue"/>
                <a:cs typeface="Helvetica Neue"/>
              </a:defRPr>
            </a:pPr>
            <a:r>
              <a:rPr sz="1800" b="0">
                <a:solidFill>
                  <a:srgbClr val="192B36"/>
                </a:solidFill>
                <a:latin typeface="Helvetica Neue"/>
                <a:ea typeface="Helvetica Neue"/>
                <a:cs typeface="Helvetica Neue"/>
              </a:rPr>
              <a:t>PDF-Embedding trains with a smooth target across the copying levels.</a:t>
            </a:r>
          </a:p>
        </p:txBody>
      </p:sp>
      <p:sp>
        <p:nvSpPr>
          <p:cNvPr id="15" name="">
            <a:extLst xmlns:a="http://schemas.openxmlformats.org/drawingml/2006/main">
              <a:ext uri="{FF2B5EF4-FFF2-40B4-BE49-F238E27FC236}">
                <a16:creationId xmlns:a16="http://schemas.microsoft.com/office/drawing/2014/main" id="{BD6369E5-0BC2-4A79-BC07-27B0C4BF9130}"/>
              </a:ext>
            </a:extLst>
          </p:cNvPr>
          <p:cNvSpPr>
            <a:spLocks xmlns:a="http://schemas.openxmlformats.org/drawingml/2006/main" noGrp="1"/>
          </p:cNvSpPr>
          <p:nvPr/>
        </p:nvSpPr>
        <p:spPr>
          <a:xfrm xmlns:a="http://schemas.openxmlformats.org/drawingml/2006/main">
            <a:off x="7810500" y="1952625"/>
            <a:ext cx="3333750" cy="3143250"/>
          </a:xfrm>
          <a:prstGeom xmlns:a="http://schemas.openxmlformats.org/drawingml/2006/main" prst="roundRect">
            <a:avLst>
              <a:gd name="adj" fmla="val 2424"/>
            </a:avLst>
          </a:prstGeom>
          <a:solidFill xmlns:a="http://schemas.openxmlformats.org/drawingml/2006/main">
            <a:srgbClr val="F8F0E1"/>
          </a:solidFill>
          <a:ln xmlns:a="http://schemas.openxmlformats.org/drawingml/2006/main" w="14288">
            <a:solidFill>
              <a:srgbClr val="E8D5B1"/>
            </a:solidFill>
          </a:ln>
        </p:spPr>
      </p:sp>
      <p:sp>
        <p:nvSpPr>
          <p:cNvPr id="16" name="">
            <a:extLst xmlns:a="http://schemas.openxmlformats.org/drawingml/2006/main">
              <a:ext uri="{FF2B5EF4-FFF2-40B4-BE49-F238E27FC236}">
                <a16:creationId xmlns:a16="http://schemas.microsoft.com/office/drawing/2014/main" id="{EE56BE18-EF86-4027-83E9-461C77AF60A7}"/>
              </a:ext>
            </a:extLst>
          </p:cNvPr>
          <p:cNvSpPr>
            <a:spLocks xmlns:a="http://schemas.openxmlformats.org/drawingml/2006/main" noGrp="1"/>
          </p:cNvSpPr>
          <p:nvPr/>
        </p:nvSpPr>
        <p:spPr>
          <a:xfrm xmlns:a="http://schemas.openxmlformats.org/drawingml/2006/main">
            <a:off x="8115300" y="22383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875" b="1">
                <a:solidFill>
                  <a:srgbClr val="142B3B"/>
                </a:solidFill>
                <a:latin typeface="Helvetica Neue"/>
                <a:ea typeface="Helvetica Neue"/>
                <a:cs typeface="Helvetica Neue"/>
              </a:defRPr>
            </a:pPr>
            <a:r>
              <a:rPr sz="1875" b="1">
                <a:solidFill>
                  <a:srgbClr val="142B3B"/>
                </a:solidFill>
                <a:latin typeface="Helvetica Neue"/>
                <a:ea typeface="Helvetica Neue"/>
                <a:cs typeface="Helvetica Neue"/>
              </a:rPr>
              <a:t>How it differs</a:t>
            </a:r>
          </a:p>
        </p:txBody>
      </p:sp>
      <p:sp>
        <p:nvSpPr>
          <p:cNvPr id="17" name="">
            <a:extLst xmlns:a="http://schemas.openxmlformats.org/drawingml/2006/main">
              <a:ext uri="{FF2B5EF4-FFF2-40B4-BE49-F238E27FC236}">
                <a16:creationId xmlns:a16="http://schemas.microsoft.com/office/drawing/2014/main" id="{EC7B89F7-8093-4B6D-962A-1583FB85FA00}"/>
              </a:ext>
            </a:extLst>
          </p:cNvPr>
          <p:cNvSpPr>
            <a:spLocks xmlns:a="http://schemas.openxmlformats.org/drawingml/2006/main" noGrp="1"/>
          </p:cNvSpPr>
          <p:nvPr/>
        </p:nvSpPr>
        <p:spPr>
          <a:xfrm xmlns:a="http://schemas.openxmlformats.org/drawingml/2006/main">
            <a:off x="8115300" y="2790825"/>
            <a:ext cx="2714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89890"/>
          </a:bodyPr>
          <a:lstStyle xmlns:a="http://schemas.openxmlformats.org/drawingml/2006/main"/>
          <a:p xmlns:a="http://schemas.openxmlformats.org/drawingml/2006/main">
            <a:pPr algn="l">
              <a:defRPr sz="1800" b="0">
                <a:solidFill>
                  <a:srgbClr val="192B36"/>
                </a:solidFill>
                <a:latin typeface="Helvetica Neue"/>
                <a:ea typeface="Helvetica Neue"/>
                <a:cs typeface="Helvetica Neue"/>
              </a:defRPr>
            </a:pPr>
            <a:r>
              <a:rPr sz="1800" b="0">
                <a:solidFill>
                  <a:srgbClr val="192B36"/>
                </a:solidFill>
                <a:latin typeface="Helvetica Neue"/>
                <a:ea typeface="Helvetica Neue"/>
                <a:cs typeface="Helvetica Neue"/>
              </a:rPr>
              <a:t>ICDiff focuses on detecting and measuring copied content in generated images.</a:t>
            </a:r>
          </a:p>
        </p:txBody>
      </p:sp>
      <p:sp>
        <p:nvSpPr>
          <p:cNvPr id="18" name="">
            <a:extLst xmlns:a="http://schemas.openxmlformats.org/drawingml/2006/main">
              <a:ext uri="{FF2B5EF4-FFF2-40B4-BE49-F238E27FC236}">
                <a16:creationId xmlns:a16="http://schemas.microsoft.com/office/drawing/2014/main" id="{C3DE93E6-19C0-44D9-AEE4-2EFF22FE5A14}"/>
              </a:ext>
            </a:extLst>
          </p:cNvPr>
          <p:cNvSpPr>
            <a:spLocks xmlns:a="http://schemas.openxmlformats.org/drawingml/2006/main" noGrp="1"/>
          </p:cNvSpPr>
          <p:nvPr/>
        </p:nvSpPr>
        <p:spPr>
          <a:xfrm xmlns:a="http://schemas.openxmlformats.org/drawingml/2006/main">
            <a:off x="8115300" y="3876675"/>
            <a:ext cx="2714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800" b="0">
                <a:solidFill>
                  <a:srgbClr val="192B36"/>
                </a:solidFill>
                <a:latin typeface="Helvetica Neue"/>
                <a:ea typeface="Helvetica Neue"/>
                <a:cs typeface="Helvetica Neue"/>
              </a:defRPr>
            </a:pPr>
            <a:r>
              <a:rPr sz="1800" b="0">
                <a:solidFill>
                  <a:srgbClr val="192B36"/>
                </a:solidFill>
                <a:latin typeface="Helvetica Neue"/>
                <a:ea typeface="Helvetica Neue"/>
                <a:cs typeface="Helvetica Neue"/>
              </a:rPr>
              <a:t>Our task is to identify which gallery image was the input to an edit.</a:t>
            </a:r>
          </a:p>
        </p:txBody>
      </p:sp>
      <p:sp>
        <p:nvSpPr>
          <p:cNvPr id="19" name="">
            <a:extLst xmlns:a="http://schemas.openxmlformats.org/drawingml/2006/main">
              <a:ext uri="{FF2B5EF4-FFF2-40B4-BE49-F238E27FC236}">
                <a16:creationId xmlns:a16="http://schemas.microsoft.com/office/drawing/2014/main" id="{31C0CE7D-5290-4A50-ACA2-B49A20DD7C1E}"/>
              </a:ext>
            </a:extLst>
          </p:cNvPr>
          <p:cNvSpPr>
            <a:spLocks xmlns:a="http://schemas.openxmlformats.org/drawingml/2006/main" noGrp="1"/>
          </p:cNvSpPr>
          <p:nvPr/>
        </p:nvSpPr>
        <p:spPr>
          <a:xfrm xmlns:a="http://schemas.openxmlformats.org/drawingml/2006/main">
            <a:off x="685800" y="5953125"/>
            <a:ext cx="561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200" b="0">
                <a:solidFill>
                  <a:srgbClr val="52636D"/>
                </a:solidFill>
                <a:latin typeface="Helvetica Neue"/>
                <a:ea typeface="Helvetica Neue"/>
                <a:cs typeface="Helvetica Neue"/>
              </a:defRPr>
            </a:pPr>
            <a:r>
              <a:rPr sz="1200" b="0">
                <a:solidFill>
                  <a:srgbClr val="52636D"/>
                </a:solidFill>
                <a:latin typeface="Helvetica Neue"/>
                <a:ea typeface="Helvetica Neue"/>
                <a:cs typeface="Helvetica Neue"/>
              </a:rPr>
              <a:t>Source: Wang et al., NeurIPS 2024</a:t>
            </a:r>
          </a:p>
        </p:txBody>
      </p:sp>
    </p:spTree>
    <p:extLst>
      <p:ext uri="{BB962C8B-B14F-4D97-AF65-F5344CB8AC3E}">
        <p14:creationId xmlns:p14="http://schemas.microsoft.com/office/powerpoint/2010/main" val="849480167"/>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E088C19-43B1-4FC4-9889-352D24F7C715}"/>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D1170E-1237-4077-B52E-68860B8CFBE0}"/>
              </a:ext>
            </a:extLst>
          </p:cNvPr>
          <p:cNvSpPr>
            <a:spLocks xmlns:a="http://schemas.openxmlformats.org/drawingml/2006/main" noGrp="1"/>
          </p:cNvSpPr>
          <p:nvPr/>
        </p:nvSpPr>
        <p:spPr>
          <a:xfrm xmlns:a="http://schemas.openxmlformats.org/drawingml/2006/main">
            <a:off x="685800" y="3238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125" b="1">
                <a:solidFill>
                  <a:srgbClr val="087F8C"/>
                </a:solidFill>
                <a:latin typeface="Helvetica Neue"/>
                <a:ea typeface="Helvetica Neue"/>
                <a:cs typeface="Helvetica Neue"/>
              </a:defRPr>
            </a:pPr>
            <a:r>
              <a:rPr sz="1125" b="1">
                <a:solidFill>
                  <a:srgbClr val="087F8C"/>
                </a:solidFill>
                <a:latin typeface="Helvetica Neue"/>
                <a:ea typeface="Helvetica Neue"/>
                <a:cs typeface="Helvetica Neue"/>
              </a:rPr>
              <a:t>RESEARCH FOCUS</a:t>
            </a:r>
          </a:p>
        </p:txBody>
      </p:sp>
      <p:sp>
        <p:nvSpPr>
          <p:cNvPr id="3" name="">
            <a:extLst xmlns:a="http://schemas.openxmlformats.org/drawingml/2006/main">
              <a:ext uri="{FF2B5EF4-FFF2-40B4-BE49-F238E27FC236}">
                <a16:creationId xmlns:a16="http://schemas.microsoft.com/office/drawing/2014/main" id="{5C1410D9-833F-4B9D-82E1-3CE16EEE18DB}"/>
              </a:ext>
            </a:extLst>
          </p:cNvPr>
          <p:cNvSpPr>
            <a:spLocks xmlns:a="http://schemas.openxmlformats.org/drawingml/2006/main" noGrp="1"/>
          </p:cNvSpPr>
          <p:nvPr/>
        </p:nvSpPr>
        <p:spPr>
          <a:xfrm xmlns:a="http://schemas.openxmlformats.org/drawingml/2006/main">
            <a:off x="685800" y="6000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2925" b="1">
                <a:solidFill>
                  <a:srgbClr val="142B3B"/>
                </a:solidFill>
                <a:latin typeface="Helvetica Neue"/>
                <a:ea typeface="Helvetica Neue"/>
                <a:cs typeface="Helvetica Neue"/>
              </a:defRPr>
            </a:pPr>
            <a:r>
              <a:rPr sz="2925" b="1">
                <a:solidFill>
                  <a:srgbClr val="142B3B"/>
                </a:solidFill>
                <a:latin typeface="Helvetica Neue"/>
                <a:ea typeface="Helvetica Neue"/>
                <a:cs typeface="Helvetica Neue"/>
              </a:rPr>
              <a:t>Research question and proposed contribution</a:t>
            </a:r>
          </a:p>
        </p:txBody>
      </p:sp>
      <p:sp>
        <p:nvSpPr>
          <p:cNvPr id="4" name="">
            <a:extLst xmlns:a="http://schemas.openxmlformats.org/drawingml/2006/main">
              <a:ext uri="{FF2B5EF4-FFF2-40B4-BE49-F238E27FC236}">
                <a16:creationId xmlns:a16="http://schemas.microsoft.com/office/drawing/2014/main" id="{2601B822-BE3F-434A-95CD-7E921418A409}"/>
              </a:ext>
            </a:extLst>
          </p:cNvPr>
          <p:cNvSpPr>
            <a:spLocks xmlns:a="http://schemas.openxmlformats.org/drawingml/2006/main" noGrp="1"/>
          </p:cNvSpPr>
          <p:nvPr/>
        </p:nvSpPr>
        <p:spPr>
          <a:xfrm xmlns:a="http://schemas.openxmlformats.org/drawingml/2006/main">
            <a:off x="685800" y="1266825"/>
            <a:ext cx="10820400" cy="0"/>
          </a:xfrm>
          <a:prstGeom xmlns:a="http://schemas.openxmlformats.org/drawingml/2006/main" prst="line">
            <a:avLst/>
          </a:prstGeom>
          <a:noFill xmlns:a="http://schemas.openxmlformats.org/drawingml/2006/main"/>
          <a:ln xmlns:a="http://schemas.openxmlformats.org/drawingml/2006/main" w="12383">
            <a:solidFill>
              <a:srgbClr val="C9D5DA"/>
            </a:solidFill>
          </a:ln>
        </p:spPr>
      </p:sp>
      <p:sp>
        <p:nvSpPr>
          <p:cNvPr id="5" name="">
            <a:extLst xmlns:a="http://schemas.openxmlformats.org/drawingml/2006/main">
              <a:ext uri="{FF2B5EF4-FFF2-40B4-BE49-F238E27FC236}">
                <a16:creationId xmlns:a16="http://schemas.microsoft.com/office/drawing/2014/main" id="{5B68EB6D-6860-497B-BCF8-888E623928C4}"/>
              </a:ext>
            </a:extLst>
          </p:cNvPr>
          <p:cNvSpPr>
            <a:spLocks xmlns:a="http://schemas.openxmlformats.org/drawingml/2006/main" noGrp="1"/>
          </p:cNvSpPr>
          <p:nvPr/>
        </p:nvSpPr>
        <p:spPr>
          <a:xfrm xmlns:a="http://schemas.openxmlformats.org/drawingml/2006/main">
            <a:off x="685800" y="65151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125" b="0">
                <a:solidFill>
                  <a:srgbClr val="52636D"/>
                </a:solidFill>
                <a:latin typeface="Helvetica Neue"/>
                <a:ea typeface="Helvetica Neue"/>
                <a:cs typeface="Helvetica Neue"/>
              </a:defRPr>
            </a:pPr>
            <a:r>
              <a:rPr sz="1125" b="0">
                <a:solidFill>
                  <a:srgbClr val="52636D"/>
                </a:solidFill>
                <a:latin typeface="Helvetica Neue"/>
                <a:ea typeface="Helvetica Neue"/>
                <a:cs typeface="Helvetica Neue"/>
              </a:rPr>
              <a:t>M.Tech CSE • Image source retrieval</a:t>
            </a:r>
          </a:p>
        </p:txBody>
      </p:sp>
      <p:sp>
        <p:nvSpPr>
          <p:cNvPr id="6" name="">
            <a:extLst xmlns:a="http://schemas.openxmlformats.org/drawingml/2006/main">
              <a:ext uri="{FF2B5EF4-FFF2-40B4-BE49-F238E27FC236}">
                <a16:creationId xmlns:a16="http://schemas.microsoft.com/office/drawing/2014/main" id="{AC7B4D61-53EF-4EA5-BA38-037A66E43750}"/>
              </a:ext>
            </a:extLst>
          </p:cNvPr>
          <p:cNvSpPr>
            <a:spLocks xmlns:a="http://schemas.openxmlformats.org/drawingml/2006/main" noGrp="1"/>
          </p:cNvSpPr>
          <p:nvPr/>
        </p:nvSpPr>
        <p:spPr>
          <a:xfrm xmlns:a="http://schemas.openxmlformats.org/drawingml/2006/main">
            <a:off x="11087100" y="64960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r">
              <a:defRPr sz="1125" b="0">
                <a:solidFill>
                  <a:srgbClr val="52636D"/>
                </a:solidFill>
                <a:latin typeface="Helvetica Neue"/>
                <a:ea typeface="Helvetica Neue"/>
                <a:cs typeface="Helvetica Neue"/>
              </a:defRPr>
            </a:pPr>
            <a:r>
              <a:rPr sz="1125" b="0">
                <a:solidFill>
                  <a:srgbClr val="52636D"/>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4C126691-8DBC-44FE-966A-F5FFEC8EC175}"/>
              </a:ext>
            </a:extLst>
          </p:cNvPr>
          <p:cNvSpPr>
            <a:spLocks xmlns:a="http://schemas.openxmlformats.org/drawingml/2006/main" noGrp="1"/>
          </p:cNvSpPr>
          <p:nvPr/>
        </p:nvSpPr>
        <p:spPr>
          <a:xfrm xmlns:a="http://schemas.openxmlformats.org/drawingml/2006/main">
            <a:off x="685800" y="169545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875" b="1">
                <a:solidFill>
                  <a:srgbClr val="142B3B"/>
                </a:solidFill>
                <a:latin typeface="Helvetica Neue"/>
                <a:ea typeface="Helvetica Neue"/>
                <a:cs typeface="Helvetica Neue"/>
              </a:defRPr>
            </a:pPr>
            <a:r>
              <a:rPr sz="1875" b="1">
                <a:solidFill>
                  <a:srgbClr val="142B3B"/>
                </a:solidFill>
                <a:latin typeface="Helvetica Neue"/>
                <a:ea typeface="Helvetica Neue"/>
                <a:cs typeface="Helvetica Neue"/>
              </a:rPr>
              <a:t>What is already known</a:t>
            </a:r>
          </a:p>
        </p:txBody>
      </p:sp>
      <p:sp>
        <p:nvSpPr>
          <p:cNvPr id="8" name="">
            <a:extLst xmlns:a="http://schemas.openxmlformats.org/drawingml/2006/main">
              <a:ext uri="{FF2B5EF4-FFF2-40B4-BE49-F238E27FC236}">
                <a16:creationId xmlns:a16="http://schemas.microsoft.com/office/drawing/2014/main" id="{44D2BE2C-12F3-4224-92A7-235ECB0F5A6D}"/>
              </a:ext>
            </a:extLst>
          </p:cNvPr>
          <p:cNvSpPr>
            <a:spLocks xmlns:a="http://schemas.openxmlformats.org/drawingml/2006/main" noGrp="1"/>
          </p:cNvSpPr>
          <p:nvPr/>
        </p:nvSpPr>
        <p:spPr>
          <a:xfrm xmlns:a="http://schemas.openxmlformats.org/drawingml/2006/main">
            <a:off x="685800" y="2228850"/>
            <a:ext cx="95250" cy="952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480B619-5BB9-46C4-A701-40BA1A0CB209}"/>
              </a:ext>
            </a:extLst>
          </p:cNvPr>
          <p:cNvSpPr>
            <a:spLocks xmlns:a="http://schemas.openxmlformats.org/drawingml/2006/main" noGrp="1"/>
          </p:cNvSpPr>
          <p:nvPr/>
        </p:nvSpPr>
        <p:spPr>
          <a:xfrm xmlns:a="http://schemas.openxmlformats.org/drawingml/2006/main">
            <a:off x="914400" y="2143125"/>
            <a:ext cx="4248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92B36"/>
                </a:solidFill>
                <a:latin typeface="Helvetica Neue"/>
                <a:ea typeface="Helvetica Neue"/>
                <a:cs typeface="Helvetica Neue"/>
              </a:defRPr>
            </a:pPr>
            <a:r>
              <a:rPr sz="1650" b="0">
                <a:solidFill>
                  <a:srgbClr val="192B36"/>
                </a:solidFill>
                <a:latin typeface="Helvetica Neue"/>
                <a:ea typeface="Helvetica Neue"/>
                <a:cs typeface="Helvetica Neue"/>
              </a:rPr>
              <a:t>SSCD provides global copy-detection features.</a:t>
            </a:r>
          </a:p>
        </p:txBody>
      </p:sp>
      <p:sp>
        <p:nvSpPr>
          <p:cNvPr id="10" name="">
            <a:extLst xmlns:a="http://schemas.openxmlformats.org/drawingml/2006/main">
              <a:ext uri="{FF2B5EF4-FFF2-40B4-BE49-F238E27FC236}">
                <a16:creationId xmlns:a16="http://schemas.microsoft.com/office/drawing/2014/main" id="{31289EAD-3114-4382-B007-CE34F7711473}"/>
              </a:ext>
            </a:extLst>
          </p:cNvPr>
          <p:cNvSpPr>
            <a:spLocks xmlns:a="http://schemas.openxmlformats.org/drawingml/2006/main" noGrp="1"/>
          </p:cNvSpPr>
          <p:nvPr/>
        </p:nvSpPr>
        <p:spPr>
          <a:xfrm xmlns:a="http://schemas.openxmlformats.org/drawingml/2006/main">
            <a:off x="685800" y="2971800"/>
            <a:ext cx="95250" cy="952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3C6EF7E-8FC9-48FD-ADF8-B3C32B9C419A}"/>
              </a:ext>
            </a:extLst>
          </p:cNvPr>
          <p:cNvSpPr>
            <a:spLocks xmlns:a="http://schemas.openxmlformats.org/drawingml/2006/main" noGrp="1"/>
          </p:cNvSpPr>
          <p:nvPr/>
        </p:nvSpPr>
        <p:spPr>
          <a:xfrm xmlns:a="http://schemas.openxmlformats.org/drawingml/2006/main">
            <a:off x="914400" y="2886075"/>
            <a:ext cx="4248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92B36"/>
                </a:solidFill>
                <a:latin typeface="Helvetica Neue"/>
                <a:ea typeface="Helvetica Neue"/>
                <a:cs typeface="Helvetica Neue"/>
              </a:defRPr>
            </a:pPr>
            <a:r>
              <a:rPr sz="1650" b="0">
                <a:solidFill>
                  <a:srgbClr val="192B36"/>
                </a:solidFill>
                <a:latin typeface="Helvetica Neue"/>
                <a:ea typeface="Helvetica Neue"/>
                <a:cs typeface="Helvetica Neue"/>
              </a:rPr>
              <a:t>VAE-based source retrieval has been studied.</a:t>
            </a:r>
          </a:p>
        </p:txBody>
      </p:sp>
      <p:sp>
        <p:nvSpPr>
          <p:cNvPr id="12" name="">
            <a:extLst xmlns:a="http://schemas.openxmlformats.org/drawingml/2006/main">
              <a:ext uri="{FF2B5EF4-FFF2-40B4-BE49-F238E27FC236}">
                <a16:creationId xmlns:a16="http://schemas.microsoft.com/office/drawing/2014/main" id="{56214814-E4D9-43B4-8F3D-DA914971F3AD}"/>
              </a:ext>
            </a:extLst>
          </p:cNvPr>
          <p:cNvSpPr>
            <a:spLocks xmlns:a="http://schemas.openxmlformats.org/drawingml/2006/main" noGrp="1"/>
          </p:cNvSpPr>
          <p:nvPr/>
        </p:nvSpPr>
        <p:spPr>
          <a:xfrm xmlns:a="http://schemas.openxmlformats.org/drawingml/2006/main">
            <a:off x="685800" y="3714750"/>
            <a:ext cx="95250" cy="952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4F6466F-51D7-46FC-930A-EF6DFFE7B9F9}"/>
              </a:ext>
            </a:extLst>
          </p:cNvPr>
          <p:cNvSpPr>
            <a:spLocks xmlns:a="http://schemas.openxmlformats.org/drawingml/2006/main" noGrp="1"/>
          </p:cNvSpPr>
          <p:nvPr/>
        </p:nvSpPr>
        <p:spPr>
          <a:xfrm xmlns:a="http://schemas.openxmlformats.org/drawingml/2006/main">
            <a:off x="914400" y="3629025"/>
            <a:ext cx="4248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92B36"/>
                </a:solidFill>
                <a:latin typeface="Helvetica Neue"/>
                <a:ea typeface="Helvetica Neue"/>
                <a:cs typeface="Helvetica Neue"/>
              </a:defRPr>
            </a:pPr>
            <a:r>
              <a:rPr sz="1650" b="0">
                <a:solidFill>
                  <a:srgbClr val="192B36"/>
                </a:solidFill>
                <a:latin typeface="Helvetica Neue"/>
                <a:ea typeface="Helvetica Neue"/>
                <a:cs typeface="Helvetica Neue"/>
              </a:rPr>
              <a:t>Local matching and diffusion-copy detection also have prior work.</a:t>
            </a:r>
          </a:p>
        </p:txBody>
      </p:sp>
      <p:sp>
        <p:nvSpPr>
          <p:cNvPr id="14" name="">
            <a:extLst xmlns:a="http://schemas.openxmlformats.org/drawingml/2006/main">
              <a:ext uri="{FF2B5EF4-FFF2-40B4-BE49-F238E27FC236}">
                <a16:creationId xmlns:a16="http://schemas.microsoft.com/office/drawing/2014/main" id="{2337BADB-69EE-4A24-8F16-B54151BACE2E}"/>
              </a:ext>
            </a:extLst>
          </p:cNvPr>
          <p:cNvSpPr>
            <a:spLocks xmlns:a="http://schemas.openxmlformats.org/drawingml/2006/main" noGrp="1"/>
          </p:cNvSpPr>
          <p:nvPr/>
        </p:nvSpPr>
        <p:spPr>
          <a:xfrm xmlns:a="http://schemas.openxmlformats.org/drawingml/2006/main">
            <a:off x="5905500" y="1724025"/>
            <a:ext cx="0" cy="3762375"/>
          </a:xfrm>
          <a:prstGeom xmlns:a="http://schemas.openxmlformats.org/drawingml/2006/main" prst="line">
            <a:avLst/>
          </a:prstGeom>
          <a:noFill xmlns:a="http://schemas.openxmlformats.org/drawingml/2006/main"/>
          <a:ln xmlns:a="http://schemas.openxmlformats.org/drawingml/2006/main" w="19050">
            <a:solidFill>
              <a:srgbClr val="C9D5DA"/>
            </a:solidFill>
          </a:ln>
        </p:spPr>
      </p:sp>
      <p:sp>
        <p:nvSpPr>
          <p:cNvPr id="15" name="">
            <a:extLst xmlns:a="http://schemas.openxmlformats.org/drawingml/2006/main">
              <a:ext uri="{FF2B5EF4-FFF2-40B4-BE49-F238E27FC236}">
                <a16:creationId xmlns:a16="http://schemas.microsoft.com/office/drawing/2014/main" id="{48D211F3-4457-44F4-94DA-B2ED5BA50CD4}"/>
              </a:ext>
            </a:extLst>
          </p:cNvPr>
          <p:cNvSpPr>
            <a:spLocks xmlns:a="http://schemas.openxmlformats.org/drawingml/2006/main" noGrp="1"/>
          </p:cNvSpPr>
          <p:nvPr/>
        </p:nvSpPr>
        <p:spPr>
          <a:xfrm xmlns:a="http://schemas.openxmlformats.org/drawingml/2006/main">
            <a:off x="6572250" y="169545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875" b="1">
                <a:solidFill>
                  <a:srgbClr val="087F8C"/>
                </a:solidFill>
                <a:latin typeface="Helvetica Neue"/>
                <a:ea typeface="Helvetica Neue"/>
                <a:cs typeface="Helvetica Neue"/>
              </a:defRPr>
            </a:pPr>
            <a:r>
              <a:rPr sz="1875" b="1">
                <a:solidFill>
                  <a:srgbClr val="087F8C"/>
                </a:solidFill>
                <a:latin typeface="Helvetica Neue"/>
                <a:ea typeface="Helvetica Neue"/>
                <a:cs typeface="Helvetica Neue"/>
              </a:rPr>
              <a:t>Question to test</a:t>
            </a:r>
          </a:p>
        </p:txBody>
      </p:sp>
      <p:sp>
        <p:nvSpPr>
          <p:cNvPr id="16" name="">
            <a:extLst xmlns:a="http://schemas.openxmlformats.org/drawingml/2006/main">
              <a:ext uri="{FF2B5EF4-FFF2-40B4-BE49-F238E27FC236}">
                <a16:creationId xmlns:a16="http://schemas.microsoft.com/office/drawing/2014/main" id="{7F68C92F-5B82-4611-B4B2-C76A33EBC8C6}"/>
              </a:ext>
            </a:extLst>
          </p:cNvPr>
          <p:cNvSpPr>
            <a:spLocks xmlns:a="http://schemas.openxmlformats.org/drawingml/2006/main" noGrp="1"/>
          </p:cNvSpPr>
          <p:nvPr/>
        </p:nvSpPr>
        <p:spPr>
          <a:xfrm xmlns:a="http://schemas.openxmlformats.org/drawingml/2006/main">
            <a:off x="6572250" y="2190750"/>
            <a:ext cx="45243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1027"/>
          </a:bodyPr>
          <a:lstStyle xmlns:a="http://schemas.openxmlformats.org/drawingml/2006/main"/>
          <a:p xmlns:a="http://schemas.openxmlformats.org/drawingml/2006/main">
            <a:pPr algn="l">
              <a:defRPr sz="2325" b="1">
                <a:solidFill>
                  <a:srgbClr val="142B3B"/>
                </a:solidFill>
                <a:latin typeface="Helvetica Neue"/>
                <a:ea typeface="Helvetica Neue"/>
                <a:cs typeface="Helvetica Neue"/>
              </a:defRPr>
            </a:pPr>
            <a:r>
              <a:rPr sz="2325" b="1">
                <a:solidFill>
                  <a:srgbClr val="142B3B"/>
                </a:solidFill>
                <a:latin typeface="Helvetica Neue"/>
                <a:ea typeface="Helvetica Neue"/>
                <a:cs typeface="Helvetica Neue"/>
              </a:rPr>
              <a:t>When SSCD has shortlisted likely originals, does adding local patch evidence and a small learned reranker improve the final ranking?</a:t>
            </a:r>
          </a:p>
        </p:txBody>
      </p:sp>
      <p:sp>
        <p:nvSpPr>
          <p:cNvPr id="17" name="">
            <a:extLst xmlns:a="http://schemas.openxmlformats.org/drawingml/2006/main">
              <a:ext uri="{FF2B5EF4-FFF2-40B4-BE49-F238E27FC236}">
                <a16:creationId xmlns:a16="http://schemas.microsoft.com/office/drawing/2014/main" id="{EF7DF92A-F80A-4CFA-9AA7-2DF1AD41FD02}"/>
              </a:ext>
            </a:extLst>
          </p:cNvPr>
          <p:cNvSpPr>
            <a:spLocks xmlns:a="http://schemas.openxmlformats.org/drawingml/2006/main" noGrp="1"/>
          </p:cNvSpPr>
          <p:nvPr/>
        </p:nvSpPr>
        <p:spPr>
          <a:xfrm xmlns:a="http://schemas.openxmlformats.org/drawingml/2006/main">
            <a:off x="6572250" y="39433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00" b="1">
                <a:solidFill>
                  <a:srgbClr val="087F8C"/>
                </a:solidFill>
                <a:latin typeface="Helvetica Neue"/>
                <a:ea typeface="Helvetica Neue"/>
                <a:cs typeface="Helvetica Neue"/>
              </a:defRPr>
            </a:pPr>
            <a:r>
              <a:rPr sz="1500" b="1">
                <a:solidFill>
                  <a:srgbClr val="087F8C"/>
                </a:solidFill>
                <a:latin typeface="Helvetica Neue"/>
                <a:ea typeface="Helvetica Neue"/>
                <a:cs typeface="Helvetica Neue"/>
              </a:rPr>
              <a:t>Separate training question</a:t>
            </a:r>
          </a:p>
        </p:txBody>
      </p:sp>
      <p:sp>
        <p:nvSpPr>
          <p:cNvPr id="18" name="">
            <a:extLst xmlns:a="http://schemas.openxmlformats.org/drawingml/2006/main">
              <a:ext uri="{FF2B5EF4-FFF2-40B4-BE49-F238E27FC236}">
                <a16:creationId xmlns:a16="http://schemas.microsoft.com/office/drawing/2014/main" id="{A4656F9E-FF48-4037-9B3C-30D3C23D40AC}"/>
              </a:ext>
            </a:extLst>
          </p:cNvPr>
          <p:cNvSpPr>
            <a:spLocks xmlns:a="http://schemas.openxmlformats.org/drawingml/2006/main" noGrp="1"/>
          </p:cNvSpPr>
          <p:nvPr/>
        </p:nvSpPr>
        <p:spPr>
          <a:xfrm xmlns:a="http://schemas.openxmlformats.org/drawingml/2006/main">
            <a:off x="6572250" y="4286250"/>
            <a:ext cx="4476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875" b="0">
                <a:solidFill>
                  <a:srgbClr val="192B36"/>
                </a:solidFill>
                <a:latin typeface="Helvetica Neue"/>
                <a:ea typeface="Helvetica Neue"/>
                <a:cs typeface="Helvetica Neue"/>
              </a:defRPr>
            </a:pPr>
            <a:r>
              <a:rPr sz="1875" b="0">
                <a:solidFill>
                  <a:srgbClr val="192B36"/>
                </a:solidFill>
                <a:latin typeface="Helvetica Neue"/>
                <a:ea typeface="Helvetica Neue"/>
                <a:cs typeface="Helvetica Neue"/>
              </a:rPr>
              <a:t>Does training on early, middle and final edits help more than training the same model on first edits only?</a:t>
            </a:r>
          </a:p>
        </p:txBody>
      </p:sp>
      <p:sp>
        <p:nvSpPr>
          <p:cNvPr id="19" name="">
            <a:extLst xmlns:a="http://schemas.openxmlformats.org/drawingml/2006/main">
              <a:ext uri="{FF2B5EF4-FFF2-40B4-BE49-F238E27FC236}">
                <a16:creationId xmlns:a16="http://schemas.microsoft.com/office/drawing/2014/main" id="{954C64C3-81AE-4709-ADF6-7AF50060AB01}"/>
              </a:ext>
            </a:extLst>
          </p:cNvPr>
          <p:cNvSpPr>
            <a:spLocks xmlns:a="http://schemas.openxmlformats.org/drawingml/2006/main" noGrp="1"/>
          </p:cNvSpPr>
          <p:nvPr/>
        </p:nvSpPr>
        <p:spPr>
          <a:xfrm xmlns:a="http://schemas.openxmlformats.org/drawingml/2006/main">
            <a:off x="685800" y="5915025"/>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350" b="1">
                <a:solidFill>
                  <a:srgbClr val="A34738"/>
                </a:solidFill>
                <a:latin typeface="Helvetica Neue"/>
                <a:ea typeface="Helvetica Neue"/>
                <a:cs typeface="Helvetica Neue"/>
              </a:defRPr>
            </a:pPr>
            <a:r>
              <a:rPr sz="1350" b="1">
                <a:solidFill>
                  <a:srgbClr val="A34738"/>
                </a:solidFill>
                <a:latin typeface="Helvetica Neue"/>
                <a:ea typeface="Helvetica Neue"/>
                <a:cs typeface="Helvetica Neue"/>
              </a:rPr>
              <a:t>Contribution claim stays narrow: a controlled comparison; novelty is not established yet.</a:t>
            </a:r>
          </a:p>
        </p:txBody>
      </p:sp>
    </p:spTree>
    <p:extLst>
      <p:ext uri="{BB962C8B-B14F-4D97-AF65-F5344CB8AC3E}">
        <p14:creationId xmlns:p14="http://schemas.microsoft.com/office/powerpoint/2010/main" val="1537294730"/>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5AB7FF28-7623-403A-B40B-C31AF17C83DF}"/>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5BA7F7-7C94-429C-A7DA-F1C1D618A0FD}"/>
              </a:ext>
            </a:extLst>
          </p:cNvPr>
          <p:cNvSpPr>
            <a:spLocks xmlns:a="http://schemas.openxmlformats.org/drawingml/2006/main" noGrp="1"/>
          </p:cNvSpPr>
          <p:nvPr/>
        </p:nvSpPr>
        <p:spPr>
          <a:xfrm xmlns:a="http://schemas.openxmlformats.org/drawingml/2006/main">
            <a:off x="685800" y="3238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125" b="1">
                <a:solidFill>
                  <a:srgbClr val="087F8C"/>
                </a:solidFill>
                <a:latin typeface="Helvetica Neue"/>
                <a:ea typeface="Helvetica Neue"/>
                <a:cs typeface="Helvetica Neue"/>
              </a:defRPr>
            </a:pPr>
            <a:r>
              <a:rPr sz="1125" b="1">
                <a:solidFill>
                  <a:srgbClr val="087F8C"/>
                </a:solidFill>
                <a:latin typeface="Helvetica Neue"/>
                <a:ea typeface="Helvetica Neue"/>
                <a:cs typeface="Helvetica Neue"/>
              </a:rPr>
              <a:t>METHODOLOGY</a:t>
            </a:r>
          </a:p>
        </p:txBody>
      </p:sp>
      <p:sp>
        <p:nvSpPr>
          <p:cNvPr id="3" name="">
            <a:extLst xmlns:a="http://schemas.openxmlformats.org/drawingml/2006/main">
              <a:ext uri="{FF2B5EF4-FFF2-40B4-BE49-F238E27FC236}">
                <a16:creationId xmlns:a16="http://schemas.microsoft.com/office/drawing/2014/main" id="{143A497C-2D11-479E-836F-705B5A9E2687}"/>
              </a:ext>
            </a:extLst>
          </p:cNvPr>
          <p:cNvSpPr>
            <a:spLocks xmlns:a="http://schemas.openxmlformats.org/drawingml/2006/main" noGrp="1"/>
          </p:cNvSpPr>
          <p:nvPr/>
        </p:nvSpPr>
        <p:spPr>
          <a:xfrm xmlns:a="http://schemas.openxmlformats.org/drawingml/2006/main">
            <a:off x="685800" y="6000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2925" b="1">
                <a:solidFill>
                  <a:srgbClr val="142B3B"/>
                </a:solidFill>
                <a:latin typeface="Helvetica Neue"/>
                <a:ea typeface="Helvetica Neue"/>
                <a:cs typeface="Helvetica Neue"/>
              </a:defRPr>
            </a:pPr>
            <a:r>
              <a:rPr sz="2925" b="1">
                <a:solidFill>
                  <a:srgbClr val="142B3B"/>
                </a:solidFill>
                <a:latin typeface="Helvetica Neue"/>
                <a:ea typeface="Helvetica Neue"/>
                <a:cs typeface="Helvetica Neue"/>
              </a:rPr>
              <a:t>Proposed architecture: shortlist, compare, rerank</a:t>
            </a:r>
          </a:p>
        </p:txBody>
      </p:sp>
      <p:sp>
        <p:nvSpPr>
          <p:cNvPr id="4" name="">
            <a:extLst xmlns:a="http://schemas.openxmlformats.org/drawingml/2006/main">
              <a:ext uri="{FF2B5EF4-FFF2-40B4-BE49-F238E27FC236}">
                <a16:creationId xmlns:a16="http://schemas.microsoft.com/office/drawing/2014/main" id="{8A83DC97-296B-43BB-B7B8-4A95C00CDB9B}"/>
              </a:ext>
            </a:extLst>
          </p:cNvPr>
          <p:cNvSpPr>
            <a:spLocks xmlns:a="http://schemas.openxmlformats.org/drawingml/2006/main" noGrp="1"/>
          </p:cNvSpPr>
          <p:nvPr/>
        </p:nvSpPr>
        <p:spPr>
          <a:xfrm xmlns:a="http://schemas.openxmlformats.org/drawingml/2006/main">
            <a:off x="685800" y="1266825"/>
            <a:ext cx="10820400" cy="0"/>
          </a:xfrm>
          <a:prstGeom xmlns:a="http://schemas.openxmlformats.org/drawingml/2006/main" prst="line">
            <a:avLst/>
          </a:prstGeom>
          <a:noFill xmlns:a="http://schemas.openxmlformats.org/drawingml/2006/main"/>
          <a:ln xmlns:a="http://schemas.openxmlformats.org/drawingml/2006/main" w="12383">
            <a:solidFill>
              <a:srgbClr val="C9D5DA"/>
            </a:solidFill>
          </a:ln>
        </p:spPr>
      </p:sp>
      <p:sp>
        <p:nvSpPr>
          <p:cNvPr id="5" name="">
            <a:extLst xmlns:a="http://schemas.openxmlformats.org/drawingml/2006/main">
              <a:ext uri="{FF2B5EF4-FFF2-40B4-BE49-F238E27FC236}">
                <a16:creationId xmlns:a16="http://schemas.microsoft.com/office/drawing/2014/main" id="{882E01A9-444B-4E4A-A384-1C2363B61C4E}"/>
              </a:ext>
            </a:extLst>
          </p:cNvPr>
          <p:cNvSpPr>
            <a:spLocks xmlns:a="http://schemas.openxmlformats.org/drawingml/2006/main" noGrp="1"/>
          </p:cNvSpPr>
          <p:nvPr/>
        </p:nvSpPr>
        <p:spPr>
          <a:xfrm xmlns:a="http://schemas.openxmlformats.org/drawingml/2006/main">
            <a:off x="685800" y="65151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125" b="0">
                <a:solidFill>
                  <a:srgbClr val="52636D"/>
                </a:solidFill>
                <a:latin typeface="Helvetica Neue"/>
                <a:ea typeface="Helvetica Neue"/>
                <a:cs typeface="Helvetica Neue"/>
              </a:defRPr>
            </a:pPr>
            <a:r>
              <a:rPr sz="1125" b="0">
                <a:solidFill>
                  <a:srgbClr val="52636D"/>
                </a:solidFill>
                <a:latin typeface="Helvetica Neue"/>
                <a:ea typeface="Helvetica Neue"/>
                <a:cs typeface="Helvetica Neue"/>
              </a:rPr>
              <a:t>M.Tech CSE • Image source retrieval</a:t>
            </a:r>
          </a:p>
        </p:txBody>
      </p:sp>
      <p:sp>
        <p:nvSpPr>
          <p:cNvPr id="6" name="">
            <a:extLst xmlns:a="http://schemas.openxmlformats.org/drawingml/2006/main">
              <a:ext uri="{FF2B5EF4-FFF2-40B4-BE49-F238E27FC236}">
                <a16:creationId xmlns:a16="http://schemas.microsoft.com/office/drawing/2014/main" id="{8480AF4D-A3D6-4BBE-BB6E-37A03EFF6C9B}"/>
              </a:ext>
            </a:extLst>
          </p:cNvPr>
          <p:cNvSpPr>
            <a:spLocks xmlns:a="http://schemas.openxmlformats.org/drawingml/2006/main" noGrp="1"/>
          </p:cNvSpPr>
          <p:nvPr/>
        </p:nvSpPr>
        <p:spPr>
          <a:xfrm xmlns:a="http://schemas.openxmlformats.org/drawingml/2006/main">
            <a:off x="11087100" y="64960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r">
              <a:defRPr sz="1125" b="0">
                <a:solidFill>
                  <a:srgbClr val="52636D"/>
                </a:solidFill>
                <a:latin typeface="Helvetica Neue"/>
                <a:ea typeface="Helvetica Neue"/>
                <a:cs typeface="Helvetica Neue"/>
              </a:defRPr>
            </a:pPr>
            <a:r>
              <a:rPr sz="1125" b="0">
                <a:solidFill>
                  <a:srgbClr val="52636D"/>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A2E841B3-ABF4-40FF-A1F5-2BC15F52A701}"/>
              </a:ext>
            </a:extLst>
          </p:cNvPr>
          <p:cNvSpPr>
            <a:spLocks xmlns:a="http://schemas.openxmlformats.org/drawingml/2006/main" noGrp="1"/>
          </p:cNvSpPr>
          <p:nvPr/>
        </p:nvSpPr>
        <p:spPr>
          <a:xfrm xmlns:a="http://schemas.openxmlformats.org/drawingml/2006/main">
            <a:off x="619125" y="1952625"/>
            <a:ext cx="1809750" cy="1381125"/>
          </a:xfrm>
          <a:prstGeom xmlns:a="http://schemas.openxmlformats.org/drawingml/2006/main" prst="roundRect">
            <a:avLst>
              <a:gd name="adj" fmla="val 5517"/>
            </a:avLst>
          </a:prstGeom>
          <a:solidFill xmlns:a="http://schemas.openxmlformats.org/drawingml/2006/main">
            <a:srgbClr val="F0F4F6"/>
          </a:solidFill>
          <a:ln xmlns:a="http://schemas.openxmlformats.org/drawingml/2006/main" w="14288">
            <a:solidFill>
              <a:srgbClr val="C9D5DA"/>
            </a:solidFill>
          </a:ln>
        </p:spPr>
      </p:sp>
      <p:sp>
        <p:nvSpPr>
          <p:cNvPr id="8" name="">
            <a:extLst xmlns:a="http://schemas.openxmlformats.org/drawingml/2006/main">
              <a:ext uri="{FF2B5EF4-FFF2-40B4-BE49-F238E27FC236}">
                <a16:creationId xmlns:a16="http://schemas.microsoft.com/office/drawing/2014/main" id="{652C8B59-5929-4892-82E9-29798F1ABC50}"/>
              </a:ext>
            </a:extLst>
          </p:cNvPr>
          <p:cNvSpPr>
            <a:spLocks xmlns:a="http://schemas.openxmlformats.org/drawingml/2006/main" noGrp="1"/>
          </p:cNvSpPr>
          <p:nvPr/>
        </p:nvSpPr>
        <p:spPr>
          <a:xfrm xmlns:a="http://schemas.openxmlformats.org/drawingml/2006/main">
            <a:off x="790575" y="2247900"/>
            <a:ext cx="1466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800" b="1">
                <a:solidFill>
                  <a:srgbClr val="142B3B"/>
                </a:solidFill>
                <a:latin typeface="Helvetica Neue"/>
                <a:ea typeface="Helvetica Neue"/>
                <a:cs typeface="Helvetica Neue"/>
              </a:defRPr>
            </a:pPr>
            <a:r>
              <a:rPr sz="1800" b="1">
                <a:solidFill>
                  <a:srgbClr val="142B3B"/>
                </a:solidFill>
                <a:latin typeface="Helvetica Neue"/>
                <a:ea typeface="Helvetica Neue"/>
                <a:cs typeface="Helvetica Neue"/>
              </a:rPr>
              <a:t>AI-edited</a:t>
            </a:r>
          </a:p>
        </p:txBody>
      </p:sp>
      <p:sp>
        <p:nvSpPr>
          <p:cNvPr id="9" name="">
            <a:extLst xmlns:a="http://schemas.openxmlformats.org/drawingml/2006/main">
              <a:ext uri="{FF2B5EF4-FFF2-40B4-BE49-F238E27FC236}">
                <a16:creationId xmlns:a16="http://schemas.microsoft.com/office/drawing/2014/main" id="{F2713500-A047-4530-88DA-31DD41B83000}"/>
              </a:ext>
            </a:extLst>
          </p:cNvPr>
          <p:cNvSpPr>
            <a:spLocks xmlns:a="http://schemas.openxmlformats.org/drawingml/2006/main" noGrp="1"/>
          </p:cNvSpPr>
          <p:nvPr/>
        </p:nvSpPr>
        <p:spPr>
          <a:xfrm xmlns:a="http://schemas.openxmlformats.org/drawingml/2006/main">
            <a:off x="771525" y="2695575"/>
            <a:ext cx="1504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575" b="0">
                <a:solidFill>
                  <a:srgbClr val="192B36"/>
                </a:solidFill>
                <a:latin typeface="Helvetica Neue"/>
                <a:ea typeface="Helvetica Neue"/>
                <a:cs typeface="Helvetica Neue"/>
              </a:defRPr>
            </a:pPr>
            <a:r>
              <a:rPr sz="1575" b="0">
                <a:solidFill>
                  <a:srgbClr val="192B36"/>
                </a:solidFill>
                <a:latin typeface="Helvetica Neue"/>
                <a:ea typeface="Helvetica Neue"/>
                <a:cs typeface="Helvetica Neue"/>
              </a:rPr>
              <a:t>query image</a:t>
            </a:r>
          </a:p>
        </p:txBody>
      </p:sp>
      <p:sp>
        <p:nvSpPr>
          <p:cNvPr id="10" name="">
            <a:extLst xmlns:a="http://schemas.openxmlformats.org/drawingml/2006/main">
              <a:ext uri="{FF2B5EF4-FFF2-40B4-BE49-F238E27FC236}">
                <a16:creationId xmlns:a16="http://schemas.microsoft.com/office/drawing/2014/main" id="{014D534C-1C46-4A9D-8912-44DD2E6CF846}"/>
              </a:ext>
            </a:extLst>
          </p:cNvPr>
          <p:cNvSpPr>
            <a:spLocks xmlns:a="http://schemas.openxmlformats.org/drawingml/2006/main" noGrp="1"/>
          </p:cNvSpPr>
          <p:nvPr/>
        </p:nvSpPr>
        <p:spPr>
          <a:xfrm xmlns:a="http://schemas.openxmlformats.org/drawingml/2006/main">
            <a:off x="3095625" y="1952625"/>
            <a:ext cx="1952625" cy="1381125"/>
          </a:xfrm>
          <a:prstGeom xmlns:a="http://schemas.openxmlformats.org/drawingml/2006/main" prst="roundRect">
            <a:avLst>
              <a:gd name="adj" fmla="val 5517"/>
            </a:avLst>
          </a:prstGeom>
          <a:solidFill xmlns:a="http://schemas.openxmlformats.org/drawingml/2006/main">
            <a:srgbClr val="E6F4F3"/>
          </a:solidFill>
          <a:ln xmlns:a="http://schemas.openxmlformats.org/drawingml/2006/main" w="14288">
            <a:solidFill>
              <a:srgbClr val="8BC8C7"/>
            </a:solidFill>
          </a:ln>
        </p:spPr>
      </p:sp>
      <p:sp>
        <p:nvSpPr>
          <p:cNvPr id="11" name="">
            <a:extLst xmlns:a="http://schemas.openxmlformats.org/drawingml/2006/main">
              <a:ext uri="{FF2B5EF4-FFF2-40B4-BE49-F238E27FC236}">
                <a16:creationId xmlns:a16="http://schemas.microsoft.com/office/drawing/2014/main" id="{64606D32-E7DA-402B-8C0A-77530CBB765A}"/>
              </a:ext>
            </a:extLst>
          </p:cNvPr>
          <p:cNvSpPr>
            <a:spLocks xmlns:a="http://schemas.openxmlformats.org/drawingml/2006/main" noGrp="1"/>
          </p:cNvSpPr>
          <p:nvPr/>
        </p:nvSpPr>
        <p:spPr>
          <a:xfrm xmlns:a="http://schemas.openxmlformats.org/drawingml/2006/main">
            <a:off x="3267075" y="2247900"/>
            <a:ext cx="1609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800" b="1">
                <a:solidFill>
                  <a:srgbClr val="087F8C"/>
                </a:solidFill>
                <a:latin typeface="Helvetica Neue"/>
                <a:ea typeface="Helvetica Neue"/>
                <a:cs typeface="Helvetica Neue"/>
              </a:defRPr>
            </a:pPr>
            <a:r>
              <a:rPr sz="1800" b="1">
                <a:solidFill>
                  <a:srgbClr val="087F8C"/>
                </a:solidFill>
                <a:latin typeface="Helvetica Neue"/>
                <a:ea typeface="Helvetica Neue"/>
                <a:cs typeface="Helvetica Neue"/>
              </a:rPr>
              <a:t>Frozen SSCD</a:t>
            </a:r>
          </a:p>
        </p:txBody>
      </p:sp>
      <p:sp>
        <p:nvSpPr>
          <p:cNvPr id="12" name="">
            <a:extLst xmlns:a="http://schemas.openxmlformats.org/drawingml/2006/main">
              <a:ext uri="{FF2B5EF4-FFF2-40B4-BE49-F238E27FC236}">
                <a16:creationId xmlns:a16="http://schemas.microsoft.com/office/drawing/2014/main" id="{987A0109-435F-4CD6-B1AE-37EFFA4D6A56}"/>
              </a:ext>
            </a:extLst>
          </p:cNvPr>
          <p:cNvSpPr>
            <a:spLocks xmlns:a="http://schemas.openxmlformats.org/drawingml/2006/main" noGrp="1"/>
          </p:cNvSpPr>
          <p:nvPr/>
        </p:nvSpPr>
        <p:spPr>
          <a:xfrm xmlns:a="http://schemas.openxmlformats.org/drawingml/2006/main">
            <a:off x="3248025" y="2695575"/>
            <a:ext cx="1647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575" b="0">
                <a:solidFill>
                  <a:srgbClr val="192B36"/>
                </a:solidFill>
                <a:latin typeface="Helvetica Neue"/>
                <a:ea typeface="Helvetica Neue"/>
                <a:cs typeface="Helvetica Neue"/>
              </a:defRPr>
            </a:pPr>
            <a:r>
              <a:rPr sz="1575" b="0">
                <a:solidFill>
                  <a:srgbClr val="192B36"/>
                </a:solidFill>
                <a:latin typeface="Helvetica Neue"/>
                <a:ea typeface="Helvetica Neue"/>
                <a:cs typeface="Helvetica Neue"/>
              </a:rPr>
              <a:t>searches gallery</a:t>
            </a:r>
          </a:p>
        </p:txBody>
      </p:sp>
      <p:sp>
        <p:nvSpPr>
          <p:cNvPr id="13" name="">
            <a:extLst xmlns:a="http://schemas.openxmlformats.org/drawingml/2006/main">
              <a:ext uri="{FF2B5EF4-FFF2-40B4-BE49-F238E27FC236}">
                <a16:creationId xmlns:a16="http://schemas.microsoft.com/office/drawing/2014/main" id="{CE88B71D-6EC4-4153-92F5-065F423E422F}"/>
              </a:ext>
            </a:extLst>
          </p:cNvPr>
          <p:cNvSpPr>
            <a:spLocks xmlns:a="http://schemas.openxmlformats.org/drawingml/2006/main" noGrp="1"/>
          </p:cNvSpPr>
          <p:nvPr/>
        </p:nvSpPr>
        <p:spPr>
          <a:xfrm xmlns:a="http://schemas.openxmlformats.org/drawingml/2006/main">
            <a:off x="5715000" y="1952625"/>
            <a:ext cx="1952625" cy="1381125"/>
          </a:xfrm>
          <a:prstGeom xmlns:a="http://schemas.openxmlformats.org/drawingml/2006/main" prst="roundRect">
            <a:avLst>
              <a:gd name="adj" fmla="val 5517"/>
            </a:avLst>
          </a:prstGeom>
          <a:solidFill xmlns:a="http://schemas.openxmlformats.org/drawingml/2006/main">
            <a:srgbClr val="F0F4F6"/>
          </a:solidFill>
          <a:ln xmlns:a="http://schemas.openxmlformats.org/drawingml/2006/main" w="14288">
            <a:solidFill>
              <a:srgbClr val="C9D5DA"/>
            </a:solidFill>
          </a:ln>
        </p:spPr>
      </p:sp>
      <p:sp>
        <p:nvSpPr>
          <p:cNvPr id="14" name="">
            <a:extLst xmlns:a="http://schemas.openxmlformats.org/drawingml/2006/main">
              <a:ext uri="{FF2B5EF4-FFF2-40B4-BE49-F238E27FC236}">
                <a16:creationId xmlns:a16="http://schemas.microsoft.com/office/drawing/2014/main" id="{167DA694-CA21-49D0-B958-21298228CEA2}"/>
              </a:ext>
            </a:extLst>
          </p:cNvPr>
          <p:cNvSpPr>
            <a:spLocks xmlns:a="http://schemas.openxmlformats.org/drawingml/2006/main" noGrp="1"/>
          </p:cNvSpPr>
          <p:nvPr/>
        </p:nvSpPr>
        <p:spPr>
          <a:xfrm xmlns:a="http://schemas.openxmlformats.org/drawingml/2006/main">
            <a:off x="5886450" y="2247900"/>
            <a:ext cx="1609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800" b="1">
                <a:solidFill>
                  <a:srgbClr val="142B3B"/>
                </a:solidFill>
                <a:latin typeface="Helvetica Neue"/>
                <a:ea typeface="Helvetica Neue"/>
                <a:cs typeface="Helvetica Neue"/>
              </a:defRPr>
            </a:pPr>
            <a:r>
              <a:rPr sz="1800" b="1">
                <a:solidFill>
                  <a:srgbClr val="142B3B"/>
                </a:solidFill>
                <a:latin typeface="Helvetica Neue"/>
                <a:ea typeface="Helvetica Neue"/>
                <a:cs typeface="Helvetica Neue"/>
              </a:rPr>
              <a:t>Local patch</a:t>
            </a:r>
          </a:p>
        </p:txBody>
      </p:sp>
      <p:sp>
        <p:nvSpPr>
          <p:cNvPr id="15" name="">
            <a:extLst xmlns:a="http://schemas.openxmlformats.org/drawingml/2006/main">
              <a:ext uri="{FF2B5EF4-FFF2-40B4-BE49-F238E27FC236}">
                <a16:creationId xmlns:a16="http://schemas.microsoft.com/office/drawing/2014/main" id="{3EFBA67C-FF4F-4886-A2BB-280AB5E5452C}"/>
              </a:ext>
            </a:extLst>
          </p:cNvPr>
          <p:cNvSpPr>
            <a:spLocks xmlns:a="http://schemas.openxmlformats.org/drawingml/2006/main" noGrp="1"/>
          </p:cNvSpPr>
          <p:nvPr/>
        </p:nvSpPr>
        <p:spPr>
          <a:xfrm xmlns:a="http://schemas.openxmlformats.org/drawingml/2006/main">
            <a:off x="5867400" y="2695575"/>
            <a:ext cx="1647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575" b="0">
                <a:solidFill>
                  <a:srgbClr val="192B36"/>
                </a:solidFill>
                <a:latin typeface="Helvetica Neue"/>
                <a:ea typeface="Helvetica Neue"/>
                <a:cs typeface="Helvetica Neue"/>
              </a:defRPr>
            </a:pPr>
            <a:r>
              <a:rPr sz="1575" b="0">
                <a:solidFill>
                  <a:srgbClr val="192B36"/>
                </a:solidFill>
                <a:latin typeface="Helvetica Neue"/>
                <a:ea typeface="Helvetica Neue"/>
                <a:cs typeface="Helvetica Neue"/>
              </a:rPr>
              <a:t>comparison</a:t>
            </a:r>
          </a:p>
        </p:txBody>
      </p:sp>
      <p:sp>
        <p:nvSpPr>
          <p:cNvPr id="16" name="">
            <a:extLst xmlns:a="http://schemas.openxmlformats.org/drawingml/2006/main">
              <a:ext uri="{FF2B5EF4-FFF2-40B4-BE49-F238E27FC236}">
                <a16:creationId xmlns:a16="http://schemas.microsoft.com/office/drawing/2014/main" id="{B1A0CF05-4172-4100-B83F-98F4F9917740}"/>
              </a:ext>
            </a:extLst>
          </p:cNvPr>
          <p:cNvSpPr>
            <a:spLocks xmlns:a="http://schemas.openxmlformats.org/drawingml/2006/main" noGrp="1"/>
          </p:cNvSpPr>
          <p:nvPr/>
        </p:nvSpPr>
        <p:spPr>
          <a:xfrm xmlns:a="http://schemas.openxmlformats.org/drawingml/2006/main">
            <a:off x="8334375" y="1952625"/>
            <a:ext cx="2857500" cy="1381125"/>
          </a:xfrm>
          <a:prstGeom xmlns:a="http://schemas.openxmlformats.org/drawingml/2006/main" prst="roundRect">
            <a:avLst>
              <a:gd name="adj" fmla="val 5517"/>
            </a:avLst>
          </a:prstGeom>
          <a:solidFill xmlns:a="http://schemas.openxmlformats.org/drawingml/2006/main">
            <a:srgbClr val="F8F0E1"/>
          </a:solidFill>
          <a:ln xmlns:a="http://schemas.openxmlformats.org/drawingml/2006/main" w="14288">
            <a:solidFill>
              <a:srgbClr val="E5C783"/>
            </a:solidFill>
          </a:ln>
        </p:spPr>
      </p:sp>
      <p:sp>
        <p:nvSpPr>
          <p:cNvPr id="17" name="">
            <a:extLst xmlns:a="http://schemas.openxmlformats.org/drawingml/2006/main">
              <a:ext uri="{FF2B5EF4-FFF2-40B4-BE49-F238E27FC236}">
                <a16:creationId xmlns:a16="http://schemas.microsoft.com/office/drawing/2014/main" id="{817487BA-32FA-40EF-994F-69F35E2F824D}"/>
              </a:ext>
            </a:extLst>
          </p:cNvPr>
          <p:cNvSpPr>
            <a:spLocks xmlns:a="http://schemas.openxmlformats.org/drawingml/2006/main" noGrp="1"/>
          </p:cNvSpPr>
          <p:nvPr/>
        </p:nvSpPr>
        <p:spPr>
          <a:xfrm xmlns:a="http://schemas.openxmlformats.org/drawingml/2006/main">
            <a:off x="8505825" y="2247900"/>
            <a:ext cx="2514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800" b="1">
                <a:solidFill>
                  <a:srgbClr val="142B3B"/>
                </a:solidFill>
                <a:latin typeface="Helvetica Neue"/>
                <a:ea typeface="Helvetica Neue"/>
                <a:cs typeface="Helvetica Neue"/>
              </a:defRPr>
            </a:pPr>
            <a:r>
              <a:rPr sz="1800" b="1">
                <a:solidFill>
                  <a:srgbClr val="142B3B"/>
                </a:solidFill>
                <a:latin typeface="Helvetica Neue"/>
                <a:ea typeface="Helvetica Neue"/>
                <a:cs typeface="Helvetica Neue"/>
              </a:rPr>
              <a:t>Small fusion</a:t>
            </a:r>
          </a:p>
        </p:txBody>
      </p:sp>
      <p:sp>
        <p:nvSpPr>
          <p:cNvPr id="18" name="">
            <a:extLst xmlns:a="http://schemas.openxmlformats.org/drawingml/2006/main">
              <a:ext uri="{FF2B5EF4-FFF2-40B4-BE49-F238E27FC236}">
                <a16:creationId xmlns:a16="http://schemas.microsoft.com/office/drawing/2014/main" id="{B74F82CD-FF34-4E36-9F72-F435715D5187}"/>
              </a:ext>
            </a:extLst>
          </p:cNvPr>
          <p:cNvSpPr>
            <a:spLocks xmlns:a="http://schemas.openxmlformats.org/drawingml/2006/main" noGrp="1"/>
          </p:cNvSpPr>
          <p:nvPr/>
        </p:nvSpPr>
        <p:spPr>
          <a:xfrm xmlns:a="http://schemas.openxmlformats.org/drawingml/2006/main">
            <a:off x="8486775" y="2695575"/>
            <a:ext cx="2552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575" b="0">
                <a:solidFill>
                  <a:srgbClr val="192B36"/>
                </a:solidFill>
                <a:latin typeface="Helvetica Neue"/>
                <a:ea typeface="Helvetica Neue"/>
                <a:cs typeface="Helvetica Neue"/>
              </a:defRPr>
            </a:pPr>
            <a:r>
              <a:rPr sz="1575" b="0">
                <a:solidFill>
                  <a:srgbClr val="192B36"/>
                </a:solidFill>
                <a:latin typeface="Helvetica Neue"/>
                <a:ea typeface="Helvetica Neue"/>
                <a:cs typeface="Helvetica Neue"/>
              </a:rPr>
              <a:t>network reranks</a:t>
            </a:r>
          </a:p>
        </p:txBody>
      </p:sp>
      <p:sp>
        <p:nvSpPr>
          <p:cNvPr id="19" name="">
            <a:extLst xmlns:a="http://schemas.openxmlformats.org/drawingml/2006/main">
              <a:ext uri="{FF2B5EF4-FFF2-40B4-BE49-F238E27FC236}">
                <a16:creationId xmlns:a16="http://schemas.microsoft.com/office/drawing/2014/main" id="{D63A826F-D80F-4845-AC23-58A13DD19971}"/>
              </a:ext>
            </a:extLst>
          </p:cNvPr>
          <p:cNvSpPr>
            <a:spLocks xmlns:a="http://schemas.openxmlformats.org/drawingml/2006/main" noGrp="1"/>
          </p:cNvSpPr>
          <p:nvPr/>
        </p:nvSpPr>
        <p:spPr>
          <a:xfrm xmlns:a="http://schemas.openxmlformats.org/drawingml/2006/main">
            <a:off x="2505075" y="2638425"/>
            <a:ext cx="476250" cy="0"/>
          </a:xfrm>
          <a:prstGeom xmlns:a="http://schemas.openxmlformats.org/drawingml/2006/main" prst="line">
            <a:avLst/>
          </a:prstGeom>
          <a:noFill xmlns:a="http://schemas.openxmlformats.org/drawingml/2006/main"/>
          <a:ln xmlns:a="http://schemas.openxmlformats.org/drawingml/2006/main" w="28575">
            <a:solidFill>
              <a:srgbClr val="087F8C"/>
            </a:solidFill>
          </a:ln>
        </p:spPr>
      </p:sp>
      <p:sp>
        <p:nvSpPr>
          <p:cNvPr id="20" name="">
            <a:extLst xmlns:a="http://schemas.openxmlformats.org/drawingml/2006/main">
              <a:ext uri="{FF2B5EF4-FFF2-40B4-BE49-F238E27FC236}">
                <a16:creationId xmlns:a16="http://schemas.microsoft.com/office/drawing/2014/main" id="{4C0CE8F1-78CF-447E-8AA7-7D50EA07D120}"/>
              </a:ext>
            </a:extLst>
          </p:cNvPr>
          <p:cNvSpPr>
            <a:spLocks xmlns:a="http://schemas.openxmlformats.org/drawingml/2006/main" noGrp="1"/>
          </p:cNvSpPr>
          <p:nvPr/>
        </p:nvSpPr>
        <p:spPr>
          <a:xfrm xmlns:a="http://schemas.openxmlformats.org/drawingml/2006/main">
            <a:off x="5124450" y="2638425"/>
            <a:ext cx="476250" cy="0"/>
          </a:xfrm>
          <a:prstGeom xmlns:a="http://schemas.openxmlformats.org/drawingml/2006/main" prst="line">
            <a:avLst/>
          </a:prstGeom>
          <a:noFill xmlns:a="http://schemas.openxmlformats.org/drawingml/2006/main"/>
          <a:ln xmlns:a="http://schemas.openxmlformats.org/drawingml/2006/main" w="28575">
            <a:solidFill>
              <a:srgbClr val="087F8C"/>
            </a:solidFill>
          </a:ln>
        </p:spPr>
      </p:sp>
      <p:sp>
        <p:nvSpPr>
          <p:cNvPr id="21" name="">
            <a:extLst xmlns:a="http://schemas.openxmlformats.org/drawingml/2006/main">
              <a:ext uri="{FF2B5EF4-FFF2-40B4-BE49-F238E27FC236}">
                <a16:creationId xmlns:a16="http://schemas.microsoft.com/office/drawing/2014/main" id="{AD151A28-A31C-41F0-B5C8-DF082E309D80}"/>
              </a:ext>
            </a:extLst>
          </p:cNvPr>
          <p:cNvSpPr>
            <a:spLocks xmlns:a="http://schemas.openxmlformats.org/drawingml/2006/main" noGrp="1"/>
          </p:cNvSpPr>
          <p:nvPr/>
        </p:nvSpPr>
        <p:spPr>
          <a:xfrm xmlns:a="http://schemas.openxmlformats.org/drawingml/2006/main">
            <a:off x="7743825" y="2638425"/>
            <a:ext cx="476250" cy="0"/>
          </a:xfrm>
          <a:prstGeom xmlns:a="http://schemas.openxmlformats.org/drawingml/2006/main" prst="line">
            <a:avLst/>
          </a:prstGeom>
          <a:noFill xmlns:a="http://schemas.openxmlformats.org/drawingml/2006/main"/>
          <a:ln xmlns:a="http://schemas.openxmlformats.org/drawingml/2006/main" w="28575">
            <a:solidFill>
              <a:srgbClr val="087F8C"/>
            </a:solidFill>
          </a:ln>
        </p:spPr>
      </p:sp>
      <p:sp>
        <p:nvSpPr>
          <p:cNvPr id="22" name="">
            <a:extLst xmlns:a="http://schemas.openxmlformats.org/drawingml/2006/main">
              <a:ext uri="{FF2B5EF4-FFF2-40B4-BE49-F238E27FC236}">
                <a16:creationId xmlns:a16="http://schemas.microsoft.com/office/drawing/2014/main" id="{B91257B0-8C34-4CE3-9950-4A9D3E782890}"/>
              </a:ext>
            </a:extLst>
          </p:cNvPr>
          <p:cNvSpPr>
            <a:spLocks xmlns:a="http://schemas.openxmlformats.org/drawingml/2006/main" noGrp="1"/>
          </p:cNvSpPr>
          <p:nvPr/>
        </p:nvSpPr>
        <p:spPr>
          <a:xfrm xmlns:a="http://schemas.openxmlformats.org/drawingml/2006/main">
            <a:off x="3076575" y="35242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8308"/>
          </a:bodyPr>
          <a:lstStyle xmlns:a="http://schemas.openxmlformats.org/drawingml/2006/main"/>
          <a:p xmlns:a="http://schemas.openxmlformats.org/drawingml/2006/main">
            <a:pPr algn="ctr">
              <a:defRPr sz="1425" b="1">
                <a:solidFill>
                  <a:srgbClr val="087F8C"/>
                </a:solidFill>
                <a:latin typeface="Helvetica Neue"/>
                <a:ea typeface="Helvetica Neue"/>
                <a:cs typeface="Helvetica Neue"/>
              </a:defRPr>
            </a:pPr>
            <a:r>
              <a:rPr sz="1425" b="1">
                <a:solidFill>
                  <a:srgbClr val="087F8C"/>
                </a:solidFill>
                <a:latin typeface="Helvetica Neue"/>
                <a:ea typeface="Helvetica Neue"/>
                <a:cs typeface="Helvetica Neue"/>
              </a:rPr>
              <a:t>Top K possible sources</a:t>
            </a:r>
          </a:p>
        </p:txBody>
      </p:sp>
      <p:sp>
        <p:nvSpPr>
          <p:cNvPr id="23" name="">
            <a:extLst xmlns:a="http://schemas.openxmlformats.org/drawingml/2006/main">
              <a:ext uri="{FF2B5EF4-FFF2-40B4-BE49-F238E27FC236}">
                <a16:creationId xmlns:a16="http://schemas.microsoft.com/office/drawing/2014/main" id="{464EA63A-4791-489A-9B25-84B9B633766C}"/>
              </a:ext>
            </a:extLst>
          </p:cNvPr>
          <p:cNvSpPr>
            <a:spLocks xmlns:a="http://schemas.openxmlformats.org/drawingml/2006/main" noGrp="1"/>
          </p:cNvSpPr>
          <p:nvPr/>
        </p:nvSpPr>
        <p:spPr>
          <a:xfrm xmlns:a="http://schemas.openxmlformats.org/drawingml/2006/main">
            <a:off x="5829300" y="3524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425" b="1">
                <a:solidFill>
                  <a:srgbClr val="087F8C"/>
                </a:solidFill>
                <a:latin typeface="Helvetica Neue"/>
                <a:ea typeface="Helvetica Neue"/>
                <a:cs typeface="Helvetica Neue"/>
              </a:defRPr>
            </a:pPr>
            <a:r>
              <a:rPr sz="1425" b="1">
                <a:solidFill>
                  <a:srgbClr val="087F8C"/>
                </a:solidFill>
                <a:latin typeface="Helvetica Neue"/>
                <a:ea typeface="Helvetica Neue"/>
                <a:cs typeface="Helvetica Neue"/>
              </a:rPr>
              <a:t>Global score</a:t>
            </a:r>
          </a:p>
        </p:txBody>
      </p:sp>
      <p:sp>
        <p:nvSpPr>
          <p:cNvPr id="24" name="">
            <a:extLst xmlns:a="http://schemas.openxmlformats.org/drawingml/2006/main">
              <a:ext uri="{FF2B5EF4-FFF2-40B4-BE49-F238E27FC236}">
                <a16:creationId xmlns:a16="http://schemas.microsoft.com/office/drawing/2014/main" id="{F6C642B5-AA7C-4528-B9AA-04BCF205D766}"/>
              </a:ext>
            </a:extLst>
          </p:cNvPr>
          <p:cNvSpPr>
            <a:spLocks xmlns:a="http://schemas.openxmlformats.org/drawingml/2006/main" noGrp="1"/>
          </p:cNvSpPr>
          <p:nvPr/>
        </p:nvSpPr>
        <p:spPr>
          <a:xfrm xmlns:a="http://schemas.openxmlformats.org/drawingml/2006/main">
            <a:off x="7667625" y="3524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425" b="1">
                <a:solidFill>
                  <a:srgbClr val="087F8C"/>
                </a:solidFill>
                <a:latin typeface="Helvetica Neue"/>
                <a:ea typeface="Helvetica Neue"/>
                <a:cs typeface="Helvetica Neue"/>
              </a:defRPr>
            </a:pPr>
            <a:r>
              <a:rPr sz="1425" b="1">
                <a:solidFill>
                  <a:srgbClr val="087F8C"/>
                </a:solidFill>
                <a:latin typeface="Helvetica Neue"/>
                <a:ea typeface="Helvetica Neue"/>
                <a:cs typeface="Helvetica Neue"/>
              </a:rPr>
              <a:t>Local score</a:t>
            </a:r>
          </a:p>
        </p:txBody>
      </p:sp>
      <p:sp>
        <p:nvSpPr>
          <p:cNvPr id="25" name="">
            <a:extLst xmlns:a="http://schemas.openxmlformats.org/drawingml/2006/main">
              <a:ext uri="{FF2B5EF4-FFF2-40B4-BE49-F238E27FC236}">
                <a16:creationId xmlns:a16="http://schemas.microsoft.com/office/drawing/2014/main" id="{C113B70E-958A-4085-A5DC-5C1D158BB1B2}"/>
              </a:ext>
            </a:extLst>
          </p:cNvPr>
          <p:cNvSpPr>
            <a:spLocks xmlns:a="http://schemas.openxmlformats.org/drawingml/2006/main" noGrp="1"/>
          </p:cNvSpPr>
          <p:nvPr/>
        </p:nvSpPr>
        <p:spPr>
          <a:xfrm xmlns:a="http://schemas.openxmlformats.org/drawingml/2006/main">
            <a:off x="685800" y="4114800"/>
            <a:ext cx="10820400" cy="0"/>
          </a:xfrm>
          <a:prstGeom xmlns:a="http://schemas.openxmlformats.org/drawingml/2006/main" prst="line">
            <a:avLst/>
          </a:prstGeom>
          <a:noFill xmlns:a="http://schemas.openxmlformats.org/drawingml/2006/main"/>
          <a:ln xmlns:a="http://schemas.openxmlformats.org/drawingml/2006/main" w="14288">
            <a:solidFill>
              <a:srgbClr val="C9D5DA"/>
            </a:solidFill>
          </a:ln>
        </p:spPr>
      </p:sp>
      <p:sp>
        <p:nvSpPr>
          <p:cNvPr id="26" name="">
            <a:extLst xmlns:a="http://schemas.openxmlformats.org/drawingml/2006/main">
              <a:ext uri="{FF2B5EF4-FFF2-40B4-BE49-F238E27FC236}">
                <a16:creationId xmlns:a16="http://schemas.microsoft.com/office/drawing/2014/main" id="{830B7010-8879-4E26-A2CD-35BF740C89E5}"/>
              </a:ext>
            </a:extLst>
          </p:cNvPr>
          <p:cNvSpPr>
            <a:spLocks xmlns:a="http://schemas.openxmlformats.org/drawingml/2006/main" noGrp="1"/>
          </p:cNvSpPr>
          <p:nvPr/>
        </p:nvSpPr>
        <p:spPr>
          <a:xfrm xmlns:a="http://schemas.openxmlformats.org/drawingml/2006/main">
            <a:off x="685800" y="4476750"/>
            <a:ext cx="2019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425" b="1">
                <a:solidFill>
                  <a:srgbClr val="087F8C"/>
                </a:solidFill>
                <a:latin typeface="Helvetica Neue"/>
                <a:ea typeface="Helvetica Neue"/>
                <a:cs typeface="Helvetica Neue"/>
              </a:defRPr>
            </a:pPr>
            <a:r>
              <a:rPr sz="1425" b="1">
                <a:solidFill>
                  <a:srgbClr val="087F8C"/>
                </a:solidFill>
                <a:latin typeface="Helvetica Neue"/>
                <a:ea typeface="Helvetica Neue"/>
                <a:cs typeface="Helvetica Neue"/>
              </a:rPr>
              <a:t>Patch</a:t>
            </a:r>
          </a:p>
        </p:txBody>
      </p:sp>
      <p:sp>
        <p:nvSpPr>
          <p:cNvPr id="27" name="">
            <a:extLst xmlns:a="http://schemas.openxmlformats.org/drawingml/2006/main">
              <a:ext uri="{FF2B5EF4-FFF2-40B4-BE49-F238E27FC236}">
                <a16:creationId xmlns:a16="http://schemas.microsoft.com/office/drawing/2014/main" id="{46A4C66B-8428-4691-9169-9478BA7688C8}"/>
              </a:ext>
            </a:extLst>
          </p:cNvPr>
          <p:cNvSpPr>
            <a:spLocks xmlns:a="http://schemas.openxmlformats.org/drawingml/2006/main" noGrp="1"/>
          </p:cNvSpPr>
          <p:nvPr/>
        </p:nvSpPr>
        <p:spPr>
          <a:xfrm xmlns:a="http://schemas.openxmlformats.org/drawingml/2006/main">
            <a:off x="685800" y="4791075"/>
            <a:ext cx="2019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00" b="0">
                <a:solidFill>
                  <a:srgbClr val="192B36"/>
                </a:solidFill>
                <a:latin typeface="Helvetica Neue"/>
                <a:ea typeface="Helvetica Neue"/>
                <a:cs typeface="Helvetica Neue"/>
              </a:defRPr>
            </a:pPr>
            <a:r>
              <a:rPr sz="1500" b="0">
                <a:solidFill>
                  <a:srgbClr val="192B36"/>
                </a:solidFill>
                <a:latin typeface="Helvetica Neue"/>
                <a:ea typeface="Helvetica Neue"/>
                <a:cs typeface="Helvetica Neue"/>
              </a:rPr>
              <a:t>A small square crop from an image.</a:t>
            </a:r>
          </a:p>
        </p:txBody>
      </p:sp>
      <p:sp>
        <p:nvSpPr>
          <p:cNvPr id="28" name="">
            <a:extLst xmlns:a="http://schemas.openxmlformats.org/drawingml/2006/main">
              <a:ext uri="{FF2B5EF4-FFF2-40B4-BE49-F238E27FC236}">
                <a16:creationId xmlns:a16="http://schemas.microsoft.com/office/drawing/2014/main" id="{24A24B56-1483-4944-92A9-A1F01E5E22B7}"/>
              </a:ext>
            </a:extLst>
          </p:cNvPr>
          <p:cNvSpPr>
            <a:spLocks xmlns:a="http://schemas.openxmlformats.org/drawingml/2006/main" noGrp="1"/>
          </p:cNvSpPr>
          <p:nvPr/>
        </p:nvSpPr>
        <p:spPr>
          <a:xfrm xmlns:a="http://schemas.openxmlformats.org/drawingml/2006/main">
            <a:off x="2847975" y="4476750"/>
            <a:ext cx="2019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425" b="1">
                <a:solidFill>
                  <a:srgbClr val="087F8C"/>
                </a:solidFill>
                <a:latin typeface="Helvetica Neue"/>
                <a:ea typeface="Helvetica Neue"/>
                <a:cs typeface="Helvetica Neue"/>
              </a:defRPr>
            </a:pPr>
            <a:r>
              <a:rPr sz="1425" b="1">
                <a:solidFill>
                  <a:srgbClr val="087F8C"/>
                </a:solidFill>
                <a:latin typeface="Helvetica Neue"/>
                <a:ea typeface="Helvetica Neue"/>
                <a:cs typeface="Helvetica Neue"/>
              </a:rPr>
              <a:t>Candidate</a:t>
            </a:r>
          </a:p>
        </p:txBody>
      </p:sp>
      <p:sp>
        <p:nvSpPr>
          <p:cNvPr id="29" name="">
            <a:extLst xmlns:a="http://schemas.openxmlformats.org/drawingml/2006/main">
              <a:ext uri="{FF2B5EF4-FFF2-40B4-BE49-F238E27FC236}">
                <a16:creationId xmlns:a16="http://schemas.microsoft.com/office/drawing/2014/main" id="{9968EE68-FE17-4C00-A8BB-097DB5455A23}"/>
              </a:ext>
            </a:extLst>
          </p:cNvPr>
          <p:cNvSpPr>
            <a:spLocks xmlns:a="http://schemas.openxmlformats.org/drawingml/2006/main" noGrp="1"/>
          </p:cNvSpPr>
          <p:nvPr/>
        </p:nvSpPr>
        <p:spPr>
          <a:xfrm xmlns:a="http://schemas.openxmlformats.org/drawingml/2006/main">
            <a:off x="2847975" y="4791075"/>
            <a:ext cx="2019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00" b="0">
                <a:solidFill>
                  <a:srgbClr val="192B36"/>
                </a:solidFill>
                <a:latin typeface="Helvetica Neue"/>
                <a:ea typeface="Helvetica Neue"/>
                <a:cs typeface="Helvetica Neue"/>
              </a:defRPr>
            </a:pPr>
            <a:r>
              <a:rPr sz="1500" b="0">
                <a:solidFill>
                  <a:srgbClr val="192B36"/>
                </a:solidFill>
                <a:latin typeface="Helvetica Neue"/>
                <a:ea typeface="Helvetica Neue"/>
                <a:cs typeface="Helvetica Neue"/>
              </a:rPr>
              <a:t>One possible original in the shortlist.</a:t>
            </a:r>
          </a:p>
        </p:txBody>
      </p:sp>
      <p:sp>
        <p:nvSpPr>
          <p:cNvPr id="30" name="">
            <a:extLst xmlns:a="http://schemas.openxmlformats.org/drawingml/2006/main">
              <a:ext uri="{FF2B5EF4-FFF2-40B4-BE49-F238E27FC236}">
                <a16:creationId xmlns:a16="http://schemas.microsoft.com/office/drawing/2014/main" id="{E177DE6E-22A0-483D-B7E0-1D4C34488F34}"/>
              </a:ext>
            </a:extLst>
          </p:cNvPr>
          <p:cNvSpPr>
            <a:spLocks xmlns:a="http://schemas.openxmlformats.org/drawingml/2006/main" noGrp="1"/>
          </p:cNvSpPr>
          <p:nvPr/>
        </p:nvSpPr>
        <p:spPr>
          <a:xfrm xmlns:a="http://schemas.openxmlformats.org/drawingml/2006/main">
            <a:off x="5010150" y="4476750"/>
            <a:ext cx="2019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425" b="1">
                <a:solidFill>
                  <a:srgbClr val="087F8C"/>
                </a:solidFill>
                <a:latin typeface="Helvetica Neue"/>
                <a:ea typeface="Helvetica Neue"/>
                <a:cs typeface="Helvetica Neue"/>
              </a:defRPr>
            </a:pPr>
            <a:r>
              <a:rPr sz="1425" b="1">
                <a:solidFill>
                  <a:srgbClr val="087F8C"/>
                </a:solidFill>
                <a:latin typeface="Helvetica Neue"/>
                <a:ea typeface="Helvetica Neue"/>
                <a:cs typeface="Helvetica Neue"/>
              </a:rPr>
              <a:t>Global score</a:t>
            </a:r>
          </a:p>
        </p:txBody>
      </p:sp>
      <p:sp>
        <p:nvSpPr>
          <p:cNvPr id="31" name="">
            <a:extLst xmlns:a="http://schemas.openxmlformats.org/drawingml/2006/main">
              <a:ext uri="{FF2B5EF4-FFF2-40B4-BE49-F238E27FC236}">
                <a16:creationId xmlns:a16="http://schemas.microsoft.com/office/drawing/2014/main" id="{68F154E8-A4BF-4A45-8EBA-75F1BF4403A2}"/>
              </a:ext>
            </a:extLst>
          </p:cNvPr>
          <p:cNvSpPr>
            <a:spLocks xmlns:a="http://schemas.openxmlformats.org/drawingml/2006/main" noGrp="1"/>
          </p:cNvSpPr>
          <p:nvPr/>
        </p:nvSpPr>
        <p:spPr>
          <a:xfrm xmlns:a="http://schemas.openxmlformats.org/drawingml/2006/main">
            <a:off x="5010150" y="4791075"/>
            <a:ext cx="2019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00" b="0">
                <a:solidFill>
                  <a:srgbClr val="192B36"/>
                </a:solidFill>
                <a:latin typeface="Helvetica Neue"/>
                <a:ea typeface="Helvetica Neue"/>
                <a:cs typeface="Helvetica Neue"/>
              </a:defRPr>
            </a:pPr>
            <a:r>
              <a:rPr sz="1500" b="0">
                <a:solidFill>
                  <a:srgbClr val="192B36"/>
                </a:solidFill>
                <a:latin typeface="Helvetica Neue"/>
                <a:ea typeface="Helvetica Neue"/>
                <a:cs typeface="Helvetica Neue"/>
              </a:rPr>
              <a:t>Similarity of the full query and full candidate.</a:t>
            </a:r>
          </a:p>
        </p:txBody>
      </p:sp>
      <p:sp>
        <p:nvSpPr>
          <p:cNvPr id="32" name="">
            <a:extLst xmlns:a="http://schemas.openxmlformats.org/drawingml/2006/main">
              <a:ext uri="{FF2B5EF4-FFF2-40B4-BE49-F238E27FC236}">
                <a16:creationId xmlns:a16="http://schemas.microsoft.com/office/drawing/2014/main" id="{A13D6A18-7330-451F-BA5A-A02B0505D73D}"/>
              </a:ext>
            </a:extLst>
          </p:cNvPr>
          <p:cNvSpPr>
            <a:spLocks xmlns:a="http://schemas.openxmlformats.org/drawingml/2006/main" noGrp="1"/>
          </p:cNvSpPr>
          <p:nvPr/>
        </p:nvSpPr>
        <p:spPr>
          <a:xfrm xmlns:a="http://schemas.openxmlformats.org/drawingml/2006/main">
            <a:off x="7172325" y="4476750"/>
            <a:ext cx="2019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425" b="1">
                <a:solidFill>
                  <a:srgbClr val="087F8C"/>
                </a:solidFill>
                <a:latin typeface="Helvetica Neue"/>
                <a:ea typeface="Helvetica Neue"/>
                <a:cs typeface="Helvetica Neue"/>
              </a:defRPr>
            </a:pPr>
            <a:r>
              <a:rPr sz="1425" b="1">
                <a:solidFill>
                  <a:srgbClr val="087F8C"/>
                </a:solidFill>
                <a:latin typeface="Helvetica Neue"/>
                <a:ea typeface="Helvetica Neue"/>
                <a:cs typeface="Helvetica Neue"/>
              </a:rPr>
              <a:t>Local score</a:t>
            </a:r>
          </a:p>
        </p:txBody>
      </p:sp>
      <p:sp>
        <p:nvSpPr>
          <p:cNvPr id="33" name="">
            <a:extLst xmlns:a="http://schemas.openxmlformats.org/drawingml/2006/main">
              <a:ext uri="{FF2B5EF4-FFF2-40B4-BE49-F238E27FC236}">
                <a16:creationId xmlns:a16="http://schemas.microsoft.com/office/drawing/2014/main" id="{67D6C5A0-05EB-4795-B10B-D7EFBFC0C9A7}"/>
              </a:ext>
            </a:extLst>
          </p:cNvPr>
          <p:cNvSpPr>
            <a:spLocks xmlns:a="http://schemas.openxmlformats.org/drawingml/2006/main" noGrp="1"/>
          </p:cNvSpPr>
          <p:nvPr/>
        </p:nvSpPr>
        <p:spPr>
          <a:xfrm xmlns:a="http://schemas.openxmlformats.org/drawingml/2006/main">
            <a:off x="7172325" y="4791075"/>
            <a:ext cx="2019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00" b="0">
                <a:solidFill>
                  <a:srgbClr val="192B36"/>
                </a:solidFill>
                <a:latin typeface="Helvetica Neue"/>
                <a:ea typeface="Helvetica Neue"/>
                <a:cs typeface="Helvetica Neue"/>
              </a:defRPr>
            </a:pPr>
            <a:r>
              <a:rPr sz="1500" b="0">
                <a:solidFill>
                  <a:srgbClr val="192B36"/>
                </a:solidFill>
                <a:latin typeface="Helvetica Neue"/>
                <a:ea typeface="Helvetica Neue"/>
                <a:cs typeface="Helvetica Neue"/>
              </a:rPr>
              <a:t>Best matching local regions, summarized.</a:t>
            </a:r>
          </a:p>
        </p:txBody>
      </p:sp>
      <p:sp>
        <p:nvSpPr>
          <p:cNvPr id="34" name="">
            <a:extLst xmlns:a="http://schemas.openxmlformats.org/drawingml/2006/main">
              <a:ext uri="{FF2B5EF4-FFF2-40B4-BE49-F238E27FC236}">
                <a16:creationId xmlns:a16="http://schemas.microsoft.com/office/drawing/2014/main" id="{1FE1D3B5-D1A1-4CA3-924D-B0207CB3D073}"/>
              </a:ext>
            </a:extLst>
          </p:cNvPr>
          <p:cNvSpPr>
            <a:spLocks xmlns:a="http://schemas.openxmlformats.org/drawingml/2006/main" noGrp="1"/>
          </p:cNvSpPr>
          <p:nvPr/>
        </p:nvSpPr>
        <p:spPr>
          <a:xfrm xmlns:a="http://schemas.openxmlformats.org/drawingml/2006/main">
            <a:off x="9334500" y="4476750"/>
            <a:ext cx="2019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425" b="1">
                <a:solidFill>
                  <a:srgbClr val="087F8C"/>
                </a:solidFill>
                <a:latin typeface="Helvetica Neue"/>
                <a:ea typeface="Helvetica Neue"/>
                <a:cs typeface="Helvetica Neue"/>
              </a:defRPr>
            </a:pPr>
            <a:r>
              <a:rPr sz="1425" b="1">
                <a:solidFill>
                  <a:srgbClr val="087F8C"/>
                </a:solidFill>
                <a:latin typeface="Helvetica Neue"/>
                <a:ea typeface="Helvetica Neue"/>
                <a:cs typeface="Helvetica Neue"/>
              </a:rPr>
              <a:t>Rank</a:t>
            </a:r>
          </a:p>
        </p:txBody>
      </p:sp>
      <p:sp>
        <p:nvSpPr>
          <p:cNvPr id="35" name="">
            <a:extLst xmlns:a="http://schemas.openxmlformats.org/drawingml/2006/main">
              <a:ext uri="{FF2B5EF4-FFF2-40B4-BE49-F238E27FC236}">
                <a16:creationId xmlns:a16="http://schemas.microsoft.com/office/drawing/2014/main" id="{03D456D5-BF82-4BF0-BF16-3054D7DA5A2C}"/>
              </a:ext>
            </a:extLst>
          </p:cNvPr>
          <p:cNvSpPr>
            <a:spLocks xmlns:a="http://schemas.openxmlformats.org/drawingml/2006/main" noGrp="1"/>
          </p:cNvSpPr>
          <p:nvPr/>
        </p:nvSpPr>
        <p:spPr>
          <a:xfrm xmlns:a="http://schemas.openxmlformats.org/drawingml/2006/main">
            <a:off x="9334500" y="4791075"/>
            <a:ext cx="2019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00" b="0">
                <a:solidFill>
                  <a:srgbClr val="192B36"/>
                </a:solidFill>
                <a:latin typeface="Helvetica Neue"/>
                <a:ea typeface="Helvetica Neue"/>
                <a:cs typeface="Helvetica Neue"/>
              </a:defRPr>
            </a:pPr>
            <a:r>
              <a:rPr sz="1500" b="0">
                <a:solidFill>
                  <a:srgbClr val="192B36"/>
                </a:solidFill>
                <a:latin typeface="Helvetica Neue"/>
                <a:ea typeface="Helvetica Neue"/>
                <a:cs typeface="Helvetica Neue"/>
              </a:rPr>
              <a:t>The candidate’s position after sorting scores.</a:t>
            </a:r>
          </a:p>
        </p:txBody>
      </p:sp>
      <p:sp>
        <p:nvSpPr>
          <p:cNvPr id="36" name="">
            <a:extLst xmlns:a="http://schemas.openxmlformats.org/drawingml/2006/main">
              <a:ext uri="{FF2B5EF4-FFF2-40B4-BE49-F238E27FC236}">
                <a16:creationId xmlns:a16="http://schemas.microsoft.com/office/drawing/2014/main" id="{489FEBE1-71C2-4014-B9C8-2D490B820F68}"/>
              </a:ext>
            </a:extLst>
          </p:cNvPr>
          <p:cNvSpPr>
            <a:spLocks xmlns:a="http://schemas.openxmlformats.org/drawingml/2006/main" noGrp="1"/>
          </p:cNvSpPr>
          <p:nvPr/>
        </p:nvSpPr>
        <p:spPr>
          <a:xfrm xmlns:a="http://schemas.openxmlformats.org/drawingml/2006/main">
            <a:off x="685800" y="58388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00" b="1">
                <a:solidFill>
                  <a:srgbClr val="142B3B"/>
                </a:solidFill>
                <a:latin typeface="Helvetica Neue"/>
                <a:ea typeface="Helvetica Neue"/>
                <a:cs typeface="Helvetica Neue"/>
              </a:defRPr>
            </a:pPr>
            <a:r>
              <a:rPr sz="1500" b="1">
                <a:solidFill>
                  <a:srgbClr val="142B3B"/>
                </a:solidFill>
                <a:latin typeface="Helvetica Neue"/>
                <a:ea typeface="Helvetica Neue"/>
                <a:cs typeface="Helvetica Neue"/>
              </a:rPr>
              <a:t>The retriever is the whole process. SSCD weights stay frozen; only the small fusion network is trained.</a:t>
            </a:r>
          </a:p>
        </p:txBody>
      </p:sp>
    </p:spTree>
    <p:extLst>
      <p:ext uri="{BB962C8B-B14F-4D97-AF65-F5344CB8AC3E}">
        <p14:creationId xmlns:p14="http://schemas.microsoft.com/office/powerpoint/2010/main" val="1278100041"/>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1FA46F7-C4F9-4E57-BF65-B9A275DFFD43}"/>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714CF3-079B-4AD9-8E96-E5EBFFC42274}"/>
              </a:ext>
            </a:extLst>
          </p:cNvPr>
          <p:cNvSpPr>
            <a:spLocks xmlns:a="http://schemas.openxmlformats.org/drawingml/2006/main" noGrp="1"/>
          </p:cNvSpPr>
          <p:nvPr/>
        </p:nvSpPr>
        <p:spPr>
          <a:xfrm xmlns:a="http://schemas.openxmlformats.org/drawingml/2006/main">
            <a:off x="685800" y="3238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125" b="1">
                <a:solidFill>
                  <a:srgbClr val="087F8C"/>
                </a:solidFill>
                <a:latin typeface="Helvetica Neue"/>
                <a:ea typeface="Helvetica Neue"/>
                <a:cs typeface="Helvetica Neue"/>
              </a:defRPr>
            </a:pPr>
            <a:r>
              <a:rPr sz="1125" b="1">
                <a:solidFill>
                  <a:srgbClr val="087F8C"/>
                </a:solidFill>
                <a:latin typeface="Helvetica Neue"/>
                <a:ea typeface="Helvetica Neue"/>
                <a:cs typeface="Helvetica Neue"/>
              </a:rPr>
              <a:t>METHODOLOGY</a:t>
            </a:r>
          </a:p>
        </p:txBody>
      </p:sp>
      <p:sp>
        <p:nvSpPr>
          <p:cNvPr id="3" name="">
            <a:extLst xmlns:a="http://schemas.openxmlformats.org/drawingml/2006/main">
              <a:ext uri="{FF2B5EF4-FFF2-40B4-BE49-F238E27FC236}">
                <a16:creationId xmlns:a16="http://schemas.microsoft.com/office/drawing/2014/main" id="{359A0295-D867-401D-A85E-6D5A78B4DA3B}"/>
              </a:ext>
            </a:extLst>
          </p:cNvPr>
          <p:cNvSpPr>
            <a:spLocks xmlns:a="http://schemas.openxmlformats.org/drawingml/2006/main" noGrp="1"/>
          </p:cNvSpPr>
          <p:nvPr/>
        </p:nvSpPr>
        <p:spPr>
          <a:xfrm xmlns:a="http://schemas.openxmlformats.org/drawingml/2006/main">
            <a:off x="685800" y="6000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2925" b="1">
                <a:solidFill>
                  <a:srgbClr val="142B3B"/>
                </a:solidFill>
                <a:latin typeface="Helvetica Neue"/>
                <a:ea typeface="Helvetica Neue"/>
                <a:cs typeface="Helvetica Neue"/>
              </a:defRPr>
            </a:pPr>
            <a:r>
              <a:rPr sz="2925" b="1">
                <a:solidFill>
                  <a:srgbClr val="142B3B"/>
                </a:solidFill>
                <a:latin typeface="Helvetica Neue"/>
                <a:ea typeface="Helvetica Neue"/>
                <a:cs typeface="Helvetica Neue"/>
              </a:rPr>
              <a:t>Training and test-time use</a:t>
            </a:r>
          </a:p>
        </p:txBody>
      </p:sp>
      <p:sp>
        <p:nvSpPr>
          <p:cNvPr id="4" name="">
            <a:extLst xmlns:a="http://schemas.openxmlformats.org/drawingml/2006/main">
              <a:ext uri="{FF2B5EF4-FFF2-40B4-BE49-F238E27FC236}">
                <a16:creationId xmlns:a16="http://schemas.microsoft.com/office/drawing/2014/main" id="{93EB82F6-C573-4BA8-A612-5DE72EB7A951}"/>
              </a:ext>
            </a:extLst>
          </p:cNvPr>
          <p:cNvSpPr>
            <a:spLocks xmlns:a="http://schemas.openxmlformats.org/drawingml/2006/main" noGrp="1"/>
          </p:cNvSpPr>
          <p:nvPr/>
        </p:nvSpPr>
        <p:spPr>
          <a:xfrm xmlns:a="http://schemas.openxmlformats.org/drawingml/2006/main">
            <a:off x="685800" y="1266825"/>
            <a:ext cx="10820400" cy="0"/>
          </a:xfrm>
          <a:prstGeom xmlns:a="http://schemas.openxmlformats.org/drawingml/2006/main" prst="line">
            <a:avLst/>
          </a:prstGeom>
          <a:noFill xmlns:a="http://schemas.openxmlformats.org/drawingml/2006/main"/>
          <a:ln xmlns:a="http://schemas.openxmlformats.org/drawingml/2006/main" w="12383">
            <a:solidFill>
              <a:srgbClr val="C9D5DA"/>
            </a:solidFill>
          </a:ln>
        </p:spPr>
      </p:sp>
      <p:sp>
        <p:nvSpPr>
          <p:cNvPr id="5" name="">
            <a:extLst xmlns:a="http://schemas.openxmlformats.org/drawingml/2006/main">
              <a:ext uri="{FF2B5EF4-FFF2-40B4-BE49-F238E27FC236}">
                <a16:creationId xmlns:a16="http://schemas.microsoft.com/office/drawing/2014/main" id="{3C4DB8AD-F4D4-4AC2-90CE-4FEB1E39FB90}"/>
              </a:ext>
            </a:extLst>
          </p:cNvPr>
          <p:cNvSpPr>
            <a:spLocks xmlns:a="http://schemas.openxmlformats.org/drawingml/2006/main" noGrp="1"/>
          </p:cNvSpPr>
          <p:nvPr/>
        </p:nvSpPr>
        <p:spPr>
          <a:xfrm xmlns:a="http://schemas.openxmlformats.org/drawingml/2006/main">
            <a:off x="685800" y="65151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125" b="0">
                <a:solidFill>
                  <a:srgbClr val="52636D"/>
                </a:solidFill>
                <a:latin typeface="Helvetica Neue"/>
                <a:ea typeface="Helvetica Neue"/>
                <a:cs typeface="Helvetica Neue"/>
              </a:defRPr>
            </a:pPr>
            <a:r>
              <a:rPr sz="1125" b="0">
                <a:solidFill>
                  <a:srgbClr val="52636D"/>
                </a:solidFill>
                <a:latin typeface="Helvetica Neue"/>
                <a:ea typeface="Helvetica Neue"/>
                <a:cs typeface="Helvetica Neue"/>
              </a:rPr>
              <a:t>M.Tech CSE • Image source retrieval</a:t>
            </a:r>
          </a:p>
        </p:txBody>
      </p:sp>
      <p:sp>
        <p:nvSpPr>
          <p:cNvPr id="6" name="">
            <a:extLst xmlns:a="http://schemas.openxmlformats.org/drawingml/2006/main">
              <a:ext uri="{FF2B5EF4-FFF2-40B4-BE49-F238E27FC236}">
                <a16:creationId xmlns:a16="http://schemas.microsoft.com/office/drawing/2014/main" id="{773606D8-D95A-44A6-B2AA-99625F49983D}"/>
              </a:ext>
            </a:extLst>
          </p:cNvPr>
          <p:cNvSpPr>
            <a:spLocks xmlns:a="http://schemas.openxmlformats.org/drawingml/2006/main" noGrp="1"/>
          </p:cNvSpPr>
          <p:nvPr/>
        </p:nvSpPr>
        <p:spPr>
          <a:xfrm xmlns:a="http://schemas.openxmlformats.org/drawingml/2006/main">
            <a:off x="11087100" y="64960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r">
              <a:defRPr sz="1125" b="0">
                <a:solidFill>
                  <a:srgbClr val="52636D"/>
                </a:solidFill>
                <a:latin typeface="Helvetica Neue"/>
                <a:ea typeface="Helvetica Neue"/>
                <a:cs typeface="Helvetica Neue"/>
              </a:defRPr>
            </a:pPr>
            <a:r>
              <a:rPr sz="1125" b="0">
                <a:solidFill>
                  <a:srgbClr val="52636D"/>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EE24C95D-4213-4A2C-8DAD-45502B725B6A}"/>
              </a:ext>
            </a:extLst>
          </p:cNvPr>
          <p:cNvSpPr>
            <a:spLocks xmlns:a="http://schemas.openxmlformats.org/drawingml/2006/main" noGrp="1"/>
          </p:cNvSpPr>
          <p:nvPr/>
        </p:nvSpPr>
        <p:spPr>
          <a:xfrm xmlns:a="http://schemas.openxmlformats.org/drawingml/2006/main">
            <a:off x="685800" y="1676400"/>
            <a:ext cx="404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3333"/>
          </a:bodyPr>
          <a:lstStyle xmlns:a="http://schemas.openxmlformats.org/drawingml/2006/main"/>
          <a:p xmlns:a="http://schemas.openxmlformats.org/drawingml/2006/main">
            <a:pPr algn="l">
              <a:defRPr sz="1875" b="1">
                <a:solidFill>
                  <a:srgbClr val="142B3B"/>
                </a:solidFill>
                <a:latin typeface="Helvetica Neue"/>
                <a:ea typeface="Helvetica Neue"/>
                <a:cs typeface="Helvetica Neue"/>
              </a:defRPr>
            </a:pPr>
            <a:r>
              <a:rPr sz="1875" b="1">
                <a:solidFill>
                  <a:srgbClr val="142B3B"/>
                </a:solidFill>
                <a:latin typeface="Helvetica Neue"/>
                <a:ea typeface="Helvetica Neue"/>
                <a:cs typeface="Helvetica Neue"/>
              </a:rPr>
              <a:t>Training comparison</a:t>
            </a:r>
          </a:p>
        </p:txBody>
      </p:sp>
      <p:sp>
        <p:nvSpPr>
          <p:cNvPr id="8" name="">
            <a:extLst xmlns:a="http://schemas.openxmlformats.org/drawingml/2006/main">
              <a:ext uri="{FF2B5EF4-FFF2-40B4-BE49-F238E27FC236}">
                <a16:creationId xmlns:a16="http://schemas.microsoft.com/office/drawing/2014/main" id="{B3930DFA-AF32-45D4-B222-00F2426E39AE}"/>
              </a:ext>
            </a:extLst>
          </p:cNvPr>
          <p:cNvSpPr>
            <a:spLocks xmlns:a="http://schemas.openxmlformats.org/drawingml/2006/main" noGrp="1"/>
          </p:cNvSpPr>
          <p:nvPr/>
        </p:nvSpPr>
        <p:spPr>
          <a:xfrm xmlns:a="http://schemas.openxmlformats.org/drawingml/2006/main">
            <a:off x="685800" y="2066925"/>
            <a:ext cx="4495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725" b="0">
                <a:solidFill>
                  <a:srgbClr val="192B36"/>
                </a:solidFill>
                <a:latin typeface="Helvetica Neue"/>
                <a:ea typeface="Helvetica Neue"/>
                <a:cs typeface="Helvetica Neue"/>
              </a:defRPr>
            </a:pPr>
            <a:r>
              <a:rPr sz="1725" b="0">
                <a:solidFill>
                  <a:srgbClr val="192B36"/>
                </a:solidFill>
                <a:latin typeface="Helvetica Neue"/>
                <a:ea typeface="Helvetica Neue"/>
                <a:cs typeface="Helvetica Neue"/>
              </a:rPr>
              <a:t>Same 65-parameter fusion network; change only the examples used for training.</a:t>
            </a:r>
          </a:p>
        </p:txBody>
      </p:sp>
      <p:sp>
        <p:nvSpPr>
          <p:cNvPr id="9" name="">
            <a:extLst xmlns:a="http://schemas.openxmlformats.org/drawingml/2006/main">
              <a:ext uri="{FF2B5EF4-FFF2-40B4-BE49-F238E27FC236}">
                <a16:creationId xmlns:a16="http://schemas.microsoft.com/office/drawing/2014/main" id="{459C9A7E-30C3-4A11-8A2E-2A37C06DCCFF}"/>
              </a:ext>
            </a:extLst>
          </p:cNvPr>
          <p:cNvSpPr>
            <a:spLocks xmlns:a="http://schemas.openxmlformats.org/drawingml/2006/main" noGrp="1"/>
          </p:cNvSpPr>
          <p:nvPr/>
        </p:nvSpPr>
        <p:spPr>
          <a:xfrm xmlns:a="http://schemas.openxmlformats.org/drawingml/2006/main">
            <a:off x="5753100" y="1714500"/>
            <a:ext cx="0" cy="3524250"/>
          </a:xfrm>
          <a:prstGeom xmlns:a="http://schemas.openxmlformats.org/drawingml/2006/main" prst="line">
            <a:avLst/>
          </a:prstGeom>
          <a:noFill xmlns:a="http://schemas.openxmlformats.org/drawingml/2006/main"/>
          <a:ln xmlns:a="http://schemas.openxmlformats.org/drawingml/2006/main" w="19050">
            <a:solidFill>
              <a:srgbClr val="C9D5DA"/>
            </a:solidFill>
          </a:ln>
        </p:spPr>
      </p:sp>
      <p:sp>
        <p:nvSpPr>
          <p:cNvPr id="10" name="">
            <a:extLst xmlns:a="http://schemas.openxmlformats.org/drawingml/2006/main">
              <a:ext uri="{FF2B5EF4-FFF2-40B4-BE49-F238E27FC236}">
                <a16:creationId xmlns:a16="http://schemas.microsoft.com/office/drawing/2014/main" id="{FF389132-F29C-4B4C-A84B-8F4D23C88AFA}"/>
              </a:ext>
            </a:extLst>
          </p:cNvPr>
          <p:cNvSpPr>
            <a:spLocks xmlns:a="http://schemas.openxmlformats.org/drawingml/2006/main" noGrp="1"/>
          </p:cNvSpPr>
          <p:nvPr/>
        </p:nvSpPr>
        <p:spPr>
          <a:xfrm xmlns:a="http://schemas.openxmlformats.org/drawingml/2006/main">
            <a:off x="6286500" y="1695450"/>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725" b="1">
                <a:solidFill>
                  <a:srgbClr val="087F8C"/>
                </a:solidFill>
                <a:latin typeface="Helvetica Neue"/>
                <a:ea typeface="Helvetica Neue"/>
                <a:cs typeface="Helvetica Neue"/>
              </a:defRPr>
            </a:pPr>
            <a:r>
              <a:rPr sz="1725" b="1">
                <a:solidFill>
                  <a:srgbClr val="087F8C"/>
                </a:solidFill>
                <a:latin typeface="Helvetica Neue"/>
                <a:ea typeface="Helvetica Neue"/>
                <a:cs typeface="Helvetica Neue"/>
              </a:rPr>
              <a:t>First-edit training</a:t>
            </a:r>
          </a:p>
        </p:txBody>
      </p:sp>
      <p:sp>
        <p:nvSpPr>
          <p:cNvPr id="11" name="">
            <a:extLst xmlns:a="http://schemas.openxmlformats.org/drawingml/2006/main">
              <a:ext uri="{FF2B5EF4-FFF2-40B4-BE49-F238E27FC236}">
                <a16:creationId xmlns:a16="http://schemas.microsoft.com/office/drawing/2014/main" id="{9E7F6B79-594F-485B-9500-F455AC08077B}"/>
              </a:ext>
            </a:extLst>
          </p:cNvPr>
          <p:cNvSpPr>
            <a:spLocks xmlns:a="http://schemas.openxmlformats.org/drawingml/2006/main" noGrp="1"/>
          </p:cNvSpPr>
          <p:nvPr/>
        </p:nvSpPr>
        <p:spPr>
          <a:xfrm xmlns:a="http://schemas.openxmlformats.org/drawingml/2006/main">
            <a:off x="6286500" y="217170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875" b="0">
                <a:solidFill>
                  <a:srgbClr val="192B36"/>
                </a:solidFill>
                <a:latin typeface="Helvetica Neue"/>
                <a:ea typeface="Helvetica Neue"/>
                <a:cs typeface="Helvetica Neue"/>
              </a:defRPr>
            </a:pPr>
            <a:r>
              <a:rPr sz="1875" b="0">
                <a:solidFill>
                  <a:srgbClr val="192B36"/>
                </a:solidFill>
                <a:latin typeface="Helvetica Neue"/>
                <a:ea typeface="Helvetica Neue"/>
                <a:cs typeface="Helvetica Neue"/>
              </a:rPr>
              <a:t>Original → edit 1</a:t>
            </a:r>
          </a:p>
        </p:txBody>
      </p:sp>
      <p:sp>
        <p:nvSpPr>
          <p:cNvPr id="12" name="">
            <a:extLst xmlns:a="http://schemas.openxmlformats.org/drawingml/2006/main">
              <a:ext uri="{FF2B5EF4-FFF2-40B4-BE49-F238E27FC236}">
                <a16:creationId xmlns:a16="http://schemas.microsoft.com/office/drawing/2014/main" id="{26E4CA5D-89C9-4B09-9A6C-2A7E63604835}"/>
              </a:ext>
            </a:extLst>
          </p:cNvPr>
          <p:cNvSpPr>
            <a:spLocks xmlns:a="http://schemas.openxmlformats.org/drawingml/2006/main" noGrp="1"/>
          </p:cNvSpPr>
          <p:nvPr/>
        </p:nvSpPr>
        <p:spPr>
          <a:xfrm xmlns:a="http://schemas.openxmlformats.org/drawingml/2006/main">
            <a:off x="6286500" y="2667000"/>
            <a:ext cx="2333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92B36"/>
                </a:solidFill>
                <a:latin typeface="Helvetica Neue"/>
                <a:ea typeface="Helvetica Neue"/>
                <a:cs typeface="Helvetica Neue"/>
              </a:defRPr>
            </a:pPr>
            <a:r>
              <a:rPr sz="1650" b="0">
                <a:solidFill>
                  <a:srgbClr val="192B36"/>
                </a:solidFill>
                <a:latin typeface="Helvetica Neue"/>
                <a:ea typeface="Helvetica Neue"/>
                <a:cs typeface="Helvetica Neue"/>
              </a:rPr>
              <a:t>The network learns from the first edit in each training session.</a:t>
            </a:r>
          </a:p>
        </p:txBody>
      </p:sp>
      <p:sp>
        <p:nvSpPr>
          <p:cNvPr id="13" name="">
            <a:extLst xmlns:a="http://schemas.openxmlformats.org/drawingml/2006/main">
              <a:ext uri="{FF2B5EF4-FFF2-40B4-BE49-F238E27FC236}">
                <a16:creationId xmlns:a16="http://schemas.microsoft.com/office/drawing/2014/main" id="{C4B2F319-0535-4068-93A4-40D2C12D14D9}"/>
              </a:ext>
            </a:extLst>
          </p:cNvPr>
          <p:cNvSpPr>
            <a:spLocks xmlns:a="http://schemas.openxmlformats.org/drawingml/2006/main" noGrp="1"/>
          </p:cNvSpPr>
          <p:nvPr/>
        </p:nvSpPr>
        <p:spPr>
          <a:xfrm xmlns:a="http://schemas.openxmlformats.org/drawingml/2006/main">
            <a:off x="9020175" y="16954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725" b="1">
                <a:solidFill>
                  <a:srgbClr val="087F8C"/>
                </a:solidFill>
                <a:latin typeface="Helvetica Neue"/>
                <a:ea typeface="Helvetica Neue"/>
                <a:cs typeface="Helvetica Neue"/>
              </a:defRPr>
            </a:pPr>
            <a:r>
              <a:rPr sz="1725" b="1">
                <a:solidFill>
                  <a:srgbClr val="087F8C"/>
                </a:solidFill>
                <a:latin typeface="Helvetica Neue"/>
                <a:ea typeface="Helvetica Neue"/>
                <a:cs typeface="Helvetica Neue"/>
              </a:rPr>
              <a:t>Multi-stage training</a:t>
            </a:r>
          </a:p>
        </p:txBody>
      </p:sp>
      <p:sp>
        <p:nvSpPr>
          <p:cNvPr id="14" name="">
            <a:extLst xmlns:a="http://schemas.openxmlformats.org/drawingml/2006/main">
              <a:ext uri="{FF2B5EF4-FFF2-40B4-BE49-F238E27FC236}">
                <a16:creationId xmlns:a16="http://schemas.microsoft.com/office/drawing/2014/main" id="{F83F5B9C-B8CF-4BC1-A673-027004A312D2}"/>
              </a:ext>
            </a:extLst>
          </p:cNvPr>
          <p:cNvSpPr>
            <a:spLocks xmlns:a="http://schemas.openxmlformats.org/drawingml/2006/main" noGrp="1"/>
          </p:cNvSpPr>
          <p:nvPr/>
        </p:nvSpPr>
        <p:spPr>
          <a:xfrm xmlns:a="http://schemas.openxmlformats.org/drawingml/2006/main">
            <a:off x="9020175" y="2171700"/>
            <a:ext cx="247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92B36"/>
                </a:solidFill>
                <a:latin typeface="Helvetica Neue"/>
                <a:ea typeface="Helvetica Neue"/>
                <a:cs typeface="Helvetica Neue"/>
              </a:defRPr>
            </a:pPr>
            <a:r>
              <a:rPr sz="1650" b="0">
                <a:solidFill>
                  <a:srgbClr val="192B36"/>
                </a:solidFill>
                <a:latin typeface="Helvetica Neue"/>
                <a:ea typeface="Helvetica Neue"/>
                <a:cs typeface="Helvetica Neue"/>
              </a:rPr>
              <a:t>Original → edit 1 → edit 2 → edit 3</a:t>
            </a:r>
          </a:p>
        </p:txBody>
      </p:sp>
      <p:sp>
        <p:nvSpPr>
          <p:cNvPr id="15" name="">
            <a:extLst xmlns:a="http://schemas.openxmlformats.org/drawingml/2006/main">
              <a:ext uri="{FF2B5EF4-FFF2-40B4-BE49-F238E27FC236}">
                <a16:creationId xmlns:a16="http://schemas.microsoft.com/office/drawing/2014/main" id="{4738A0CB-C8DA-40D7-9348-8C7DD41880BE}"/>
              </a:ext>
            </a:extLst>
          </p:cNvPr>
          <p:cNvSpPr>
            <a:spLocks xmlns:a="http://schemas.openxmlformats.org/drawingml/2006/main" noGrp="1"/>
          </p:cNvSpPr>
          <p:nvPr/>
        </p:nvSpPr>
        <p:spPr>
          <a:xfrm xmlns:a="http://schemas.openxmlformats.org/drawingml/2006/main">
            <a:off x="9020175" y="2905125"/>
            <a:ext cx="2343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7479"/>
          </a:bodyPr>
          <a:lstStyle xmlns:a="http://schemas.openxmlformats.org/drawingml/2006/main"/>
          <a:p xmlns:a="http://schemas.openxmlformats.org/drawingml/2006/main">
            <a:pPr algn="l">
              <a:defRPr sz="1650" b="0">
                <a:solidFill>
                  <a:srgbClr val="192B36"/>
                </a:solidFill>
                <a:latin typeface="Helvetica Neue"/>
                <a:ea typeface="Helvetica Neue"/>
                <a:cs typeface="Helvetica Neue"/>
              </a:defRPr>
            </a:pPr>
            <a:r>
              <a:rPr sz="1650" b="0">
                <a:solidFill>
                  <a:srgbClr val="192B36"/>
                </a:solidFill>
                <a:latin typeface="Helvetica Neue"/>
                <a:ea typeface="Helvetica Neue"/>
                <a:cs typeface="Helvetica Neue"/>
              </a:rPr>
              <a:t>At each stage, train it to rank the first original above wrong candidates.</a:t>
            </a:r>
          </a:p>
        </p:txBody>
      </p:sp>
      <p:sp>
        <p:nvSpPr>
          <p:cNvPr id="16" name="">
            <a:extLst xmlns:a="http://schemas.openxmlformats.org/drawingml/2006/main">
              <a:ext uri="{FF2B5EF4-FFF2-40B4-BE49-F238E27FC236}">
                <a16:creationId xmlns:a16="http://schemas.microsoft.com/office/drawing/2014/main" id="{15EC1E59-229E-4B93-B9BE-56904876CC20}"/>
              </a:ext>
            </a:extLst>
          </p:cNvPr>
          <p:cNvSpPr>
            <a:spLocks xmlns:a="http://schemas.openxmlformats.org/drawingml/2006/main" noGrp="1"/>
          </p:cNvSpPr>
          <p:nvPr/>
        </p:nvSpPr>
        <p:spPr>
          <a:xfrm xmlns:a="http://schemas.openxmlformats.org/drawingml/2006/main">
            <a:off x="685800" y="4038600"/>
            <a:ext cx="10820400" cy="0"/>
          </a:xfrm>
          <a:prstGeom xmlns:a="http://schemas.openxmlformats.org/drawingml/2006/main" prst="line">
            <a:avLst/>
          </a:prstGeom>
          <a:noFill xmlns:a="http://schemas.openxmlformats.org/drawingml/2006/main"/>
          <a:ln xmlns:a="http://schemas.openxmlformats.org/drawingml/2006/main" w="14288">
            <a:solidFill>
              <a:srgbClr val="C9D5DA"/>
            </a:solidFill>
          </a:ln>
        </p:spPr>
      </p:sp>
      <p:sp>
        <p:nvSpPr>
          <p:cNvPr id="17" name="">
            <a:extLst xmlns:a="http://schemas.openxmlformats.org/drawingml/2006/main">
              <a:ext uri="{FF2B5EF4-FFF2-40B4-BE49-F238E27FC236}">
                <a16:creationId xmlns:a16="http://schemas.microsoft.com/office/drawing/2014/main" id="{917934F4-8483-4ED4-9F49-5E2D925DAFC1}"/>
              </a:ext>
            </a:extLst>
          </p:cNvPr>
          <p:cNvSpPr>
            <a:spLocks xmlns:a="http://schemas.openxmlformats.org/drawingml/2006/main" noGrp="1"/>
          </p:cNvSpPr>
          <p:nvPr/>
        </p:nvSpPr>
        <p:spPr>
          <a:xfrm xmlns:a="http://schemas.openxmlformats.org/drawingml/2006/main">
            <a:off x="685800" y="43624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7222"/>
          </a:bodyPr>
          <a:lstStyle xmlns:a="http://schemas.openxmlformats.org/drawingml/2006/main"/>
          <a:p xmlns:a="http://schemas.openxmlformats.org/drawingml/2006/main">
            <a:pPr algn="l">
              <a:defRPr sz="1800" b="1">
                <a:solidFill>
                  <a:srgbClr val="142B3B"/>
                </a:solidFill>
                <a:latin typeface="Helvetica Neue"/>
                <a:ea typeface="Helvetica Neue"/>
                <a:cs typeface="Helvetica Neue"/>
              </a:defRPr>
            </a:pPr>
            <a:r>
              <a:rPr sz="1800" b="1">
                <a:solidFill>
                  <a:srgbClr val="142B3B"/>
                </a:solidFill>
                <a:latin typeface="Helvetica Neue"/>
                <a:ea typeface="Helvetica Neue"/>
                <a:cs typeface="Helvetica Neue"/>
              </a:rPr>
              <a:t>At test time</a:t>
            </a:r>
          </a:p>
        </p:txBody>
      </p:sp>
      <p:sp>
        <p:nvSpPr>
          <p:cNvPr id="18" name="">
            <a:extLst xmlns:a="http://schemas.openxmlformats.org/drawingml/2006/main">
              <a:ext uri="{FF2B5EF4-FFF2-40B4-BE49-F238E27FC236}">
                <a16:creationId xmlns:a16="http://schemas.microsoft.com/office/drawing/2014/main" id="{9D106E32-82EA-4066-A173-FFAFE4665659}"/>
              </a:ext>
            </a:extLst>
          </p:cNvPr>
          <p:cNvSpPr>
            <a:spLocks xmlns:a="http://schemas.openxmlformats.org/drawingml/2006/main" noGrp="1"/>
          </p:cNvSpPr>
          <p:nvPr/>
        </p:nvSpPr>
        <p:spPr>
          <a:xfrm xmlns:a="http://schemas.openxmlformats.org/drawingml/2006/main">
            <a:off x="685800" y="4762500"/>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875" b="1">
                <a:solidFill>
                  <a:srgbClr val="192B36"/>
                </a:solidFill>
                <a:latin typeface="Helvetica Neue"/>
                <a:ea typeface="Helvetica Neue"/>
                <a:cs typeface="Helvetica Neue"/>
              </a:defRPr>
            </a:pPr>
            <a:r>
              <a:rPr sz="1875" b="1">
                <a:solidFill>
                  <a:srgbClr val="192B36"/>
                </a:solidFill>
                <a:latin typeface="Helvetica Neue"/>
                <a:ea typeface="Helvetica Neue"/>
                <a:cs typeface="Helvetica Neue"/>
              </a:rPr>
              <a:t>Input only: final edited image</a:t>
            </a:r>
          </a:p>
        </p:txBody>
      </p:sp>
      <p:sp>
        <p:nvSpPr>
          <p:cNvPr id="19" name="">
            <a:extLst xmlns:a="http://schemas.openxmlformats.org/drawingml/2006/main">
              <a:ext uri="{FF2B5EF4-FFF2-40B4-BE49-F238E27FC236}">
                <a16:creationId xmlns:a16="http://schemas.microsoft.com/office/drawing/2014/main" id="{BDE69576-1341-40ED-8F74-713425C380EE}"/>
              </a:ext>
            </a:extLst>
          </p:cNvPr>
          <p:cNvSpPr>
            <a:spLocks xmlns:a="http://schemas.openxmlformats.org/drawingml/2006/main" noGrp="1"/>
          </p:cNvSpPr>
          <p:nvPr/>
        </p:nvSpPr>
        <p:spPr>
          <a:xfrm xmlns:a="http://schemas.openxmlformats.org/drawingml/2006/main">
            <a:off x="685800" y="5191125"/>
            <a:ext cx="4238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75" b="0">
                <a:solidFill>
                  <a:srgbClr val="52636D"/>
                </a:solidFill>
                <a:latin typeface="Helvetica Neue"/>
                <a:ea typeface="Helvetica Neue"/>
                <a:cs typeface="Helvetica Neue"/>
              </a:defRPr>
            </a:pPr>
            <a:r>
              <a:rPr sz="1575" b="0">
                <a:solidFill>
                  <a:srgbClr val="52636D"/>
                </a:solidFill>
                <a:latin typeface="Helvetica Neue"/>
                <a:ea typeface="Helvetica Neue"/>
                <a:cs typeface="Helvetica Neue"/>
              </a:rPr>
              <a:t>No intermediate edits or edit instructions are given to the model.</a:t>
            </a:r>
          </a:p>
        </p:txBody>
      </p:sp>
      <p:sp>
        <p:nvSpPr>
          <p:cNvPr id="20" name="">
            <a:extLst xmlns:a="http://schemas.openxmlformats.org/drawingml/2006/main">
              <a:ext uri="{FF2B5EF4-FFF2-40B4-BE49-F238E27FC236}">
                <a16:creationId xmlns:a16="http://schemas.microsoft.com/office/drawing/2014/main" id="{19D78E16-322B-46FB-BE97-B02C4090CFA4}"/>
              </a:ext>
            </a:extLst>
          </p:cNvPr>
          <p:cNvSpPr>
            <a:spLocks xmlns:a="http://schemas.openxmlformats.org/drawingml/2006/main" noGrp="1"/>
          </p:cNvSpPr>
          <p:nvPr/>
        </p:nvSpPr>
        <p:spPr>
          <a:xfrm xmlns:a="http://schemas.openxmlformats.org/drawingml/2006/main">
            <a:off x="6048375" y="43624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7222"/>
          </a:bodyPr>
          <a:lstStyle xmlns:a="http://schemas.openxmlformats.org/drawingml/2006/main"/>
          <a:p xmlns:a="http://schemas.openxmlformats.org/drawingml/2006/main">
            <a:pPr algn="l">
              <a:defRPr sz="1800" b="1">
                <a:solidFill>
                  <a:srgbClr val="142B3B"/>
                </a:solidFill>
                <a:latin typeface="Helvetica Neue"/>
                <a:ea typeface="Helvetica Neue"/>
                <a:cs typeface="Helvetica Neue"/>
              </a:defRPr>
            </a:pPr>
            <a:r>
              <a:rPr sz="1800" b="1">
                <a:solidFill>
                  <a:srgbClr val="142B3B"/>
                </a:solidFill>
                <a:latin typeface="Helvetica Neue"/>
                <a:ea typeface="Helvetica Neue"/>
                <a:cs typeface="Helvetica Neue"/>
              </a:rPr>
              <a:t>Training objective</a:t>
            </a:r>
          </a:p>
        </p:txBody>
      </p:sp>
      <p:sp>
        <p:nvSpPr>
          <p:cNvPr id="21" name="">
            <a:extLst xmlns:a="http://schemas.openxmlformats.org/drawingml/2006/main">
              <a:ext uri="{FF2B5EF4-FFF2-40B4-BE49-F238E27FC236}">
                <a16:creationId xmlns:a16="http://schemas.microsoft.com/office/drawing/2014/main" id="{BA976E42-E487-4549-ADA9-7FDD7976CE65}"/>
              </a:ext>
            </a:extLst>
          </p:cNvPr>
          <p:cNvSpPr>
            <a:spLocks xmlns:a="http://schemas.openxmlformats.org/drawingml/2006/main" noGrp="1"/>
          </p:cNvSpPr>
          <p:nvPr/>
        </p:nvSpPr>
        <p:spPr>
          <a:xfrm xmlns:a="http://schemas.openxmlformats.org/drawingml/2006/main">
            <a:off x="6048375" y="47625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800" b="0">
                <a:solidFill>
                  <a:srgbClr val="192B36"/>
                </a:solidFill>
                <a:latin typeface="Helvetica Neue"/>
                <a:ea typeface="Helvetica Neue"/>
                <a:cs typeface="Helvetica Neue"/>
              </a:defRPr>
            </a:pPr>
            <a:r>
              <a:rPr sz="1800" b="0">
                <a:solidFill>
                  <a:srgbClr val="192B36"/>
                </a:solidFill>
                <a:latin typeface="Helvetica Neue"/>
                <a:ea typeface="Helvetica Neue"/>
                <a:cs typeface="Helvetica Neue"/>
              </a:rPr>
              <a:t>Among SSCD’s top 20 candidates, increase the correct source’s score so it ranks first.</a:t>
            </a:r>
          </a:p>
        </p:txBody>
      </p:sp>
      <p:sp>
        <p:nvSpPr>
          <p:cNvPr id="22" name="">
            <a:extLst xmlns:a="http://schemas.openxmlformats.org/drawingml/2006/main">
              <a:ext uri="{FF2B5EF4-FFF2-40B4-BE49-F238E27FC236}">
                <a16:creationId xmlns:a16="http://schemas.microsoft.com/office/drawing/2014/main" id="{177C7592-A6AB-4E70-A87C-92F0DC70BB09}"/>
              </a:ext>
            </a:extLst>
          </p:cNvPr>
          <p:cNvSpPr>
            <a:spLocks xmlns:a="http://schemas.openxmlformats.org/drawingml/2006/main" noGrp="1"/>
          </p:cNvSpPr>
          <p:nvPr/>
        </p:nvSpPr>
        <p:spPr>
          <a:xfrm xmlns:a="http://schemas.openxmlformats.org/drawingml/2006/main">
            <a:off x="6048375" y="576262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0608"/>
          </a:bodyPr>
          <a:lstStyle xmlns:a="http://schemas.openxmlformats.org/drawingml/2006/main"/>
          <a:p xmlns:a="http://schemas.openxmlformats.org/drawingml/2006/main">
            <a:pPr algn="l">
              <a:defRPr sz="1425" b="1">
                <a:solidFill>
                  <a:srgbClr val="A34738"/>
                </a:solidFill>
                <a:latin typeface="Helvetica Neue"/>
                <a:ea typeface="Helvetica Neue"/>
                <a:cs typeface="Helvetica Neue"/>
              </a:defRPr>
            </a:pPr>
            <a:r>
              <a:rPr sz="1425" b="1">
                <a:solidFill>
                  <a:srgbClr val="A34738"/>
                </a:solidFill>
                <a:latin typeface="Helvetica Neue"/>
                <a:ea typeface="Helvetica Neue"/>
                <a:cs typeface="Helvetica Neue"/>
              </a:rPr>
              <a:t>Measured multi-stage model tied with first-edit model; no gain yet.</a:t>
            </a:r>
          </a:p>
        </p:txBody>
      </p:sp>
    </p:spTree>
    <p:extLst>
      <p:ext uri="{BB962C8B-B14F-4D97-AF65-F5344CB8AC3E}">
        <p14:creationId xmlns:p14="http://schemas.microsoft.com/office/powerpoint/2010/main" val="1848296434"/>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94483F3F-E2D4-483E-B59B-3FEE0CBA591B}"/>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D63657-EBE1-4F0D-8CF8-CD19AE257D03}"/>
              </a:ext>
            </a:extLst>
          </p:cNvPr>
          <p:cNvSpPr>
            <a:spLocks xmlns:a="http://schemas.openxmlformats.org/drawingml/2006/main" noGrp="1"/>
          </p:cNvSpPr>
          <p:nvPr/>
        </p:nvSpPr>
        <p:spPr>
          <a:xfrm xmlns:a="http://schemas.openxmlformats.org/drawingml/2006/main">
            <a:off x="685800" y="3238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125" b="1">
                <a:solidFill>
                  <a:srgbClr val="087F8C"/>
                </a:solidFill>
                <a:latin typeface="Helvetica Neue"/>
                <a:ea typeface="Helvetica Neue"/>
                <a:cs typeface="Helvetica Neue"/>
              </a:defRPr>
            </a:pPr>
            <a:r>
              <a:rPr sz="1125" b="1">
                <a:solidFill>
                  <a:srgbClr val="087F8C"/>
                </a:solidFill>
                <a:latin typeface="Helvetica Neue"/>
                <a:ea typeface="Helvetica Neue"/>
                <a:cs typeface="Helvetica Neue"/>
              </a:rPr>
              <a:t>CURRENT EXPERIMENT</a:t>
            </a:r>
          </a:p>
        </p:txBody>
      </p:sp>
      <p:sp>
        <p:nvSpPr>
          <p:cNvPr id="3" name="">
            <a:extLst xmlns:a="http://schemas.openxmlformats.org/drawingml/2006/main">
              <a:ext uri="{FF2B5EF4-FFF2-40B4-BE49-F238E27FC236}">
                <a16:creationId xmlns:a16="http://schemas.microsoft.com/office/drawing/2014/main" id="{93A12313-51D3-4419-A496-B9F5AEB11D5A}"/>
              </a:ext>
            </a:extLst>
          </p:cNvPr>
          <p:cNvSpPr>
            <a:spLocks xmlns:a="http://schemas.openxmlformats.org/drawingml/2006/main" noGrp="1"/>
          </p:cNvSpPr>
          <p:nvPr/>
        </p:nvSpPr>
        <p:spPr>
          <a:xfrm xmlns:a="http://schemas.openxmlformats.org/drawingml/2006/main">
            <a:off x="685800" y="6000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2925" b="1">
                <a:solidFill>
                  <a:srgbClr val="142B3B"/>
                </a:solidFill>
                <a:latin typeface="Helvetica Neue"/>
                <a:ea typeface="Helvetica Neue"/>
                <a:cs typeface="Helvetica Neue"/>
              </a:defRPr>
            </a:pPr>
            <a:r>
              <a:rPr sz="2925" b="1">
                <a:solidFill>
                  <a:srgbClr val="142B3B"/>
                </a:solidFill>
                <a:latin typeface="Helvetica Neue"/>
                <a:ea typeface="Helvetica Neue"/>
                <a:cs typeface="Helvetica Neue"/>
              </a:rPr>
              <a:t>Measured results: fusion fixed one rank-1 miss</a:t>
            </a:r>
          </a:p>
        </p:txBody>
      </p:sp>
      <p:sp>
        <p:nvSpPr>
          <p:cNvPr id="4" name="">
            <a:extLst xmlns:a="http://schemas.openxmlformats.org/drawingml/2006/main">
              <a:ext uri="{FF2B5EF4-FFF2-40B4-BE49-F238E27FC236}">
                <a16:creationId xmlns:a16="http://schemas.microsoft.com/office/drawing/2014/main" id="{0D51CD8A-637B-4255-937C-A1DAC74868B9}"/>
              </a:ext>
            </a:extLst>
          </p:cNvPr>
          <p:cNvSpPr>
            <a:spLocks xmlns:a="http://schemas.openxmlformats.org/drawingml/2006/main" noGrp="1"/>
          </p:cNvSpPr>
          <p:nvPr/>
        </p:nvSpPr>
        <p:spPr>
          <a:xfrm xmlns:a="http://schemas.openxmlformats.org/drawingml/2006/main">
            <a:off x="685800" y="1266825"/>
            <a:ext cx="10820400" cy="0"/>
          </a:xfrm>
          <a:prstGeom xmlns:a="http://schemas.openxmlformats.org/drawingml/2006/main" prst="line">
            <a:avLst/>
          </a:prstGeom>
          <a:noFill xmlns:a="http://schemas.openxmlformats.org/drawingml/2006/main"/>
          <a:ln xmlns:a="http://schemas.openxmlformats.org/drawingml/2006/main" w="12383">
            <a:solidFill>
              <a:srgbClr val="C9D5DA"/>
            </a:solidFill>
          </a:ln>
        </p:spPr>
      </p:sp>
      <p:sp>
        <p:nvSpPr>
          <p:cNvPr id="5" name="">
            <a:extLst xmlns:a="http://schemas.openxmlformats.org/drawingml/2006/main">
              <a:ext uri="{FF2B5EF4-FFF2-40B4-BE49-F238E27FC236}">
                <a16:creationId xmlns:a16="http://schemas.microsoft.com/office/drawing/2014/main" id="{82D0EEBD-9D38-4991-9A33-36F06178E672}"/>
              </a:ext>
            </a:extLst>
          </p:cNvPr>
          <p:cNvSpPr>
            <a:spLocks xmlns:a="http://schemas.openxmlformats.org/drawingml/2006/main" noGrp="1"/>
          </p:cNvSpPr>
          <p:nvPr/>
        </p:nvSpPr>
        <p:spPr>
          <a:xfrm xmlns:a="http://schemas.openxmlformats.org/drawingml/2006/main">
            <a:off x="685800" y="65151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125" b="0">
                <a:solidFill>
                  <a:srgbClr val="52636D"/>
                </a:solidFill>
                <a:latin typeface="Helvetica Neue"/>
                <a:ea typeface="Helvetica Neue"/>
                <a:cs typeface="Helvetica Neue"/>
              </a:defRPr>
            </a:pPr>
            <a:r>
              <a:rPr sz="1125" b="0">
                <a:solidFill>
                  <a:srgbClr val="52636D"/>
                </a:solidFill>
                <a:latin typeface="Helvetica Neue"/>
                <a:ea typeface="Helvetica Neue"/>
                <a:cs typeface="Helvetica Neue"/>
              </a:rPr>
              <a:t>M.Tech CSE • Image source retrieval</a:t>
            </a:r>
          </a:p>
        </p:txBody>
      </p:sp>
      <p:sp>
        <p:nvSpPr>
          <p:cNvPr id="6" name="">
            <a:extLst xmlns:a="http://schemas.openxmlformats.org/drawingml/2006/main">
              <a:ext uri="{FF2B5EF4-FFF2-40B4-BE49-F238E27FC236}">
                <a16:creationId xmlns:a16="http://schemas.microsoft.com/office/drawing/2014/main" id="{D6679F09-26D1-4C2F-BCC0-DEA85162768E}"/>
              </a:ext>
            </a:extLst>
          </p:cNvPr>
          <p:cNvSpPr>
            <a:spLocks xmlns:a="http://schemas.openxmlformats.org/drawingml/2006/main" noGrp="1"/>
          </p:cNvSpPr>
          <p:nvPr/>
        </p:nvSpPr>
        <p:spPr>
          <a:xfrm xmlns:a="http://schemas.openxmlformats.org/drawingml/2006/main">
            <a:off x="11087100" y="64960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r">
              <a:defRPr sz="1125" b="0">
                <a:solidFill>
                  <a:srgbClr val="52636D"/>
                </a:solidFill>
                <a:latin typeface="Helvetica Neue"/>
                <a:ea typeface="Helvetica Neue"/>
                <a:cs typeface="Helvetica Neue"/>
              </a:defRPr>
            </a:pPr>
            <a:r>
              <a:rPr sz="1125" b="0">
                <a:solidFill>
                  <a:srgbClr val="52636D"/>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20528913-2CA4-46B2-B0AC-64C5726C740C}"/>
              </a:ext>
            </a:extLst>
          </p:cNvPr>
          <p:cNvSpPr>
            <a:spLocks xmlns:a="http://schemas.openxmlformats.org/drawingml/2006/main" noGrp="1"/>
          </p:cNvSpPr>
          <p:nvPr/>
        </p:nvSpPr>
        <p:spPr>
          <a:xfrm xmlns:a="http://schemas.openxmlformats.org/drawingml/2006/main">
            <a:off x="685800" y="1457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00" b="1">
                <a:solidFill>
                  <a:srgbClr val="087F8C"/>
                </a:solidFill>
                <a:latin typeface="Helvetica Neue"/>
                <a:ea typeface="Helvetica Neue"/>
                <a:cs typeface="Helvetica Neue"/>
              </a:defRPr>
            </a:pPr>
            <a:r>
              <a:rPr sz="1500" b="1">
                <a:solidFill>
                  <a:srgbClr val="087F8C"/>
                </a:solidFill>
                <a:latin typeface="Helvetica Neue"/>
                <a:ea typeface="Helvetica Neue"/>
                <a:cs typeface="Helvetica Neue"/>
              </a:rPr>
              <a:t>MagicBrush public dev • 156 final-edit queries • 413 gallery originals</a:t>
            </a:r>
          </a:p>
        </p:txBody>
      </p:sp>
      <p:sp>
        <p:nvSpPr>
          <p:cNvPr id="8" name="">
            <a:extLst xmlns:a="http://schemas.openxmlformats.org/drawingml/2006/main">
              <a:ext uri="{FF2B5EF4-FFF2-40B4-BE49-F238E27FC236}">
                <a16:creationId xmlns:a16="http://schemas.microsoft.com/office/drawing/2014/main" id="{FED687E4-43C6-4830-A12A-AC08AEF00523}"/>
              </a:ext>
            </a:extLst>
          </p:cNvPr>
          <p:cNvSpPr>
            <a:spLocks xmlns:a="http://schemas.openxmlformats.org/drawingml/2006/main" noGrp="1"/>
          </p:cNvSpPr>
          <p:nvPr/>
        </p:nvSpPr>
        <p:spPr>
          <a:xfrm xmlns:a="http://schemas.openxmlformats.org/drawingml/2006/main">
            <a:off x="685800" y="2066925"/>
            <a:ext cx="9286875" cy="514350"/>
          </a:xfrm>
          <a:prstGeom xmlns:a="http://schemas.openxmlformats.org/drawingml/2006/main" prst="rect">
            <a:avLst/>
          </a:prstGeom>
          <a:solidFill xmlns:a="http://schemas.openxmlformats.org/drawingml/2006/main">
            <a:srgbClr val="142B3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E988ED0-1F67-4053-A384-5947D06D4827}"/>
              </a:ext>
            </a:extLst>
          </p:cNvPr>
          <p:cNvSpPr>
            <a:spLocks xmlns:a="http://schemas.openxmlformats.org/drawingml/2006/main" noGrp="1"/>
          </p:cNvSpPr>
          <p:nvPr/>
        </p:nvSpPr>
        <p:spPr>
          <a:xfrm xmlns:a="http://schemas.openxmlformats.org/drawingml/2006/main">
            <a:off x="857250" y="219075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Method</a:t>
            </a:r>
          </a:p>
        </p:txBody>
      </p:sp>
      <p:sp>
        <p:nvSpPr>
          <p:cNvPr id="10" name="">
            <a:extLst xmlns:a="http://schemas.openxmlformats.org/drawingml/2006/main">
              <a:ext uri="{FF2B5EF4-FFF2-40B4-BE49-F238E27FC236}">
                <a16:creationId xmlns:a16="http://schemas.microsoft.com/office/drawing/2014/main" id="{47181AAA-7BF2-4C25-A860-5E4CB175A038}"/>
              </a:ext>
            </a:extLst>
          </p:cNvPr>
          <p:cNvSpPr>
            <a:spLocks xmlns:a="http://schemas.openxmlformats.org/drawingml/2006/main" noGrp="1"/>
          </p:cNvSpPr>
          <p:nvPr/>
        </p:nvSpPr>
        <p:spPr>
          <a:xfrm xmlns:a="http://schemas.openxmlformats.org/drawingml/2006/main">
            <a:off x="5048250" y="219075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Recall@1</a:t>
            </a:r>
          </a:p>
        </p:txBody>
      </p:sp>
      <p:sp>
        <p:nvSpPr>
          <p:cNvPr id="11" name="">
            <a:extLst xmlns:a="http://schemas.openxmlformats.org/drawingml/2006/main">
              <a:ext uri="{FF2B5EF4-FFF2-40B4-BE49-F238E27FC236}">
                <a16:creationId xmlns:a16="http://schemas.microsoft.com/office/drawing/2014/main" id="{33437367-ED7F-4A4D-892F-FE3C6A5669DD}"/>
              </a:ext>
            </a:extLst>
          </p:cNvPr>
          <p:cNvSpPr>
            <a:spLocks xmlns:a="http://schemas.openxmlformats.org/drawingml/2006/main" noGrp="1"/>
          </p:cNvSpPr>
          <p:nvPr/>
        </p:nvSpPr>
        <p:spPr>
          <a:xfrm xmlns:a="http://schemas.openxmlformats.org/drawingml/2006/main">
            <a:off x="6715125" y="219075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Recall@5</a:t>
            </a:r>
          </a:p>
        </p:txBody>
      </p:sp>
      <p:sp>
        <p:nvSpPr>
          <p:cNvPr id="12" name="">
            <a:extLst xmlns:a="http://schemas.openxmlformats.org/drawingml/2006/main">
              <a:ext uri="{FF2B5EF4-FFF2-40B4-BE49-F238E27FC236}">
                <a16:creationId xmlns:a16="http://schemas.microsoft.com/office/drawing/2014/main" id="{CD12A81B-DA4F-4582-9B14-6F6F68F995DE}"/>
              </a:ext>
            </a:extLst>
          </p:cNvPr>
          <p:cNvSpPr>
            <a:spLocks xmlns:a="http://schemas.openxmlformats.org/drawingml/2006/main" noGrp="1"/>
          </p:cNvSpPr>
          <p:nvPr/>
        </p:nvSpPr>
        <p:spPr>
          <a:xfrm xmlns:a="http://schemas.openxmlformats.org/drawingml/2006/main">
            <a:off x="8382000" y="219075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Recall@10</a:t>
            </a:r>
          </a:p>
        </p:txBody>
      </p:sp>
      <p:sp>
        <p:nvSpPr>
          <p:cNvPr id="13" name="">
            <a:extLst xmlns:a="http://schemas.openxmlformats.org/drawingml/2006/main">
              <a:ext uri="{FF2B5EF4-FFF2-40B4-BE49-F238E27FC236}">
                <a16:creationId xmlns:a16="http://schemas.microsoft.com/office/drawing/2014/main" id="{FC554FAD-795F-43FB-9021-AAB5F7E88A72}"/>
              </a:ext>
            </a:extLst>
          </p:cNvPr>
          <p:cNvSpPr>
            <a:spLocks xmlns:a="http://schemas.openxmlformats.org/drawingml/2006/main" noGrp="1"/>
          </p:cNvSpPr>
          <p:nvPr/>
        </p:nvSpPr>
        <p:spPr>
          <a:xfrm xmlns:a="http://schemas.openxmlformats.org/drawingml/2006/main">
            <a:off x="685800" y="2581275"/>
            <a:ext cx="9286875"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9D5DA"/>
            </a:solidFill>
          </a:ln>
        </p:spPr>
      </p:sp>
      <p:sp>
        <p:nvSpPr>
          <p:cNvPr id="14" name="">
            <a:extLst xmlns:a="http://schemas.openxmlformats.org/drawingml/2006/main">
              <a:ext uri="{FF2B5EF4-FFF2-40B4-BE49-F238E27FC236}">
                <a16:creationId xmlns:a16="http://schemas.microsoft.com/office/drawing/2014/main" id="{D34FE8C4-E076-49F8-9A6F-18434A2B40E9}"/>
              </a:ext>
            </a:extLst>
          </p:cNvPr>
          <p:cNvSpPr>
            <a:spLocks xmlns:a="http://schemas.openxmlformats.org/drawingml/2006/main" noGrp="1"/>
          </p:cNvSpPr>
          <p:nvPr/>
        </p:nvSpPr>
        <p:spPr>
          <a:xfrm xmlns:a="http://schemas.openxmlformats.org/drawingml/2006/main">
            <a:off x="857250" y="27432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425" b="0">
                <a:solidFill>
                  <a:srgbClr val="192B36"/>
                </a:solidFill>
                <a:latin typeface="Helvetica Neue"/>
                <a:ea typeface="Helvetica Neue"/>
                <a:cs typeface="Helvetica Neue"/>
              </a:defRPr>
            </a:pPr>
            <a:r>
              <a:rPr sz="1425" b="0">
                <a:solidFill>
                  <a:srgbClr val="192B36"/>
                </a:solidFill>
                <a:latin typeface="Helvetica Neue"/>
                <a:ea typeface="Helvetica Neue"/>
                <a:cs typeface="Helvetica Neue"/>
              </a:rPr>
              <a:t>Frozen SSCD global cosine</a:t>
            </a:r>
          </a:p>
        </p:txBody>
      </p:sp>
      <p:sp>
        <p:nvSpPr>
          <p:cNvPr id="15" name="">
            <a:extLst xmlns:a="http://schemas.openxmlformats.org/drawingml/2006/main">
              <a:ext uri="{FF2B5EF4-FFF2-40B4-BE49-F238E27FC236}">
                <a16:creationId xmlns:a16="http://schemas.microsoft.com/office/drawing/2014/main" id="{8AEC3DCE-B8B8-432B-9B24-5ED4E31A3364}"/>
              </a:ext>
            </a:extLst>
          </p:cNvPr>
          <p:cNvSpPr>
            <a:spLocks xmlns:a="http://schemas.openxmlformats.org/drawingml/2006/main" noGrp="1"/>
          </p:cNvSpPr>
          <p:nvPr/>
        </p:nvSpPr>
        <p:spPr>
          <a:xfrm xmlns:a="http://schemas.openxmlformats.org/drawingml/2006/main">
            <a:off x="5048250" y="274320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425" b="0">
                <a:solidFill>
                  <a:srgbClr val="192B36"/>
                </a:solidFill>
                <a:latin typeface="Helvetica Neue"/>
                <a:ea typeface="Helvetica Neue"/>
                <a:cs typeface="Helvetica Neue"/>
              </a:defRPr>
            </a:pPr>
            <a:r>
              <a:rPr sz="1425" b="0">
                <a:solidFill>
                  <a:srgbClr val="192B36"/>
                </a:solidFill>
                <a:latin typeface="Helvetica Neue"/>
                <a:ea typeface="Helvetica Neue"/>
                <a:cs typeface="Helvetica Neue"/>
              </a:rPr>
              <a:t>155 / 156</a:t>
            </a:r>
          </a:p>
        </p:txBody>
      </p:sp>
      <p:sp>
        <p:nvSpPr>
          <p:cNvPr id="16" name="">
            <a:extLst xmlns:a="http://schemas.openxmlformats.org/drawingml/2006/main">
              <a:ext uri="{FF2B5EF4-FFF2-40B4-BE49-F238E27FC236}">
                <a16:creationId xmlns:a16="http://schemas.microsoft.com/office/drawing/2014/main" id="{63883A75-038E-4FA5-A492-2095C321F6E7}"/>
              </a:ext>
            </a:extLst>
          </p:cNvPr>
          <p:cNvSpPr>
            <a:spLocks xmlns:a="http://schemas.openxmlformats.org/drawingml/2006/main" noGrp="1"/>
          </p:cNvSpPr>
          <p:nvPr/>
        </p:nvSpPr>
        <p:spPr>
          <a:xfrm xmlns:a="http://schemas.openxmlformats.org/drawingml/2006/main">
            <a:off x="6715125" y="274320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425" b="0">
                <a:solidFill>
                  <a:srgbClr val="192B36"/>
                </a:solidFill>
                <a:latin typeface="Helvetica Neue"/>
                <a:ea typeface="Helvetica Neue"/>
                <a:cs typeface="Helvetica Neue"/>
              </a:defRPr>
            </a:pPr>
            <a:r>
              <a:rPr sz="1425" b="0">
                <a:solidFill>
                  <a:srgbClr val="192B36"/>
                </a:solidFill>
                <a:latin typeface="Helvetica Neue"/>
                <a:ea typeface="Helvetica Neue"/>
                <a:cs typeface="Helvetica Neue"/>
              </a:rPr>
              <a:t>156 / 156</a:t>
            </a:r>
          </a:p>
        </p:txBody>
      </p:sp>
      <p:sp>
        <p:nvSpPr>
          <p:cNvPr id="17" name="">
            <a:extLst xmlns:a="http://schemas.openxmlformats.org/drawingml/2006/main">
              <a:ext uri="{FF2B5EF4-FFF2-40B4-BE49-F238E27FC236}">
                <a16:creationId xmlns:a16="http://schemas.microsoft.com/office/drawing/2014/main" id="{166A07A6-483E-425D-88BB-A51EFCE4226A}"/>
              </a:ext>
            </a:extLst>
          </p:cNvPr>
          <p:cNvSpPr>
            <a:spLocks xmlns:a="http://schemas.openxmlformats.org/drawingml/2006/main" noGrp="1"/>
          </p:cNvSpPr>
          <p:nvPr/>
        </p:nvSpPr>
        <p:spPr>
          <a:xfrm xmlns:a="http://schemas.openxmlformats.org/drawingml/2006/main">
            <a:off x="8382000" y="274320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425" b="0">
                <a:solidFill>
                  <a:srgbClr val="192B36"/>
                </a:solidFill>
                <a:latin typeface="Helvetica Neue"/>
                <a:ea typeface="Helvetica Neue"/>
                <a:cs typeface="Helvetica Neue"/>
              </a:defRPr>
            </a:pPr>
            <a:r>
              <a:rPr sz="1425" b="0">
                <a:solidFill>
                  <a:srgbClr val="192B36"/>
                </a:solidFill>
                <a:latin typeface="Helvetica Neue"/>
                <a:ea typeface="Helvetica Neue"/>
                <a:cs typeface="Helvetica Neue"/>
              </a:rPr>
              <a:t>156 / 156</a:t>
            </a:r>
          </a:p>
        </p:txBody>
      </p:sp>
      <p:sp>
        <p:nvSpPr>
          <p:cNvPr id="18" name="">
            <a:extLst xmlns:a="http://schemas.openxmlformats.org/drawingml/2006/main">
              <a:ext uri="{FF2B5EF4-FFF2-40B4-BE49-F238E27FC236}">
                <a16:creationId xmlns:a16="http://schemas.microsoft.com/office/drawing/2014/main" id="{F7439C59-9E44-47F5-B668-41A45F3A74D3}"/>
              </a:ext>
            </a:extLst>
          </p:cNvPr>
          <p:cNvSpPr>
            <a:spLocks xmlns:a="http://schemas.openxmlformats.org/drawingml/2006/main" noGrp="1"/>
          </p:cNvSpPr>
          <p:nvPr/>
        </p:nvSpPr>
        <p:spPr>
          <a:xfrm xmlns:a="http://schemas.openxmlformats.org/drawingml/2006/main">
            <a:off x="685800" y="3219450"/>
            <a:ext cx="9286875"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9D5DA"/>
            </a:solidFill>
          </a:ln>
        </p:spPr>
      </p:sp>
      <p:sp>
        <p:nvSpPr>
          <p:cNvPr id="19" name="">
            <a:extLst xmlns:a="http://schemas.openxmlformats.org/drawingml/2006/main">
              <a:ext uri="{FF2B5EF4-FFF2-40B4-BE49-F238E27FC236}">
                <a16:creationId xmlns:a16="http://schemas.microsoft.com/office/drawing/2014/main" id="{70D4E11F-87C6-471B-A830-9FF306FA48AF}"/>
              </a:ext>
            </a:extLst>
          </p:cNvPr>
          <p:cNvSpPr>
            <a:spLocks xmlns:a="http://schemas.openxmlformats.org/drawingml/2006/main" noGrp="1"/>
          </p:cNvSpPr>
          <p:nvPr/>
        </p:nvSpPr>
        <p:spPr>
          <a:xfrm xmlns:a="http://schemas.openxmlformats.org/drawingml/2006/main">
            <a:off x="857250" y="338137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425" b="0">
                <a:solidFill>
                  <a:srgbClr val="192B36"/>
                </a:solidFill>
                <a:latin typeface="Helvetica Neue"/>
                <a:ea typeface="Helvetica Neue"/>
                <a:cs typeface="Helvetica Neue"/>
              </a:defRPr>
            </a:pPr>
            <a:r>
              <a:rPr sz="1425" b="0">
                <a:solidFill>
                  <a:srgbClr val="192B36"/>
                </a:solidFill>
                <a:latin typeface="Helvetica Neue"/>
                <a:ea typeface="Helvetica Neue"/>
                <a:cs typeface="Helvetica Neue"/>
              </a:rPr>
              <a:t>SSCD + fixed patch score</a:t>
            </a:r>
          </a:p>
        </p:txBody>
      </p:sp>
      <p:sp>
        <p:nvSpPr>
          <p:cNvPr id="20" name="">
            <a:extLst xmlns:a="http://schemas.openxmlformats.org/drawingml/2006/main">
              <a:ext uri="{FF2B5EF4-FFF2-40B4-BE49-F238E27FC236}">
                <a16:creationId xmlns:a16="http://schemas.microsoft.com/office/drawing/2014/main" id="{A64FF62D-2A8E-46CA-A4E4-8C2D83036E05}"/>
              </a:ext>
            </a:extLst>
          </p:cNvPr>
          <p:cNvSpPr>
            <a:spLocks xmlns:a="http://schemas.openxmlformats.org/drawingml/2006/main" noGrp="1"/>
          </p:cNvSpPr>
          <p:nvPr/>
        </p:nvSpPr>
        <p:spPr>
          <a:xfrm xmlns:a="http://schemas.openxmlformats.org/drawingml/2006/main">
            <a:off x="5048250" y="3381375"/>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425" b="0">
                <a:solidFill>
                  <a:srgbClr val="192B36"/>
                </a:solidFill>
                <a:latin typeface="Helvetica Neue"/>
                <a:ea typeface="Helvetica Neue"/>
                <a:cs typeface="Helvetica Neue"/>
              </a:defRPr>
            </a:pPr>
            <a:r>
              <a:rPr sz="1425" b="0">
                <a:solidFill>
                  <a:srgbClr val="192B36"/>
                </a:solidFill>
                <a:latin typeface="Helvetica Neue"/>
                <a:ea typeface="Helvetica Neue"/>
                <a:cs typeface="Helvetica Neue"/>
              </a:rPr>
              <a:t>155 / 156</a:t>
            </a:r>
          </a:p>
        </p:txBody>
      </p:sp>
      <p:sp>
        <p:nvSpPr>
          <p:cNvPr id="21" name="">
            <a:extLst xmlns:a="http://schemas.openxmlformats.org/drawingml/2006/main">
              <a:ext uri="{FF2B5EF4-FFF2-40B4-BE49-F238E27FC236}">
                <a16:creationId xmlns:a16="http://schemas.microsoft.com/office/drawing/2014/main" id="{916FCE34-E5FD-4AF9-A2AD-277A9D1C7145}"/>
              </a:ext>
            </a:extLst>
          </p:cNvPr>
          <p:cNvSpPr>
            <a:spLocks xmlns:a="http://schemas.openxmlformats.org/drawingml/2006/main" noGrp="1"/>
          </p:cNvSpPr>
          <p:nvPr/>
        </p:nvSpPr>
        <p:spPr>
          <a:xfrm xmlns:a="http://schemas.openxmlformats.org/drawingml/2006/main">
            <a:off x="6715125" y="3381375"/>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425" b="0">
                <a:solidFill>
                  <a:srgbClr val="192B36"/>
                </a:solidFill>
                <a:latin typeface="Helvetica Neue"/>
                <a:ea typeface="Helvetica Neue"/>
                <a:cs typeface="Helvetica Neue"/>
              </a:defRPr>
            </a:pPr>
            <a:r>
              <a:rPr sz="1425" b="0">
                <a:solidFill>
                  <a:srgbClr val="192B36"/>
                </a:solidFill>
                <a:latin typeface="Helvetica Neue"/>
                <a:ea typeface="Helvetica Neue"/>
                <a:cs typeface="Helvetica Neue"/>
              </a:rPr>
              <a:t>156 / 156</a:t>
            </a:r>
          </a:p>
        </p:txBody>
      </p:sp>
      <p:sp>
        <p:nvSpPr>
          <p:cNvPr id="22" name="">
            <a:extLst xmlns:a="http://schemas.openxmlformats.org/drawingml/2006/main">
              <a:ext uri="{FF2B5EF4-FFF2-40B4-BE49-F238E27FC236}">
                <a16:creationId xmlns:a16="http://schemas.microsoft.com/office/drawing/2014/main" id="{EF96C101-89FB-474B-BD32-483B58FA0C1F}"/>
              </a:ext>
            </a:extLst>
          </p:cNvPr>
          <p:cNvSpPr>
            <a:spLocks xmlns:a="http://schemas.openxmlformats.org/drawingml/2006/main" noGrp="1"/>
          </p:cNvSpPr>
          <p:nvPr/>
        </p:nvSpPr>
        <p:spPr>
          <a:xfrm xmlns:a="http://schemas.openxmlformats.org/drawingml/2006/main">
            <a:off x="8382000" y="3381375"/>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425" b="0">
                <a:solidFill>
                  <a:srgbClr val="192B36"/>
                </a:solidFill>
                <a:latin typeface="Helvetica Neue"/>
                <a:ea typeface="Helvetica Neue"/>
                <a:cs typeface="Helvetica Neue"/>
              </a:defRPr>
            </a:pPr>
            <a:r>
              <a:rPr sz="1425" b="0">
                <a:solidFill>
                  <a:srgbClr val="192B36"/>
                </a:solidFill>
                <a:latin typeface="Helvetica Neue"/>
                <a:ea typeface="Helvetica Neue"/>
                <a:cs typeface="Helvetica Neue"/>
              </a:rPr>
              <a:t>156 / 156</a:t>
            </a:r>
          </a:p>
        </p:txBody>
      </p:sp>
      <p:sp>
        <p:nvSpPr>
          <p:cNvPr id="23" name="">
            <a:extLst xmlns:a="http://schemas.openxmlformats.org/drawingml/2006/main">
              <a:ext uri="{FF2B5EF4-FFF2-40B4-BE49-F238E27FC236}">
                <a16:creationId xmlns:a16="http://schemas.microsoft.com/office/drawing/2014/main" id="{ACC6687E-33DD-429F-8E11-1EF0240EF966}"/>
              </a:ext>
            </a:extLst>
          </p:cNvPr>
          <p:cNvSpPr>
            <a:spLocks xmlns:a="http://schemas.openxmlformats.org/drawingml/2006/main" noGrp="1"/>
          </p:cNvSpPr>
          <p:nvPr/>
        </p:nvSpPr>
        <p:spPr>
          <a:xfrm xmlns:a="http://schemas.openxmlformats.org/drawingml/2006/main">
            <a:off x="685800" y="3857625"/>
            <a:ext cx="9286875" cy="628650"/>
          </a:xfrm>
          <a:prstGeom xmlns:a="http://schemas.openxmlformats.org/drawingml/2006/main" prst="rect">
            <a:avLst/>
          </a:prstGeom>
          <a:solidFill xmlns:a="http://schemas.openxmlformats.org/drawingml/2006/main">
            <a:srgbClr val="E6F4F3"/>
          </a:solidFill>
          <a:ln xmlns:a="http://schemas.openxmlformats.org/drawingml/2006/main" w="9525">
            <a:solidFill>
              <a:srgbClr val="C9D5DA"/>
            </a:solidFill>
          </a:ln>
        </p:spPr>
      </p:sp>
      <p:sp>
        <p:nvSpPr>
          <p:cNvPr id="24" name="">
            <a:extLst xmlns:a="http://schemas.openxmlformats.org/drawingml/2006/main">
              <a:ext uri="{FF2B5EF4-FFF2-40B4-BE49-F238E27FC236}">
                <a16:creationId xmlns:a16="http://schemas.microsoft.com/office/drawing/2014/main" id="{91A6C337-8FDB-4EA9-B500-1639BF60CC90}"/>
              </a:ext>
            </a:extLst>
          </p:cNvPr>
          <p:cNvSpPr>
            <a:spLocks xmlns:a="http://schemas.openxmlformats.org/drawingml/2006/main" noGrp="1"/>
          </p:cNvSpPr>
          <p:nvPr/>
        </p:nvSpPr>
        <p:spPr>
          <a:xfrm xmlns:a="http://schemas.openxmlformats.org/drawingml/2006/main">
            <a:off x="857250" y="40195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00" b="1">
                <a:solidFill>
                  <a:srgbClr val="192B36"/>
                </a:solidFill>
                <a:latin typeface="Helvetica Neue"/>
                <a:ea typeface="Helvetica Neue"/>
                <a:cs typeface="Helvetica Neue"/>
              </a:defRPr>
            </a:pPr>
            <a:r>
              <a:rPr sz="1500" b="1">
                <a:solidFill>
                  <a:srgbClr val="192B36"/>
                </a:solidFill>
                <a:latin typeface="Helvetica Neue"/>
                <a:ea typeface="Helvetica Neue"/>
                <a:cs typeface="Helvetica Neue"/>
              </a:rPr>
              <a:t>Fusion MLP • first-edit training</a:t>
            </a:r>
          </a:p>
        </p:txBody>
      </p:sp>
      <p:sp>
        <p:nvSpPr>
          <p:cNvPr id="25" name="">
            <a:extLst xmlns:a="http://schemas.openxmlformats.org/drawingml/2006/main">
              <a:ext uri="{FF2B5EF4-FFF2-40B4-BE49-F238E27FC236}">
                <a16:creationId xmlns:a16="http://schemas.microsoft.com/office/drawing/2014/main" id="{8E9F433C-ACDB-4AC3-A780-1982F516271C}"/>
              </a:ext>
            </a:extLst>
          </p:cNvPr>
          <p:cNvSpPr>
            <a:spLocks xmlns:a="http://schemas.openxmlformats.org/drawingml/2006/main" noGrp="1"/>
          </p:cNvSpPr>
          <p:nvPr/>
        </p:nvSpPr>
        <p:spPr>
          <a:xfrm xmlns:a="http://schemas.openxmlformats.org/drawingml/2006/main">
            <a:off x="5048250" y="401955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500" b="1">
                <a:solidFill>
                  <a:srgbClr val="28745D"/>
                </a:solidFill>
                <a:latin typeface="Helvetica Neue"/>
                <a:ea typeface="Helvetica Neue"/>
                <a:cs typeface="Helvetica Neue"/>
              </a:defRPr>
            </a:pPr>
            <a:r>
              <a:rPr sz="1500" b="1">
                <a:solidFill>
                  <a:srgbClr val="28745D"/>
                </a:solidFill>
                <a:latin typeface="Helvetica Neue"/>
                <a:ea typeface="Helvetica Neue"/>
                <a:cs typeface="Helvetica Neue"/>
              </a:rPr>
              <a:t>156 / 156</a:t>
            </a:r>
          </a:p>
        </p:txBody>
      </p:sp>
      <p:sp>
        <p:nvSpPr>
          <p:cNvPr id="26" name="">
            <a:extLst xmlns:a="http://schemas.openxmlformats.org/drawingml/2006/main">
              <a:ext uri="{FF2B5EF4-FFF2-40B4-BE49-F238E27FC236}">
                <a16:creationId xmlns:a16="http://schemas.microsoft.com/office/drawing/2014/main" id="{6B04D3FF-A4AD-4B8D-82C1-E0EAC0168039}"/>
              </a:ext>
            </a:extLst>
          </p:cNvPr>
          <p:cNvSpPr>
            <a:spLocks xmlns:a="http://schemas.openxmlformats.org/drawingml/2006/main" noGrp="1"/>
          </p:cNvSpPr>
          <p:nvPr/>
        </p:nvSpPr>
        <p:spPr>
          <a:xfrm xmlns:a="http://schemas.openxmlformats.org/drawingml/2006/main">
            <a:off x="6715125" y="401955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500" b="1">
                <a:solidFill>
                  <a:srgbClr val="192B36"/>
                </a:solidFill>
                <a:latin typeface="Helvetica Neue"/>
                <a:ea typeface="Helvetica Neue"/>
                <a:cs typeface="Helvetica Neue"/>
              </a:defRPr>
            </a:pPr>
            <a:r>
              <a:rPr sz="1500" b="1">
                <a:solidFill>
                  <a:srgbClr val="192B36"/>
                </a:solidFill>
                <a:latin typeface="Helvetica Neue"/>
                <a:ea typeface="Helvetica Neue"/>
                <a:cs typeface="Helvetica Neue"/>
              </a:rPr>
              <a:t>156 / 156</a:t>
            </a:r>
          </a:p>
        </p:txBody>
      </p:sp>
      <p:sp>
        <p:nvSpPr>
          <p:cNvPr id="27" name="">
            <a:extLst xmlns:a="http://schemas.openxmlformats.org/drawingml/2006/main">
              <a:ext uri="{FF2B5EF4-FFF2-40B4-BE49-F238E27FC236}">
                <a16:creationId xmlns:a16="http://schemas.microsoft.com/office/drawing/2014/main" id="{1786AF8E-E7FB-4C52-AEA9-2590359C1EAB}"/>
              </a:ext>
            </a:extLst>
          </p:cNvPr>
          <p:cNvSpPr>
            <a:spLocks xmlns:a="http://schemas.openxmlformats.org/drawingml/2006/main" noGrp="1"/>
          </p:cNvSpPr>
          <p:nvPr/>
        </p:nvSpPr>
        <p:spPr>
          <a:xfrm xmlns:a="http://schemas.openxmlformats.org/drawingml/2006/main">
            <a:off x="8382000" y="401955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500" b="1">
                <a:solidFill>
                  <a:srgbClr val="192B36"/>
                </a:solidFill>
                <a:latin typeface="Helvetica Neue"/>
                <a:ea typeface="Helvetica Neue"/>
                <a:cs typeface="Helvetica Neue"/>
              </a:defRPr>
            </a:pPr>
            <a:r>
              <a:rPr sz="1500" b="1">
                <a:solidFill>
                  <a:srgbClr val="192B36"/>
                </a:solidFill>
                <a:latin typeface="Helvetica Neue"/>
                <a:ea typeface="Helvetica Neue"/>
                <a:cs typeface="Helvetica Neue"/>
              </a:rPr>
              <a:t>156 / 156</a:t>
            </a:r>
          </a:p>
        </p:txBody>
      </p:sp>
      <p:sp>
        <p:nvSpPr>
          <p:cNvPr id="28" name="">
            <a:extLst xmlns:a="http://schemas.openxmlformats.org/drawingml/2006/main">
              <a:ext uri="{FF2B5EF4-FFF2-40B4-BE49-F238E27FC236}">
                <a16:creationId xmlns:a16="http://schemas.microsoft.com/office/drawing/2014/main" id="{F51438CA-7362-4F60-A98C-6C386A35B51B}"/>
              </a:ext>
            </a:extLst>
          </p:cNvPr>
          <p:cNvSpPr>
            <a:spLocks xmlns:a="http://schemas.openxmlformats.org/drawingml/2006/main" noGrp="1"/>
          </p:cNvSpPr>
          <p:nvPr/>
        </p:nvSpPr>
        <p:spPr>
          <a:xfrm xmlns:a="http://schemas.openxmlformats.org/drawingml/2006/main">
            <a:off x="685800" y="4495800"/>
            <a:ext cx="9286875" cy="628650"/>
          </a:xfrm>
          <a:prstGeom xmlns:a="http://schemas.openxmlformats.org/drawingml/2006/main" prst="rect">
            <a:avLst/>
          </a:prstGeom>
          <a:solidFill xmlns:a="http://schemas.openxmlformats.org/drawingml/2006/main">
            <a:srgbClr val="E6F4F3"/>
          </a:solidFill>
          <a:ln xmlns:a="http://schemas.openxmlformats.org/drawingml/2006/main" w="9525">
            <a:solidFill>
              <a:srgbClr val="C9D5DA"/>
            </a:solidFill>
          </a:ln>
        </p:spPr>
      </p:sp>
      <p:sp>
        <p:nvSpPr>
          <p:cNvPr id="29" name="">
            <a:extLst xmlns:a="http://schemas.openxmlformats.org/drawingml/2006/main">
              <a:ext uri="{FF2B5EF4-FFF2-40B4-BE49-F238E27FC236}">
                <a16:creationId xmlns:a16="http://schemas.microsoft.com/office/drawing/2014/main" id="{A4BA9E52-0391-4C05-9C80-C8F06FF9E3D2}"/>
              </a:ext>
            </a:extLst>
          </p:cNvPr>
          <p:cNvSpPr>
            <a:spLocks xmlns:a="http://schemas.openxmlformats.org/drawingml/2006/main" noGrp="1"/>
          </p:cNvSpPr>
          <p:nvPr/>
        </p:nvSpPr>
        <p:spPr>
          <a:xfrm xmlns:a="http://schemas.openxmlformats.org/drawingml/2006/main">
            <a:off x="857250" y="465772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00" b="1">
                <a:solidFill>
                  <a:srgbClr val="192B36"/>
                </a:solidFill>
                <a:latin typeface="Helvetica Neue"/>
                <a:ea typeface="Helvetica Neue"/>
                <a:cs typeface="Helvetica Neue"/>
              </a:defRPr>
            </a:pPr>
            <a:r>
              <a:rPr sz="1500" b="1">
                <a:solidFill>
                  <a:srgbClr val="192B36"/>
                </a:solidFill>
                <a:latin typeface="Helvetica Neue"/>
                <a:ea typeface="Helvetica Neue"/>
                <a:cs typeface="Helvetica Neue"/>
              </a:rPr>
              <a:t>Fusion MLP • multi-stage training</a:t>
            </a:r>
          </a:p>
        </p:txBody>
      </p:sp>
      <p:sp>
        <p:nvSpPr>
          <p:cNvPr id="30" name="">
            <a:extLst xmlns:a="http://schemas.openxmlformats.org/drawingml/2006/main">
              <a:ext uri="{FF2B5EF4-FFF2-40B4-BE49-F238E27FC236}">
                <a16:creationId xmlns:a16="http://schemas.microsoft.com/office/drawing/2014/main" id="{2A07AA27-DAFF-4FE2-AB1D-D8648A6EE203}"/>
              </a:ext>
            </a:extLst>
          </p:cNvPr>
          <p:cNvSpPr>
            <a:spLocks xmlns:a="http://schemas.openxmlformats.org/drawingml/2006/main" noGrp="1"/>
          </p:cNvSpPr>
          <p:nvPr/>
        </p:nvSpPr>
        <p:spPr>
          <a:xfrm xmlns:a="http://schemas.openxmlformats.org/drawingml/2006/main">
            <a:off x="5048250" y="4657725"/>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500" b="1">
                <a:solidFill>
                  <a:srgbClr val="28745D"/>
                </a:solidFill>
                <a:latin typeface="Helvetica Neue"/>
                <a:ea typeface="Helvetica Neue"/>
                <a:cs typeface="Helvetica Neue"/>
              </a:defRPr>
            </a:pPr>
            <a:r>
              <a:rPr sz="1500" b="1">
                <a:solidFill>
                  <a:srgbClr val="28745D"/>
                </a:solidFill>
                <a:latin typeface="Helvetica Neue"/>
                <a:ea typeface="Helvetica Neue"/>
                <a:cs typeface="Helvetica Neue"/>
              </a:rPr>
              <a:t>156 / 156</a:t>
            </a:r>
          </a:p>
        </p:txBody>
      </p:sp>
      <p:sp>
        <p:nvSpPr>
          <p:cNvPr id="31" name="">
            <a:extLst xmlns:a="http://schemas.openxmlformats.org/drawingml/2006/main">
              <a:ext uri="{FF2B5EF4-FFF2-40B4-BE49-F238E27FC236}">
                <a16:creationId xmlns:a16="http://schemas.microsoft.com/office/drawing/2014/main" id="{B15B7973-9464-4D48-98A4-E0F337CA562B}"/>
              </a:ext>
            </a:extLst>
          </p:cNvPr>
          <p:cNvSpPr>
            <a:spLocks xmlns:a="http://schemas.openxmlformats.org/drawingml/2006/main" noGrp="1"/>
          </p:cNvSpPr>
          <p:nvPr/>
        </p:nvSpPr>
        <p:spPr>
          <a:xfrm xmlns:a="http://schemas.openxmlformats.org/drawingml/2006/main">
            <a:off x="6715125" y="4657725"/>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500" b="1">
                <a:solidFill>
                  <a:srgbClr val="192B36"/>
                </a:solidFill>
                <a:latin typeface="Helvetica Neue"/>
                <a:ea typeface="Helvetica Neue"/>
                <a:cs typeface="Helvetica Neue"/>
              </a:defRPr>
            </a:pPr>
            <a:r>
              <a:rPr sz="1500" b="1">
                <a:solidFill>
                  <a:srgbClr val="192B36"/>
                </a:solidFill>
                <a:latin typeface="Helvetica Neue"/>
                <a:ea typeface="Helvetica Neue"/>
                <a:cs typeface="Helvetica Neue"/>
              </a:rPr>
              <a:t>156 / 156</a:t>
            </a:r>
          </a:p>
        </p:txBody>
      </p:sp>
      <p:sp>
        <p:nvSpPr>
          <p:cNvPr id="32" name="">
            <a:extLst xmlns:a="http://schemas.openxmlformats.org/drawingml/2006/main">
              <a:ext uri="{FF2B5EF4-FFF2-40B4-BE49-F238E27FC236}">
                <a16:creationId xmlns:a16="http://schemas.microsoft.com/office/drawing/2014/main" id="{BF3712BE-CFF0-40CF-ABB2-6EDE6B72BF87}"/>
              </a:ext>
            </a:extLst>
          </p:cNvPr>
          <p:cNvSpPr>
            <a:spLocks xmlns:a="http://schemas.openxmlformats.org/drawingml/2006/main" noGrp="1"/>
          </p:cNvSpPr>
          <p:nvPr/>
        </p:nvSpPr>
        <p:spPr>
          <a:xfrm xmlns:a="http://schemas.openxmlformats.org/drawingml/2006/main">
            <a:off x="8382000" y="4657725"/>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1500" b="1">
                <a:solidFill>
                  <a:srgbClr val="192B36"/>
                </a:solidFill>
                <a:latin typeface="Helvetica Neue"/>
                <a:ea typeface="Helvetica Neue"/>
                <a:cs typeface="Helvetica Neue"/>
              </a:defRPr>
            </a:pPr>
            <a:r>
              <a:rPr sz="1500" b="1">
                <a:solidFill>
                  <a:srgbClr val="192B36"/>
                </a:solidFill>
                <a:latin typeface="Helvetica Neue"/>
                <a:ea typeface="Helvetica Neue"/>
                <a:cs typeface="Helvetica Neue"/>
              </a:rPr>
              <a:t>156 / 156</a:t>
            </a:r>
          </a:p>
        </p:txBody>
      </p:sp>
      <p:sp>
        <p:nvSpPr>
          <p:cNvPr id="33" name="">
            <a:extLst xmlns:a="http://schemas.openxmlformats.org/drawingml/2006/main">
              <a:ext uri="{FF2B5EF4-FFF2-40B4-BE49-F238E27FC236}">
                <a16:creationId xmlns:a16="http://schemas.microsoft.com/office/drawing/2014/main" id="{068E45DC-0201-485F-951D-7D2967B4F5A6}"/>
              </a:ext>
            </a:extLst>
          </p:cNvPr>
          <p:cNvSpPr>
            <a:spLocks xmlns:a="http://schemas.openxmlformats.org/drawingml/2006/main" noGrp="1"/>
          </p:cNvSpPr>
          <p:nvPr/>
        </p:nvSpPr>
        <p:spPr>
          <a:xfrm xmlns:a="http://schemas.openxmlformats.org/drawingml/2006/main">
            <a:off x="685800" y="5372100"/>
            <a:ext cx="9286875" cy="685800"/>
          </a:xfrm>
          <a:prstGeom xmlns:a="http://schemas.openxmlformats.org/drawingml/2006/main" prst="roundRect">
            <a:avLst>
              <a:gd name="adj" fmla="val 11111"/>
            </a:avLst>
          </a:prstGeom>
          <a:solidFill xmlns:a="http://schemas.openxmlformats.org/drawingml/2006/main">
            <a:srgbClr val="F8F0E1"/>
          </a:solidFill>
          <a:ln xmlns:a="http://schemas.openxmlformats.org/drawingml/2006/main" w="14288">
            <a:solidFill>
              <a:srgbClr val="E8D5B1"/>
            </a:solidFill>
          </a:ln>
        </p:spPr>
      </p:sp>
      <p:sp>
        <p:nvSpPr>
          <p:cNvPr id="34" name="">
            <a:extLst xmlns:a="http://schemas.openxmlformats.org/drawingml/2006/main">
              <a:ext uri="{FF2B5EF4-FFF2-40B4-BE49-F238E27FC236}">
                <a16:creationId xmlns:a16="http://schemas.microsoft.com/office/drawing/2014/main" id="{669AF6EE-2D5B-493E-9002-89A8CA766E60}"/>
              </a:ext>
            </a:extLst>
          </p:cNvPr>
          <p:cNvSpPr>
            <a:spLocks xmlns:a="http://schemas.openxmlformats.org/drawingml/2006/main" noGrp="1"/>
          </p:cNvSpPr>
          <p:nvPr/>
        </p:nvSpPr>
        <p:spPr>
          <a:xfrm xmlns:a="http://schemas.openxmlformats.org/drawingml/2006/main">
            <a:off x="876300" y="5524500"/>
            <a:ext cx="885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8864"/>
          </a:bodyPr>
          <a:lstStyle xmlns:a="http://schemas.openxmlformats.org/drawingml/2006/main"/>
          <a:p xmlns:a="http://schemas.openxmlformats.org/drawingml/2006/main">
            <a:pPr algn="l">
              <a:defRPr sz="1575" b="1">
                <a:solidFill>
                  <a:srgbClr val="192B36"/>
                </a:solidFill>
                <a:latin typeface="Helvetica Neue"/>
                <a:ea typeface="Helvetica Neue"/>
                <a:cs typeface="Helvetica Neue"/>
              </a:defRPr>
            </a:pPr>
            <a:r>
              <a:rPr sz="1575" b="1">
                <a:solidFill>
                  <a:srgbClr val="192B36"/>
                </a:solidFill>
                <a:latin typeface="Helvetica Neue"/>
                <a:ea typeface="Helvetica Neue"/>
                <a:cs typeface="Helvetica Neue"/>
              </a:rPr>
              <a:t>One third-turn query: SSCD ranked the source 3rd; fixed patches 2nd; both fusion models 1st.</a:t>
            </a:r>
          </a:p>
        </p:txBody>
      </p:sp>
      <p:sp>
        <p:nvSpPr>
          <p:cNvPr id="35" name="">
            <a:extLst xmlns:a="http://schemas.openxmlformats.org/drawingml/2006/main">
              <a:ext uri="{FF2B5EF4-FFF2-40B4-BE49-F238E27FC236}">
                <a16:creationId xmlns:a16="http://schemas.microsoft.com/office/drawing/2014/main" id="{52113834-06C7-4AE2-B149-BEC0EDA78E22}"/>
              </a:ext>
            </a:extLst>
          </p:cNvPr>
          <p:cNvSpPr>
            <a:spLocks xmlns:a="http://schemas.openxmlformats.org/drawingml/2006/main" noGrp="1"/>
          </p:cNvSpPr>
          <p:nvPr/>
        </p:nvSpPr>
        <p:spPr>
          <a:xfrm xmlns:a="http://schemas.openxmlformats.org/drawingml/2006/main">
            <a:off x="685800" y="617220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350" b="1">
                <a:solidFill>
                  <a:srgbClr val="A34738"/>
                </a:solidFill>
                <a:latin typeface="Helvetica Neue"/>
                <a:ea typeface="Helvetica Neue"/>
                <a:cs typeface="Helvetica Neue"/>
              </a:defRPr>
            </a:pPr>
            <a:r>
              <a:rPr sz="1350" b="1">
                <a:solidFill>
                  <a:srgbClr val="A34738"/>
                </a:solidFill>
                <a:latin typeface="Helvetica Neue"/>
                <a:ea typeface="Helvetica Neue"/>
                <a:cs typeface="Helvetica Neue"/>
              </a:rPr>
              <a:t>Preliminary: +1 correct query for fusion (99.36% → 100%). Single-edit and multi-stage models tied.</a:t>
            </a:r>
          </a:p>
        </p:txBody>
      </p:sp>
    </p:spTree>
    <p:extLst>
      <p:ext uri="{BB962C8B-B14F-4D97-AF65-F5344CB8AC3E}">
        <p14:creationId xmlns:p14="http://schemas.microsoft.com/office/powerpoint/2010/main" val="2070312369"/>
      </p:ext>
    </p:extLst>
  </p:cSld>
</p:sld>
</file>

<file path=ppt/slides/slide9.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DEAD6AF-C0DF-43E9-B65E-67C4C04C211D}"/>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0FA558-9B46-4672-ACAD-1B47123A51FD}"/>
              </a:ext>
            </a:extLst>
          </p:cNvPr>
          <p:cNvSpPr>
            <a:spLocks xmlns:a="http://schemas.openxmlformats.org/drawingml/2006/main" noGrp="1"/>
          </p:cNvSpPr>
          <p:nvPr/>
        </p:nvSpPr>
        <p:spPr>
          <a:xfrm xmlns:a="http://schemas.openxmlformats.org/drawingml/2006/main">
            <a:off x="685800" y="3238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125" b="1">
                <a:solidFill>
                  <a:srgbClr val="087F8C"/>
                </a:solidFill>
                <a:latin typeface="Helvetica Neue"/>
                <a:ea typeface="Helvetica Neue"/>
                <a:cs typeface="Helvetica Neue"/>
              </a:defRPr>
            </a:pPr>
            <a:r>
              <a:rPr sz="1125" b="1">
                <a:solidFill>
                  <a:srgbClr val="087F8C"/>
                </a:solidFill>
                <a:latin typeface="Helvetica Neue"/>
                <a:ea typeface="Helvetica Neue"/>
                <a:cs typeface="Helvetica Neue"/>
              </a:rPr>
              <a:t>CONCLUSION AND NEXT STEPS</a:t>
            </a:r>
          </a:p>
        </p:txBody>
      </p:sp>
      <p:sp>
        <p:nvSpPr>
          <p:cNvPr id="3" name="">
            <a:extLst xmlns:a="http://schemas.openxmlformats.org/drawingml/2006/main">
              <a:ext uri="{FF2B5EF4-FFF2-40B4-BE49-F238E27FC236}">
                <a16:creationId xmlns:a16="http://schemas.microsoft.com/office/drawing/2014/main" id="{AB1E3BDC-1C19-4520-ACDE-C7D55D8F670D}"/>
              </a:ext>
            </a:extLst>
          </p:cNvPr>
          <p:cNvSpPr>
            <a:spLocks xmlns:a="http://schemas.openxmlformats.org/drawingml/2006/main" noGrp="1"/>
          </p:cNvSpPr>
          <p:nvPr/>
        </p:nvSpPr>
        <p:spPr>
          <a:xfrm xmlns:a="http://schemas.openxmlformats.org/drawingml/2006/main">
            <a:off x="685800" y="6000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2925" b="1">
                <a:solidFill>
                  <a:srgbClr val="142B3B"/>
                </a:solidFill>
                <a:latin typeface="Helvetica Neue"/>
                <a:ea typeface="Helvetica Neue"/>
                <a:cs typeface="Helvetica Neue"/>
              </a:defRPr>
            </a:pPr>
            <a:r>
              <a:rPr sz="2925" b="1">
                <a:solidFill>
                  <a:srgbClr val="142B3B"/>
                </a:solidFill>
                <a:latin typeface="Helvetica Neue"/>
                <a:ea typeface="Helvetica Neue"/>
                <a:cs typeface="Helvetica Neue"/>
              </a:rPr>
              <a:t>What the result supports—and what comes next</a:t>
            </a:r>
          </a:p>
        </p:txBody>
      </p:sp>
      <p:sp>
        <p:nvSpPr>
          <p:cNvPr id="4" name="">
            <a:extLst xmlns:a="http://schemas.openxmlformats.org/drawingml/2006/main">
              <a:ext uri="{FF2B5EF4-FFF2-40B4-BE49-F238E27FC236}">
                <a16:creationId xmlns:a16="http://schemas.microsoft.com/office/drawing/2014/main" id="{CD332989-7D5A-4862-8506-D6F0D35BE0ED}"/>
              </a:ext>
            </a:extLst>
          </p:cNvPr>
          <p:cNvSpPr>
            <a:spLocks xmlns:a="http://schemas.openxmlformats.org/drawingml/2006/main" noGrp="1"/>
          </p:cNvSpPr>
          <p:nvPr/>
        </p:nvSpPr>
        <p:spPr>
          <a:xfrm xmlns:a="http://schemas.openxmlformats.org/drawingml/2006/main">
            <a:off x="685800" y="1266825"/>
            <a:ext cx="10820400" cy="0"/>
          </a:xfrm>
          <a:prstGeom xmlns:a="http://schemas.openxmlformats.org/drawingml/2006/main" prst="line">
            <a:avLst/>
          </a:prstGeom>
          <a:noFill xmlns:a="http://schemas.openxmlformats.org/drawingml/2006/main"/>
          <a:ln xmlns:a="http://schemas.openxmlformats.org/drawingml/2006/main" w="12383">
            <a:solidFill>
              <a:srgbClr val="C9D5DA"/>
            </a:solidFill>
          </a:ln>
        </p:spPr>
      </p:sp>
      <p:sp>
        <p:nvSpPr>
          <p:cNvPr id="5" name="">
            <a:extLst xmlns:a="http://schemas.openxmlformats.org/drawingml/2006/main">
              <a:ext uri="{FF2B5EF4-FFF2-40B4-BE49-F238E27FC236}">
                <a16:creationId xmlns:a16="http://schemas.microsoft.com/office/drawing/2014/main" id="{87969237-4527-4D15-88DA-E829E0C0DE48}"/>
              </a:ext>
            </a:extLst>
          </p:cNvPr>
          <p:cNvSpPr>
            <a:spLocks xmlns:a="http://schemas.openxmlformats.org/drawingml/2006/main" noGrp="1"/>
          </p:cNvSpPr>
          <p:nvPr/>
        </p:nvSpPr>
        <p:spPr>
          <a:xfrm xmlns:a="http://schemas.openxmlformats.org/drawingml/2006/main">
            <a:off x="685800" y="65151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125" b="0">
                <a:solidFill>
                  <a:srgbClr val="52636D"/>
                </a:solidFill>
                <a:latin typeface="Helvetica Neue"/>
                <a:ea typeface="Helvetica Neue"/>
                <a:cs typeface="Helvetica Neue"/>
              </a:defRPr>
            </a:pPr>
            <a:r>
              <a:rPr sz="1125" b="0">
                <a:solidFill>
                  <a:srgbClr val="52636D"/>
                </a:solidFill>
                <a:latin typeface="Helvetica Neue"/>
                <a:ea typeface="Helvetica Neue"/>
                <a:cs typeface="Helvetica Neue"/>
              </a:rPr>
              <a:t>M.Tech CSE • Image source retrieval</a:t>
            </a:r>
          </a:p>
        </p:txBody>
      </p:sp>
      <p:sp>
        <p:nvSpPr>
          <p:cNvPr id="6" name="">
            <a:extLst xmlns:a="http://schemas.openxmlformats.org/drawingml/2006/main">
              <a:ext uri="{FF2B5EF4-FFF2-40B4-BE49-F238E27FC236}">
                <a16:creationId xmlns:a16="http://schemas.microsoft.com/office/drawing/2014/main" id="{313B0A79-760F-42CA-9E26-22679997892B}"/>
              </a:ext>
            </a:extLst>
          </p:cNvPr>
          <p:cNvSpPr>
            <a:spLocks xmlns:a="http://schemas.openxmlformats.org/drawingml/2006/main" noGrp="1"/>
          </p:cNvSpPr>
          <p:nvPr/>
        </p:nvSpPr>
        <p:spPr>
          <a:xfrm xmlns:a="http://schemas.openxmlformats.org/drawingml/2006/main">
            <a:off x="11087100" y="64960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r">
              <a:defRPr sz="1125" b="0">
                <a:solidFill>
                  <a:srgbClr val="52636D"/>
                </a:solidFill>
                <a:latin typeface="Helvetica Neue"/>
                <a:ea typeface="Helvetica Neue"/>
                <a:cs typeface="Helvetica Neue"/>
              </a:defRPr>
            </a:pPr>
            <a:r>
              <a:rPr sz="1125" b="0">
                <a:solidFill>
                  <a:srgbClr val="52636D"/>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69958E97-756C-4313-8AB9-858D265B7264}"/>
              </a:ext>
            </a:extLst>
          </p:cNvPr>
          <p:cNvSpPr>
            <a:spLocks xmlns:a="http://schemas.openxmlformats.org/drawingml/2006/main" noGrp="1"/>
          </p:cNvSpPr>
          <p:nvPr/>
        </p:nvSpPr>
        <p:spPr>
          <a:xfrm xmlns:a="http://schemas.openxmlformats.org/drawingml/2006/main">
            <a:off x="685800" y="169545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875" b="1">
                <a:solidFill>
                  <a:srgbClr val="28745D"/>
                </a:solidFill>
                <a:latin typeface="Helvetica Neue"/>
                <a:ea typeface="Helvetica Neue"/>
                <a:cs typeface="Helvetica Neue"/>
              </a:defRPr>
            </a:pPr>
            <a:r>
              <a:rPr sz="1875" b="1">
                <a:solidFill>
                  <a:srgbClr val="28745D"/>
                </a:solidFill>
                <a:latin typeface="Helvetica Neue"/>
                <a:ea typeface="Helvetica Neue"/>
                <a:cs typeface="Helvetica Neue"/>
              </a:rPr>
              <a:t>Supported so far</a:t>
            </a:r>
          </a:p>
        </p:txBody>
      </p:sp>
      <p:sp>
        <p:nvSpPr>
          <p:cNvPr id="8" name="">
            <a:extLst xmlns:a="http://schemas.openxmlformats.org/drawingml/2006/main">
              <a:ext uri="{FF2B5EF4-FFF2-40B4-BE49-F238E27FC236}">
                <a16:creationId xmlns:a16="http://schemas.microsoft.com/office/drawing/2014/main" id="{0477E9AC-5CA5-4311-9181-05C5F84C9DF4}"/>
              </a:ext>
            </a:extLst>
          </p:cNvPr>
          <p:cNvSpPr>
            <a:spLocks xmlns:a="http://schemas.openxmlformats.org/drawingml/2006/main" noGrp="1"/>
          </p:cNvSpPr>
          <p:nvPr/>
        </p:nvSpPr>
        <p:spPr>
          <a:xfrm xmlns:a="http://schemas.openxmlformats.org/drawingml/2006/main">
            <a:off x="685800" y="2228850"/>
            <a:ext cx="95250" cy="95250"/>
          </a:xfrm>
          <a:prstGeom xmlns:a="http://schemas.openxmlformats.org/drawingml/2006/main" prst="ellipse">
            <a:avLst/>
          </a:prstGeom>
          <a:solidFill xmlns:a="http://schemas.openxmlformats.org/drawingml/2006/main">
            <a:srgbClr val="28745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1FE40EE-9017-4E74-8639-8DD8E8381E3A}"/>
              </a:ext>
            </a:extLst>
          </p:cNvPr>
          <p:cNvSpPr>
            <a:spLocks xmlns:a="http://schemas.openxmlformats.org/drawingml/2006/main" noGrp="1"/>
          </p:cNvSpPr>
          <p:nvPr/>
        </p:nvSpPr>
        <p:spPr>
          <a:xfrm xmlns:a="http://schemas.openxmlformats.org/drawingml/2006/main">
            <a:off x="914400" y="2143125"/>
            <a:ext cx="45339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725" b="0">
                <a:solidFill>
                  <a:srgbClr val="192B36"/>
                </a:solidFill>
                <a:latin typeface="Helvetica Neue"/>
                <a:ea typeface="Helvetica Neue"/>
                <a:cs typeface="Helvetica Neue"/>
              </a:defRPr>
            </a:pPr>
            <a:r>
              <a:rPr sz="1725" b="0">
                <a:solidFill>
                  <a:srgbClr val="192B36"/>
                </a:solidFill>
                <a:latin typeface="Helvetica Neue"/>
                <a:ea typeface="Helvetica Neue"/>
                <a:cs typeface="Helvetica Neue"/>
              </a:rPr>
              <a:t>Fusion corrected one measured SSCD rank-1 miss on the sampled dev run.</a:t>
            </a:r>
          </a:p>
        </p:txBody>
      </p:sp>
      <p:sp>
        <p:nvSpPr>
          <p:cNvPr id="10" name="">
            <a:extLst xmlns:a="http://schemas.openxmlformats.org/drawingml/2006/main">
              <a:ext uri="{FF2B5EF4-FFF2-40B4-BE49-F238E27FC236}">
                <a16:creationId xmlns:a16="http://schemas.microsoft.com/office/drawing/2014/main" id="{C9040874-DB34-4799-AECC-AC33A04F9E3E}"/>
              </a:ext>
            </a:extLst>
          </p:cNvPr>
          <p:cNvSpPr>
            <a:spLocks xmlns:a="http://schemas.openxmlformats.org/drawingml/2006/main" noGrp="1"/>
          </p:cNvSpPr>
          <p:nvPr/>
        </p:nvSpPr>
        <p:spPr>
          <a:xfrm xmlns:a="http://schemas.openxmlformats.org/drawingml/2006/main">
            <a:off x="685800" y="3124200"/>
            <a:ext cx="95250" cy="95250"/>
          </a:xfrm>
          <a:prstGeom xmlns:a="http://schemas.openxmlformats.org/drawingml/2006/main" prst="ellipse">
            <a:avLst/>
          </a:prstGeom>
          <a:solidFill xmlns:a="http://schemas.openxmlformats.org/drawingml/2006/main">
            <a:srgbClr val="28745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907FBA9-2D9E-43DD-8759-E1C3F770A673}"/>
              </a:ext>
            </a:extLst>
          </p:cNvPr>
          <p:cNvSpPr>
            <a:spLocks xmlns:a="http://schemas.openxmlformats.org/drawingml/2006/main" noGrp="1"/>
          </p:cNvSpPr>
          <p:nvPr/>
        </p:nvSpPr>
        <p:spPr>
          <a:xfrm xmlns:a="http://schemas.openxmlformats.org/drawingml/2006/main">
            <a:off x="914400" y="3038475"/>
            <a:ext cx="45339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725" b="0">
                <a:solidFill>
                  <a:srgbClr val="192B36"/>
                </a:solidFill>
                <a:latin typeface="Helvetica Neue"/>
                <a:ea typeface="Helvetica Neue"/>
                <a:cs typeface="Helvetica Neue"/>
              </a:defRPr>
            </a:pPr>
            <a:r>
              <a:rPr sz="1725" b="0">
                <a:solidFill>
                  <a:srgbClr val="192B36"/>
                </a:solidFill>
                <a:latin typeface="Helvetica Neue"/>
                <a:ea typeface="Helvetica Neue"/>
                <a:cs typeface="Helvetica Neue"/>
              </a:rPr>
              <a:t>The result shows the pipeline can run end to end.</a:t>
            </a:r>
          </a:p>
        </p:txBody>
      </p:sp>
      <p:sp>
        <p:nvSpPr>
          <p:cNvPr id="12" name="">
            <a:extLst xmlns:a="http://schemas.openxmlformats.org/drawingml/2006/main">
              <a:ext uri="{FF2B5EF4-FFF2-40B4-BE49-F238E27FC236}">
                <a16:creationId xmlns:a16="http://schemas.microsoft.com/office/drawing/2014/main" id="{5CE30A0F-5B74-46B6-AC11-8629D6903C4D}"/>
              </a:ext>
            </a:extLst>
          </p:cNvPr>
          <p:cNvSpPr>
            <a:spLocks xmlns:a="http://schemas.openxmlformats.org/drawingml/2006/main" noGrp="1"/>
          </p:cNvSpPr>
          <p:nvPr/>
        </p:nvSpPr>
        <p:spPr>
          <a:xfrm xmlns:a="http://schemas.openxmlformats.org/drawingml/2006/main">
            <a:off x="6381750" y="169545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875" b="1">
                <a:solidFill>
                  <a:srgbClr val="A34738"/>
                </a:solidFill>
                <a:latin typeface="Helvetica Neue"/>
                <a:ea typeface="Helvetica Neue"/>
                <a:cs typeface="Helvetica Neue"/>
              </a:defRPr>
            </a:pPr>
            <a:r>
              <a:rPr sz="1875" b="1">
                <a:solidFill>
                  <a:srgbClr val="A34738"/>
                </a:solidFill>
                <a:latin typeface="Helvetica Neue"/>
                <a:ea typeface="Helvetica Neue"/>
                <a:cs typeface="Helvetica Neue"/>
              </a:rPr>
              <a:t>Not established yet</a:t>
            </a:r>
          </a:p>
        </p:txBody>
      </p:sp>
      <p:sp>
        <p:nvSpPr>
          <p:cNvPr id="13" name="">
            <a:extLst xmlns:a="http://schemas.openxmlformats.org/drawingml/2006/main">
              <a:ext uri="{FF2B5EF4-FFF2-40B4-BE49-F238E27FC236}">
                <a16:creationId xmlns:a16="http://schemas.microsoft.com/office/drawing/2014/main" id="{C69DC035-551B-482F-9A83-DDD466ECE4F8}"/>
              </a:ext>
            </a:extLst>
          </p:cNvPr>
          <p:cNvSpPr>
            <a:spLocks xmlns:a="http://schemas.openxmlformats.org/drawingml/2006/main" noGrp="1"/>
          </p:cNvSpPr>
          <p:nvPr/>
        </p:nvSpPr>
        <p:spPr>
          <a:xfrm xmlns:a="http://schemas.openxmlformats.org/drawingml/2006/main">
            <a:off x="6381750" y="2228850"/>
            <a:ext cx="95250" cy="95250"/>
          </a:xfrm>
          <a:prstGeom xmlns:a="http://schemas.openxmlformats.org/drawingml/2006/main" prst="ellipse">
            <a:avLst/>
          </a:prstGeom>
          <a:solidFill xmlns:a="http://schemas.openxmlformats.org/drawingml/2006/main">
            <a:srgbClr val="A3473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10E5D49-06C4-4135-BE9B-4C22FC8116F3}"/>
              </a:ext>
            </a:extLst>
          </p:cNvPr>
          <p:cNvSpPr>
            <a:spLocks xmlns:a="http://schemas.openxmlformats.org/drawingml/2006/main" noGrp="1"/>
          </p:cNvSpPr>
          <p:nvPr/>
        </p:nvSpPr>
        <p:spPr>
          <a:xfrm xmlns:a="http://schemas.openxmlformats.org/drawingml/2006/main">
            <a:off x="6610350" y="2143125"/>
            <a:ext cx="453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725" b="0">
                <a:solidFill>
                  <a:srgbClr val="192B36"/>
                </a:solidFill>
                <a:latin typeface="Helvetica Neue"/>
                <a:ea typeface="Helvetica Neue"/>
                <a:cs typeface="Helvetica Neue"/>
              </a:defRPr>
            </a:pPr>
            <a:r>
              <a:rPr sz="1725" b="0">
                <a:solidFill>
                  <a:srgbClr val="192B36"/>
                </a:solidFill>
                <a:latin typeface="Helvetica Neue"/>
                <a:ea typeface="Helvetica Neue"/>
                <a:cs typeface="Helvetica Neue"/>
              </a:rPr>
              <a:t>A dependable gain across harder data.</a:t>
            </a:r>
          </a:p>
        </p:txBody>
      </p:sp>
      <p:sp>
        <p:nvSpPr>
          <p:cNvPr id="15" name="">
            <a:extLst xmlns:a="http://schemas.openxmlformats.org/drawingml/2006/main">
              <a:ext uri="{FF2B5EF4-FFF2-40B4-BE49-F238E27FC236}">
                <a16:creationId xmlns:a16="http://schemas.microsoft.com/office/drawing/2014/main" id="{FD820910-BF32-4F55-A359-D5252D175CB2}"/>
              </a:ext>
            </a:extLst>
          </p:cNvPr>
          <p:cNvSpPr>
            <a:spLocks xmlns:a="http://schemas.openxmlformats.org/drawingml/2006/main" noGrp="1"/>
          </p:cNvSpPr>
          <p:nvPr/>
        </p:nvSpPr>
        <p:spPr>
          <a:xfrm xmlns:a="http://schemas.openxmlformats.org/drawingml/2006/main">
            <a:off x="6381750" y="3009900"/>
            <a:ext cx="95250" cy="95250"/>
          </a:xfrm>
          <a:prstGeom xmlns:a="http://schemas.openxmlformats.org/drawingml/2006/main" prst="ellipse">
            <a:avLst/>
          </a:prstGeom>
          <a:solidFill xmlns:a="http://schemas.openxmlformats.org/drawingml/2006/main">
            <a:srgbClr val="A3473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67A355B-B42B-41B8-B228-3AC40D61C85E}"/>
              </a:ext>
            </a:extLst>
          </p:cNvPr>
          <p:cNvSpPr>
            <a:spLocks xmlns:a="http://schemas.openxmlformats.org/drawingml/2006/main" noGrp="1"/>
          </p:cNvSpPr>
          <p:nvPr/>
        </p:nvSpPr>
        <p:spPr>
          <a:xfrm xmlns:a="http://schemas.openxmlformats.org/drawingml/2006/main">
            <a:off x="6610350" y="2924175"/>
            <a:ext cx="453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725" b="0">
                <a:solidFill>
                  <a:srgbClr val="192B36"/>
                </a:solidFill>
                <a:latin typeface="Helvetica Neue"/>
                <a:ea typeface="Helvetica Neue"/>
                <a:cs typeface="Helvetica Neue"/>
              </a:defRPr>
            </a:pPr>
            <a:r>
              <a:rPr sz="1725" b="0">
                <a:solidFill>
                  <a:srgbClr val="192B36"/>
                </a:solidFill>
                <a:latin typeface="Helvetica Neue"/>
                <a:ea typeface="Helvetica Neue"/>
                <a:cs typeface="Helvetica Neue"/>
              </a:rPr>
              <a:t>An advantage from multi-stage training.</a:t>
            </a:r>
          </a:p>
        </p:txBody>
      </p:sp>
      <p:sp>
        <p:nvSpPr>
          <p:cNvPr id="17" name="">
            <a:extLst xmlns:a="http://schemas.openxmlformats.org/drawingml/2006/main">
              <a:ext uri="{FF2B5EF4-FFF2-40B4-BE49-F238E27FC236}">
                <a16:creationId xmlns:a16="http://schemas.microsoft.com/office/drawing/2014/main" id="{D08356C9-B962-4E61-8520-F1CC0D4645B5}"/>
              </a:ext>
            </a:extLst>
          </p:cNvPr>
          <p:cNvSpPr>
            <a:spLocks xmlns:a="http://schemas.openxmlformats.org/drawingml/2006/main" noGrp="1"/>
          </p:cNvSpPr>
          <p:nvPr/>
        </p:nvSpPr>
        <p:spPr>
          <a:xfrm xmlns:a="http://schemas.openxmlformats.org/drawingml/2006/main">
            <a:off x="6381750" y="3790950"/>
            <a:ext cx="95250" cy="95250"/>
          </a:xfrm>
          <a:prstGeom xmlns:a="http://schemas.openxmlformats.org/drawingml/2006/main" prst="ellipse">
            <a:avLst/>
          </a:prstGeom>
          <a:solidFill xmlns:a="http://schemas.openxmlformats.org/drawingml/2006/main">
            <a:srgbClr val="A3473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FBDD379-ED6C-44F5-82D0-3F0DEF7EAB0B}"/>
              </a:ext>
            </a:extLst>
          </p:cNvPr>
          <p:cNvSpPr>
            <a:spLocks xmlns:a="http://schemas.openxmlformats.org/drawingml/2006/main" noGrp="1"/>
          </p:cNvSpPr>
          <p:nvPr/>
        </p:nvSpPr>
        <p:spPr>
          <a:xfrm xmlns:a="http://schemas.openxmlformats.org/drawingml/2006/main">
            <a:off x="6610350" y="3705225"/>
            <a:ext cx="453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725" b="0">
                <a:solidFill>
                  <a:srgbClr val="192B36"/>
                </a:solidFill>
                <a:latin typeface="Helvetica Neue"/>
                <a:ea typeface="Helvetica Neue"/>
                <a:cs typeface="Helvetica Neue"/>
              </a:defRPr>
            </a:pPr>
            <a:r>
              <a:rPr sz="1725" b="0">
                <a:solidFill>
                  <a:srgbClr val="192B36"/>
                </a:solidFill>
                <a:latin typeface="Helvetica Neue"/>
                <a:ea typeface="Helvetica Neue"/>
                <a:cs typeface="Helvetica Neue"/>
              </a:rPr>
              <a:t>A guaranteed novelty or publication claim.</a:t>
            </a:r>
          </a:p>
        </p:txBody>
      </p:sp>
      <p:sp>
        <p:nvSpPr>
          <p:cNvPr id="19" name="">
            <a:extLst xmlns:a="http://schemas.openxmlformats.org/drawingml/2006/main">
              <a:ext uri="{FF2B5EF4-FFF2-40B4-BE49-F238E27FC236}">
                <a16:creationId xmlns:a16="http://schemas.microsoft.com/office/drawing/2014/main" id="{EBD3404C-E1B1-476D-98D0-941037E2867A}"/>
              </a:ext>
            </a:extLst>
          </p:cNvPr>
          <p:cNvSpPr>
            <a:spLocks xmlns:a="http://schemas.openxmlformats.org/drawingml/2006/main" noGrp="1"/>
          </p:cNvSpPr>
          <p:nvPr/>
        </p:nvSpPr>
        <p:spPr>
          <a:xfrm xmlns:a="http://schemas.openxmlformats.org/drawingml/2006/main">
            <a:off x="685800" y="4143375"/>
            <a:ext cx="10820400" cy="0"/>
          </a:xfrm>
          <a:prstGeom xmlns:a="http://schemas.openxmlformats.org/drawingml/2006/main" prst="line">
            <a:avLst/>
          </a:prstGeom>
          <a:noFill xmlns:a="http://schemas.openxmlformats.org/drawingml/2006/main"/>
          <a:ln xmlns:a="http://schemas.openxmlformats.org/drawingml/2006/main" w="14288">
            <a:solidFill>
              <a:srgbClr val="C9D5DA"/>
            </a:solidFill>
          </a:ln>
        </p:spPr>
      </p:sp>
      <p:sp>
        <p:nvSpPr>
          <p:cNvPr id="20" name="">
            <a:extLst xmlns:a="http://schemas.openxmlformats.org/drawingml/2006/main">
              <a:ext uri="{FF2B5EF4-FFF2-40B4-BE49-F238E27FC236}">
                <a16:creationId xmlns:a16="http://schemas.microsoft.com/office/drawing/2014/main" id="{4E1C4878-A70E-425B-80BF-FF7D78E8CB87}"/>
              </a:ext>
            </a:extLst>
          </p:cNvPr>
          <p:cNvSpPr>
            <a:spLocks xmlns:a="http://schemas.openxmlformats.org/drawingml/2006/main" noGrp="1"/>
          </p:cNvSpPr>
          <p:nvPr/>
        </p:nvSpPr>
        <p:spPr>
          <a:xfrm xmlns:a="http://schemas.openxmlformats.org/drawingml/2006/main">
            <a:off x="685800" y="446722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7222"/>
          </a:bodyPr>
          <a:lstStyle xmlns:a="http://schemas.openxmlformats.org/drawingml/2006/main"/>
          <a:p xmlns:a="http://schemas.openxmlformats.org/drawingml/2006/main">
            <a:pPr algn="l">
              <a:defRPr sz="1800" b="1">
                <a:solidFill>
                  <a:srgbClr val="142B3B"/>
                </a:solidFill>
                <a:latin typeface="Helvetica Neue"/>
                <a:ea typeface="Helvetica Neue"/>
                <a:cs typeface="Helvetica Neue"/>
              </a:defRPr>
            </a:pPr>
            <a:r>
              <a:rPr sz="1800" b="1">
                <a:solidFill>
                  <a:srgbClr val="142B3B"/>
                </a:solidFill>
                <a:latin typeface="Helvetica Neue"/>
                <a:ea typeface="Helvetica Neue"/>
                <a:cs typeface="Helvetica Neue"/>
              </a:rPr>
              <a:t>Next experiments</a:t>
            </a:r>
          </a:p>
        </p:txBody>
      </p:sp>
      <p:sp>
        <p:nvSpPr>
          <p:cNvPr id="21" name="">
            <a:extLst xmlns:a="http://schemas.openxmlformats.org/drawingml/2006/main">
              <a:ext uri="{FF2B5EF4-FFF2-40B4-BE49-F238E27FC236}">
                <a16:creationId xmlns:a16="http://schemas.microsoft.com/office/drawing/2014/main" id="{E75EEA7C-EE71-483E-AC86-197ED48C3C8C}"/>
              </a:ext>
            </a:extLst>
          </p:cNvPr>
          <p:cNvSpPr>
            <a:spLocks xmlns:a="http://schemas.openxmlformats.org/drawingml/2006/main" noGrp="1"/>
          </p:cNvSpPr>
          <p:nvPr/>
        </p:nvSpPr>
        <p:spPr>
          <a:xfrm xmlns:a="http://schemas.openxmlformats.org/drawingml/2006/main">
            <a:off x="685800" y="4876800"/>
            <a:ext cx="704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92593"/>
          </a:bodyPr>
          <a:lstStyle xmlns:a="http://schemas.openxmlformats.org/drawingml/2006/main"/>
          <a:p xmlns:a="http://schemas.openxmlformats.org/drawingml/2006/main">
            <a:pPr algn="l">
              <a:defRPr sz="1800" b="0">
                <a:solidFill>
                  <a:srgbClr val="192B36"/>
                </a:solidFill>
                <a:latin typeface="Helvetica Neue"/>
                <a:ea typeface="Helvetica Neue"/>
                <a:cs typeface="Helvetica Neue"/>
              </a:defRPr>
            </a:pPr>
            <a:r>
              <a:rPr sz="1800" b="0">
                <a:solidFill>
                  <a:srgbClr val="192B36"/>
                </a:solidFill>
                <a:latin typeface="Helvetica Neue"/>
                <a:ea typeface="Helvetica Neue"/>
                <a:cs typeface="Helvetica Neue"/>
              </a:rPr>
              <a:t>Use a larger untouched test set with visually similar distractors; repeat with several seeds; report edit-type results; compare with VAE-based Origin Identification where feasible.</a:t>
            </a:r>
          </a:p>
        </p:txBody>
      </p:sp>
      <p:sp>
        <p:nvSpPr>
          <p:cNvPr id="22" name="">
            <a:extLst xmlns:a="http://schemas.openxmlformats.org/drawingml/2006/main">
              <a:ext uri="{FF2B5EF4-FFF2-40B4-BE49-F238E27FC236}">
                <a16:creationId xmlns:a16="http://schemas.microsoft.com/office/drawing/2014/main" id="{8F3C484A-27FD-4906-AAE6-3C557A9FF02D}"/>
              </a:ext>
            </a:extLst>
          </p:cNvPr>
          <p:cNvSpPr>
            <a:spLocks xmlns:a="http://schemas.openxmlformats.org/drawingml/2006/main" noGrp="1"/>
          </p:cNvSpPr>
          <p:nvPr/>
        </p:nvSpPr>
        <p:spPr>
          <a:xfrm xmlns:a="http://schemas.openxmlformats.org/drawingml/2006/main">
            <a:off x="8343900" y="4533900"/>
            <a:ext cx="3162300" cy="1219200"/>
          </a:xfrm>
          <a:prstGeom xmlns:a="http://schemas.openxmlformats.org/drawingml/2006/main" prst="roundRect">
            <a:avLst>
              <a:gd name="adj" fmla="val 6250"/>
            </a:avLst>
          </a:prstGeom>
          <a:solidFill xmlns:a="http://schemas.openxmlformats.org/drawingml/2006/main">
            <a:srgbClr val="E6F4F3"/>
          </a:solidFill>
          <a:ln xmlns:a="http://schemas.openxmlformats.org/drawingml/2006/main" w="14288">
            <a:solidFill>
              <a:srgbClr val="A7D6D4"/>
            </a:solidFill>
          </a:ln>
        </p:spPr>
      </p:sp>
      <p:sp>
        <p:nvSpPr>
          <p:cNvPr id="23" name="">
            <a:extLst xmlns:a="http://schemas.openxmlformats.org/drawingml/2006/main">
              <a:ext uri="{FF2B5EF4-FFF2-40B4-BE49-F238E27FC236}">
                <a16:creationId xmlns:a16="http://schemas.microsoft.com/office/drawing/2014/main" id="{CE5DF252-D1E4-4FB2-BEFB-E56C2999F0DE}"/>
              </a:ext>
            </a:extLst>
          </p:cNvPr>
          <p:cNvSpPr>
            <a:spLocks xmlns:a="http://schemas.openxmlformats.org/drawingml/2006/main" noGrp="1"/>
          </p:cNvSpPr>
          <p:nvPr/>
        </p:nvSpPr>
        <p:spPr>
          <a:xfrm xmlns:a="http://schemas.openxmlformats.org/drawingml/2006/main">
            <a:off x="8572500" y="470535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425" b="1">
                <a:solidFill>
                  <a:srgbClr val="087F8C"/>
                </a:solidFill>
                <a:latin typeface="Helvetica Neue"/>
                <a:ea typeface="Helvetica Neue"/>
                <a:cs typeface="Helvetica Neue"/>
              </a:defRPr>
            </a:pPr>
            <a:r>
              <a:rPr sz="1425" b="1">
                <a:solidFill>
                  <a:srgbClr val="087F8C"/>
                </a:solidFill>
                <a:latin typeface="Helvetica Neue"/>
                <a:ea typeface="Helvetica Neue"/>
                <a:cs typeface="Helvetica Neue"/>
              </a:rPr>
              <a:t>Decision rule</a:t>
            </a:r>
          </a:p>
        </p:txBody>
      </p:sp>
      <p:sp>
        <p:nvSpPr>
          <p:cNvPr id="24" name="">
            <a:extLst xmlns:a="http://schemas.openxmlformats.org/drawingml/2006/main">
              <a:ext uri="{FF2B5EF4-FFF2-40B4-BE49-F238E27FC236}">
                <a16:creationId xmlns:a16="http://schemas.microsoft.com/office/drawing/2014/main" id="{EE80A7EB-98D1-41A7-9BB9-371DAFC3C53C}"/>
              </a:ext>
            </a:extLst>
          </p:cNvPr>
          <p:cNvSpPr>
            <a:spLocks xmlns:a="http://schemas.openxmlformats.org/drawingml/2006/main" noGrp="1"/>
          </p:cNvSpPr>
          <p:nvPr/>
        </p:nvSpPr>
        <p:spPr>
          <a:xfrm xmlns:a="http://schemas.openxmlformats.org/drawingml/2006/main">
            <a:off x="8572500" y="50387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9525" rIns="19050" bIns="9525" anchor="t">
            <a:normAutofit fontScale="70707"/>
          </a:bodyPr>
          <a:lstStyle xmlns:a="http://schemas.openxmlformats.org/drawingml/2006/main"/>
          <a:p xmlns:a="http://schemas.openxmlformats.org/drawingml/2006/main">
            <a:pPr algn="l">
              <a:defRPr sz="1650" b="1">
                <a:solidFill>
                  <a:srgbClr val="192B36"/>
                </a:solidFill>
                <a:latin typeface="Helvetica Neue"/>
                <a:ea typeface="Helvetica Neue"/>
                <a:cs typeface="Helvetica Neue"/>
              </a:defRPr>
            </a:pPr>
            <a:r>
              <a:rPr sz="1650" b="1">
                <a:solidFill>
                  <a:srgbClr val="192B36"/>
                </a:solidFill>
                <a:latin typeface="Helvetica Neue"/>
                <a:ea typeface="Helvetica Neue"/>
                <a:cs typeface="Helvetica Neue"/>
              </a:rPr>
              <a:t>If the gain is not consistent on unseen originals, revise the research question.</a:t>
            </a:r>
          </a:p>
        </p:txBody>
      </p:sp>
    </p:spTree>
    <p:extLst>
      <p:ext uri="{BB962C8B-B14F-4D97-AF65-F5344CB8AC3E}">
        <p14:creationId xmlns:p14="http://schemas.microsoft.com/office/powerpoint/2010/main" val="17711275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2026-09-27T13:12:20.8250000Z</dcterms:created>
  <dcterms:modified xsi:type="dcterms:W3CDTF">2026-09-27T13:12:20.8250000Z</dcterms:modified>
</coreProperties>
</file>